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sldIdLst>
    <p:sldId id="256" r:id="rId2"/>
    <p:sldId id="260" r:id="rId3"/>
    <p:sldId id="335" r:id="rId4"/>
    <p:sldId id="293" r:id="rId5"/>
    <p:sldId id="297" r:id="rId6"/>
    <p:sldId id="336" r:id="rId7"/>
    <p:sldId id="305" r:id="rId8"/>
    <p:sldId id="259" r:id="rId9"/>
    <p:sldId id="281" r:id="rId10"/>
    <p:sldId id="334" r:id="rId11"/>
    <p:sldId id="295" r:id="rId12"/>
    <p:sldId id="307" r:id="rId13"/>
    <p:sldId id="299" r:id="rId14"/>
    <p:sldId id="320" r:id="rId15"/>
    <p:sldId id="325" r:id="rId16"/>
    <p:sldId id="326" r:id="rId17"/>
    <p:sldId id="318" r:id="rId18"/>
    <p:sldId id="285" r:id="rId19"/>
    <p:sldId id="284" r:id="rId20"/>
    <p:sldId id="332" r:id="rId21"/>
    <p:sldId id="319" r:id="rId22"/>
    <p:sldId id="327" r:id="rId23"/>
    <p:sldId id="328" r:id="rId24"/>
    <p:sldId id="329" r:id="rId25"/>
    <p:sldId id="330" r:id="rId26"/>
    <p:sldId id="331" r:id="rId27"/>
    <p:sldId id="304" r:id="rId28"/>
    <p:sldId id="333" r:id="rId29"/>
    <p:sldId id="337" r:id="rId30"/>
    <p:sldId id="300" r:id="rId31"/>
    <p:sldId id="292" r:id="rId32"/>
    <p:sldId id="275" r:id="rId33"/>
    <p:sldId id="276" r:id="rId34"/>
    <p:sldId id="277" r:id="rId35"/>
    <p:sldId id="27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94660"/>
  </p:normalViewPr>
  <p:slideViewPr>
    <p:cSldViewPr snapToGrid="0">
      <p:cViewPr>
        <p:scale>
          <a:sx n="92" d="100"/>
          <a:sy n="92" d="100"/>
        </p:scale>
        <p:origin x="12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5" Type="http://schemas.openxmlformats.org/officeDocument/2006/relationships/image" Target="../media/image12.svg"/><Relationship Id="rId4" Type="http://schemas.openxmlformats.org/officeDocument/2006/relationships/image" Target="../media/image11.svg"/></Relationships>
</file>

<file path=ppt/diagrams/_rels/data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5" Type="http://schemas.openxmlformats.org/officeDocument/2006/relationships/image" Target="../media/image12.svg"/><Relationship Id="rId4" Type="http://schemas.openxmlformats.org/officeDocument/2006/relationships/image" Target="../media/image11.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C57692-C848-475C-A229-AED6361A24F5}"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3C9E4AC5-B120-4A2F-9542-DD3C417DC5A0}">
      <dgm:prSet/>
      <dgm:spPr/>
      <dgm:t>
        <a:bodyPr/>
        <a:lstStyle/>
        <a:p>
          <a:r>
            <a:rPr lang="en-US" b="1" dirty="0"/>
            <a:t>Goal:</a:t>
          </a:r>
          <a:r>
            <a:rPr lang="en-US" dirty="0"/>
            <a:t> Classify whether a data‑science professional earns above or below the median salary using machine‑learning models.</a:t>
          </a:r>
        </a:p>
      </dgm:t>
    </dgm:pt>
    <dgm:pt modelId="{DB3B4294-A03E-45B3-A730-A6A997A88278}" type="parTrans" cxnId="{C8CDDA31-F0E2-4E39-8D3D-393976DC0DEE}">
      <dgm:prSet/>
      <dgm:spPr/>
      <dgm:t>
        <a:bodyPr/>
        <a:lstStyle/>
        <a:p>
          <a:endParaRPr lang="en-US"/>
        </a:p>
      </dgm:t>
    </dgm:pt>
    <dgm:pt modelId="{8C115A1F-E9AE-4628-BA89-B4DF4F028974}" type="sibTrans" cxnId="{C8CDDA31-F0E2-4E39-8D3D-393976DC0DEE}">
      <dgm:prSet/>
      <dgm:spPr/>
      <dgm:t>
        <a:bodyPr/>
        <a:lstStyle/>
        <a:p>
          <a:endParaRPr lang="en-US"/>
        </a:p>
      </dgm:t>
    </dgm:pt>
    <dgm:pt modelId="{549ACF4E-CFB3-4E89-A78E-7C7FEB70A38B}">
      <dgm:prSet/>
      <dgm:spPr/>
      <dgm:t>
        <a:bodyPr/>
        <a:lstStyle/>
        <a:p>
          <a:r>
            <a:rPr lang="en-US" b="1"/>
            <a:t>Why This Matters:</a:t>
          </a:r>
          <a:r>
            <a:rPr lang="en-US"/>
            <a:t> Organizations need clear, data‑driven insights to support compensation planning, pay equity, and competitive hiring.</a:t>
          </a:r>
        </a:p>
      </dgm:t>
    </dgm:pt>
    <dgm:pt modelId="{96B44136-B663-48E2-8515-36F85E5A47F3}" type="parTrans" cxnId="{DE099D66-3F8E-493C-ACE5-B6B70A50716A}">
      <dgm:prSet/>
      <dgm:spPr/>
      <dgm:t>
        <a:bodyPr/>
        <a:lstStyle/>
        <a:p>
          <a:endParaRPr lang="en-US"/>
        </a:p>
      </dgm:t>
    </dgm:pt>
    <dgm:pt modelId="{52B21A9C-2449-4913-9B9D-D30259E048EF}" type="sibTrans" cxnId="{DE099D66-3F8E-493C-ACE5-B6B70A50716A}">
      <dgm:prSet/>
      <dgm:spPr/>
      <dgm:t>
        <a:bodyPr/>
        <a:lstStyle/>
        <a:p>
          <a:endParaRPr lang="en-US"/>
        </a:p>
      </dgm:t>
    </dgm:pt>
    <dgm:pt modelId="{B858272D-4F26-4EC0-B84E-A4167AEA63C4}">
      <dgm:prSet/>
      <dgm:spPr/>
      <dgm:t>
        <a:bodyPr/>
        <a:lstStyle/>
        <a:p>
          <a:r>
            <a:rPr lang="en-US" b="1"/>
            <a:t>What This Project Covers:</a:t>
          </a:r>
          <a:endParaRPr lang="en-US"/>
        </a:p>
      </dgm:t>
    </dgm:pt>
    <dgm:pt modelId="{CAC1B090-C284-4867-B1C3-B7EA12DD74A2}" type="parTrans" cxnId="{CA7A0790-32FE-446F-B43E-94E88DF69583}">
      <dgm:prSet/>
      <dgm:spPr/>
      <dgm:t>
        <a:bodyPr/>
        <a:lstStyle/>
        <a:p>
          <a:endParaRPr lang="en-US"/>
        </a:p>
      </dgm:t>
    </dgm:pt>
    <dgm:pt modelId="{F0713CC0-F9AC-4472-960C-CCF241F54505}" type="sibTrans" cxnId="{CA7A0790-32FE-446F-B43E-94E88DF69583}">
      <dgm:prSet/>
      <dgm:spPr/>
      <dgm:t>
        <a:bodyPr/>
        <a:lstStyle/>
        <a:p>
          <a:endParaRPr lang="en-US"/>
        </a:p>
      </dgm:t>
    </dgm:pt>
    <dgm:pt modelId="{1939E6E5-19F7-40F0-9BA9-86A4D7D06313}">
      <dgm:prSet/>
      <dgm:spPr/>
      <dgm:t>
        <a:bodyPr/>
        <a:lstStyle/>
        <a:p>
          <a:r>
            <a:rPr lang="en-US"/>
            <a:t>Understanding the dataset and key salary‑related features</a:t>
          </a:r>
        </a:p>
      </dgm:t>
    </dgm:pt>
    <dgm:pt modelId="{498BD7DF-1CE7-41E5-A865-A59892160B41}" type="parTrans" cxnId="{113DA88A-F6B8-4468-A4FD-00BCD94F8D51}">
      <dgm:prSet/>
      <dgm:spPr/>
      <dgm:t>
        <a:bodyPr/>
        <a:lstStyle/>
        <a:p>
          <a:endParaRPr lang="en-US"/>
        </a:p>
      </dgm:t>
    </dgm:pt>
    <dgm:pt modelId="{261308A7-FFFC-4ECC-A2AE-419D94EF642E}" type="sibTrans" cxnId="{113DA88A-F6B8-4468-A4FD-00BCD94F8D51}">
      <dgm:prSet/>
      <dgm:spPr/>
      <dgm:t>
        <a:bodyPr/>
        <a:lstStyle/>
        <a:p>
          <a:endParaRPr lang="en-US"/>
        </a:p>
      </dgm:t>
    </dgm:pt>
    <dgm:pt modelId="{BC168B40-F339-49FE-96CD-2FAED625089B}">
      <dgm:prSet/>
      <dgm:spPr/>
      <dgm:t>
        <a:bodyPr/>
        <a:lstStyle/>
        <a:p>
          <a:r>
            <a:rPr lang="en-US"/>
            <a:t>Building and comparing multiple ML classification models</a:t>
          </a:r>
        </a:p>
      </dgm:t>
    </dgm:pt>
    <dgm:pt modelId="{09157996-3B21-4C8C-966C-16C96C0702F0}" type="parTrans" cxnId="{789BB337-32E0-49DB-B341-F49433782EEA}">
      <dgm:prSet/>
      <dgm:spPr/>
      <dgm:t>
        <a:bodyPr/>
        <a:lstStyle/>
        <a:p>
          <a:endParaRPr lang="en-US"/>
        </a:p>
      </dgm:t>
    </dgm:pt>
    <dgm:pt modelId="{263EC43C-8C76-4D6C-A61F-A41558ACEA07}" type="sibTrans" cxnId="{789BB337-32E0-49DB-B341-F49433782EEA}">
      <dgm:prSet/>
      <dgm:spPr/>
      <dgm:t>
        <a:bodyPr/>
        <a:lstStyle/>
        <a:p>
          <a:endParaRPr lang="en-US"/>
        </a:p>
      </dgm:t>
    </dgm:pt>
    <dgm:pt modelId="{0F144FB7-3D6A-488C-AE5B-848C22F8CCC5}">
      <dgm:prSet/>
      <dgm:spPr/>
      <dgm:t>
        <a:bodyPr/>
        <a:lstStyle/>
        <a:p>
          <a:r>
            <a:rPr lang="en-US"/>
            <a:t>Identifying the strongest predictors of higher salary outcomes</a:t>
          </a:r>
        </a:p>
      </dgm:t>
    </dgm:pt>
    <dgm:pt modelId="{6EFE1E49-A466-402E-9D59-AECD54347B50}" type="parTrans" cxnId="{19343B10-4672-4D97-AF54-1552EF30BD69}">
      <dgm:prSet/>
      <dgm:spPr/>
      <dgm:t>
        <a:bodyPr/>
        <a:lstStyle/>
        <a:p>
          <a:endParaRPr lang="en-US"/>
        </a:p>
      </dgm:t>
    </dgm:pt>
    <dgm:pt modelId="{7ACD071E-CE71-434A-969A-2C056C4AA727}" type="sibTrans" cxnId="{19343B10-4672-4D97-AF54-1552EF30BD69}">
      <dgm:prSet/>
      <dgm:spPr/>
      <dgm:t>
        <a:bodyPr/>
        <a:lstStyle/>
        <a:p>
          <a:endParaRPr lang="en-US"/>
        </a:p>
      </dgm:t>
    </dgm:pt>
    <dgm:pt modelId="{7DC1215A-5804-4988-8DBA-B04D8778A5DD}">
      <dgm:prSet/>
      <dgm:spPr/>
      <dgm:t>
        <a:bodyPr/>
        <a:lstStyle/>
        <a:p>
          <a:r>
            <a:rPr lang="en-US"/>
            <a:t>Selecting the best model for accuracy and interpretability</a:t>
          </a:r>
        </a:p>
      </dgm:t>
    </dgm:pt>
    <dgm:pt modelId="{E8D0373D-4961-4C84-B6C2-EFA56A8B7408}" type="parTrans" cxnId="{2BB67F1B-8C4F-48F9-B328-511BA0223D10}">
      <dgm:prSet/>
      <dgm:spPr/>
      <dgm:t>
        <a:bodyPr/>
        <a:lstStyle/>
        <a:p>
          <a:endParaRPr lang="en-US"/>
        </a:p>
      </dgm:t>
    </dgm:pt>
    <dgm:pt modelId="{8B660F3E-80FA-447E-A15E-DE54AC18D083}" type="sibTrans" cxnId="{2BB67F1B-8C4F-48F9-B328-511BA0223D10}">
      <dgm:prSet/>
      <dgm:spPr/>
      <dgm:t>
        <a:bodyPr/>
        <a:lstStyle/>
        <a:p>
          <a:endParaRPr lang="en-US"/>
        </a:p>
      </dgm:t>
    </dgm:pt>
    <dgm:pt modelId="{6291BE70-9683-467C-A375-508C65F18B84}">
      <dgm:prSet/>
      <dgm:spPr/>
      <dgm:t>
        <a:bodyPr/>
        <a:lstStyle/>
        <a:p>
          <a:r>
            <a:rPr lang="en-US"/>
            <a:t>Providing actionable insights for HR, recruiting, and workforce strategy</a:t>
          </a:r>
        </a:p>
      </dgm:t>
    </dgm:pt>
    <dgm:pt modelId="{F2ED1C0F-8E4E-40DD-B45D-E8C666D189E0}" type="parTrans" cxnId="{2BCA67CE-206D-4F0A-A257-07CE32FCA332}">
      <dgm:prSet/>
      <dgm:spPr/>
      <dgm:t>
        <a:bodyPr/>
        <a:lstStyle/>
        <a:p>
          <a:endParaRPr lang="en-US"/>
        </a:p>
      </dgm:t>
    </dgm:pt>
    <dgm:pt modelId="{5FC1E883-8CAA-402D-A80E-68F767896A5E}" type="sibTrans" cxnId="{2BCA67CE-206D-4F0A-A257-07CE32FCA332}">
      <dgm:prSet/>
      <dgm:spPr/>
      <dgm:t>
        <a:bodyPr/>
        <a:lstStyle/>
        <a:p>
          <a:endParaRPr lang="en-US"/>
        </a:p>
      </dgm:t>
    </dgm:pt>
    <dgm:pt modelId="{63B72A17-0BBE-4BF0-88CD-242498DFF673}">
      <dgm:prSet/>
      <dgm:spPr/>
      <dgm:t>
        <a:bodyPr/>
        <a:lstStyle/>
        <a:p>
          <a:r>
            <a:rPr lang="en-US" b="1"/>
            <a:t>Outcome:</a:t>
          </a:r>
          <a:r>
            <a:rPr lang="en-US"/>
            <a:t> A reliable, interpretable salary‑classification model that highlights the factors most strongly associated with higher compensation.</a:t>
          </a:r>
        </a:p>
      </dgm:t>
    </dgm:pt>
    <dgm:pt modelId="{9B9EE71B-117A-4163-8331-5672FB850F35}" type="parTrans" cxnId="{CA7DAFEE-5777-45AC-A5DF-E488521FDEDB}">
      <dgm:prSet/>
      <dgm:spPr/>
      <dgm:t>
        <a:bodyPr/>
        <a:lstStyle/>
        <a:p>
          <a:endParaRPr lang="en-US"/>
        </a:p>
      </dgm:t>
    </dgm:pt>
    <dgm:pt modelId="{8DDDF8B3-85E7-496A-BFEA-F66A6B0CDC49}" type="sibTrans" cxnId="{CA7DAFEE-5777-45AC-A5DF-E488521FDEDB}">
      <dgm:prSet/>
      <dgm:spPr/>
      <dgm:t>
        <a:bodyPr/>
        <a:lstStyle/>
        <a:p>
          <a:endParaRPr lang="en-US"/>
        </a:p>
      </dgm:t>
    </dgm:pt>
    <dgm:pt modelId="{04A71D53-3FFC-4528-8F20-88406AA40CA6}" type="pres">
      <dgm:prSet presAssocID="{EFC57692-C848-475C-A229-AED6361A24F5}" presName="linear" presStyleCnt="0">
        <dgm:presLayoutVars>
          <dgm:animLvl val="lvl"/>
          <dgm:resizeHandles val="exact"/>
        </dgm:presLayoutVars>
      </dgm:prSet>
      <dgm:spPr/>
    </dgm:pt>
    <dgm:pt modelId="{251487DD-970C-4F71-AD74-0AC4E6CDAC2F}" type="pres">
      <dgm:prSet presAssocID="{3C9E4AC5-B120-4A2F-9542-DD3C417DC5A0}" presName="parentText" presStyleLbl="node1" presStyleIdx="0" presStyleCnt="4">
        <dgm:presLayoutVars>
          <dgm:chMax val="0"/>
          <dgm:bulletEnabled val="1"/>
        </dgm:presLayoutVars>
      </dgm:prSet>
      <dgm:spPr/>
    </dgm:pt>
    <dgm:pt modelId="{57B22467-BDBF-4555-8AF8-B98CC2B8E01A}" type="pres">
      <dgm:prSet presAssocID="{8C115A1F-E9AE-4628-BA89-B4DF4F028974}" presName="spacer" presStyleCnt="0"/>
      <dgm:spPr/>
    </dgm:pt>
    <dgm:pt modelId="{713224BF-828B-41B4-AE52-FE069967D013}" type="pres">
      <dgm:prSet presAssocID="{549ACF4E-CFB3-4E89-A78E-7C7FEB70A38B}" presName="parentText" presStyleLbl="node1" presStyleIdx="1" presStyleCnt="4">
        <dgm:presLayoutVars>
          <dgm:chMax val="0"/>
          <dgm:bulletEnabled val="1"/>
        </dgm:presLayoutVars>
      </dgm:prSet>
      <dgm:spPr/>
    </dgm:pt>
    <dgm:pt modelId="{AC32A8BE-28F1-4EBA-A42E-3F5AE08FBAA0}" type="pres">
      <dgm:prSet presAssocID="{52B21A9C-2449-4913-9B9D-D30259E048EF}" presName="spacer" presStyleCnt="0"/>
      <dgm:spPr/>
    </dgm:pt>
    <dgm:pt modelId="{49F4DC88-CD07-4EC8-B7E9-CA938CB53082}" type="pres">
      <dgm:prSet presAssocID="{B858272D-4F26-4EC0-B84E-A4167AEA63C4}" presName="parentText" presStyleLbl="node1" presStyleIdx="2" presStyleCnt="4">
        <dgm:presLayoutVars>
          <dgm:chMax val="0"/>
          <dgm:bulletEnabled val="1"/>
        </dgm:presLayoutVars>
      </dgm:prSet>
      <dgm:spPr/>
    </dgm:pt>
    <dgm:pt modelId="{9A8D5B6B-982B-4793-AA2D-33FCB1480902}" type="pres">
      <dgm:prSet presAssocID="{B858272D-4F26-4EC0-B84E-A4167AEA63C4}" presName="childText" presStyleLbl="revTx" presStyleIdx="0" presStyleCnt="1">
        <dgm:presLayoutVars>
          <dgm:bulletEnabled val="1"/>
        </dgm:presLayoutVars>
      </dgm:prSet>
      <dgm:spPr/>
    </dgm:pt>
    <dgm:pt modelId="{AE4413CF-2BA9-49E3-8111-4128671872CD}" type="pres">
      <dgm:prSet presAssocID="{63B72A17-0BBE-4BF0-88CD-242498DFF673}" presName="parentText" presStyleLbl="node1" presStyleIdx="3" presStyleCnt="4">
        <dgm:presLayoutVars>
          <dgm:chMax val="0"/>
          <dgm:bulletEnabled val="1"/>
        </dgm:presLayoutVars>
      </dgm:prSet>
      <dgm:spPr/>
    </dgm:pt>
  </dgm:ptLst>
  <dgm:cxnLst>
    <dgm:cxn modelId="{19343B10-4672-4D97-AF54-1552EF30BD69}" srcId="{B858272D-4F26-4EC0-B84E-A4167AEA63C4}" destId="{0F144FB7-3D6A-488C-AE5B-848C22F8CCC5}" srcOrd="2" destOrd="0" parTransId="{6EFE1E49-A466-402E-9D59-AECD54347B50}" sibTransId="{7ACD071E-CE71-434A-969A-2C056C4AA727}"/>
    <dgm:cxn modelId="{F12EAF19-5846-4128-8A5F-0A3DA7D8E458}" type="presOf" srcId="{BC168B40-F339-49FE-96CD-2FAED625089B}" destId="{9A8D5B6B-982B-4793-AA2D-33FCB1480902}" srcOrd="0" destOrd="1" presId="urn:microsoft.com/office/officeart/2005/8/layout/vList2"/>
    <dgm:cxn modelId="{2BB67F1B-8C4F-48F9-B328-511BA0223D10}" srcId="{B858272D-4F26-4EC0-B84E-A4167AEA63C4}" destId="{7DC1215A-5804-4988-8DBA-B04D8778A5DD}" srcOrd="3" destOrd="0" parTransId="{E8D0373D-4961-4C84-B6C2-EFA56A8B7408}" sibTransId="{8B660F3E-80FA-447E-A15E-DE54AC18D083}"/>
    <dgm:cxn modelId="{BD32F91D-D7E1-441C-B393-4947E9FCE902}" type="presOf" srcId="{7DC1215A-5804-4988-8DBA-B04D8778A5DD}" destId="{9A8D5B6B-982B-4793-AA2D-33FCB1480902}" srcOrd="0" destOrd="3" presId="urn:microsoft.com/office/officeart/2005/8/layout/vList2"/>
    <dgm:cxn modelId="{C8CDDA31-F0E2-4E39-8D3D-393976DC0DEE}" srcId="{EFC57692-C848-475C-A229-AED6361A24F5}" destId="{3C9E4AC5-B120-4A2F-9542-DD3C417DC5A0}" srcOrd="0" destOrd="0" parTransId="{DB3B4294-A03E-45B3-A730-A6A997A88278}" sibTransId="{8C115A1F-E9AE-4628-BA89-B4DF4F028974}"/>
    <dgm:cxn modelId="{789BB337-32E0-49DB-B341-F49433782EEA}" srcId="{B858272D-4F26-4EC0-B84E-A4167AEA63C4}" destId="{BC168B40-F339-49FE-96CD-2FAED625089B}" srcOrd="1" destOrd="0" parTransId="{09157996-3B21-4C8C-966C-16C96C0702F0}" sibTransId="{263EC43C-8C76-4D6C-A61F-A41558ACEA07}"/>
    <dgm:cxn modelId="{9ECA6F66-3B2A-49C5-93FD-3F24EA1A6F7E}" type="presOf" srcId="{1939E6E5-19F7-40F0-9BA9-86A4D7D06313}" destId="{9A8D5B6B-982B-4793-AA2D-33FCB1480902}" srcOrd="0" destOrd="0" presId="urn:microsoft.com/office/officeart/2005/8/layout/vList2"/>
    <dgm:cxn modelId="{DE099D66-3F8E-493C-ACE5-B6B70A50716A}" srcId="{EFC57692-C848-475C-A229-AED6361A24F5}" destId="{549ACF4E-CFB3-4E89-A78E-7C7FEB70A38B}" srcOrd="1" destOrd="0" parTransId="{96B44136-B663-48E2-8515-36F85E5A47F3}" sibTransId="{52B21A9C-2449-4913-9B9D-D30259E048EF}"/>
    <dgm:cxn modelId="{8A12426C-519B-4899-8D57-136E8CE5392E}" type="presOf" srcId="{6291BE70-9683-467C-A375-508C65F18B84}" destId="{9A8D5B6B-982B-4793-AA2D-33FCB1480902}" srcOrd="0" destOrd="4" presId="urn:microsoft.com/office/officeart/2005/8/layout/vList2"/>
    <dgm:cxn modelId="{113DA88A-F6B8-4468-A4FD-00BCD94F8D51}" srcId="{B858272D-4F26-4EC0-B84E-A4167AEA63C4}" destId="{1939E6E5-19F7-40F0-9BA9-86A4D7D06313}" srcOrd="0" destOrd="0" parTransId="{498BD7DF-1CE7-41E5-A865-A59892160B41}" sibTransId="{261308A7-FFFC-4ECC-A2AE-419D94EF642E}"/>
    <dgm:cxn modelId="{6C5E138D-8C49-4B5D-8747-61EF06C6B396}" type="presOf" srcId="{0F144FB7-3D6A-488C-AE5B-848C22F8CCC5}" destId="{9A8D5B6B-982B-4793-AA2D-33FCB1480902}" srcOrd="0" destOrd="2" presId="urn:microsoft.com/office/officeart/2005/8/layout/vList2"/>
    <dgm:cxn modelId="{CA7A0790-32FE-446F-B43E-94E88DF69583}" srcId="{EFC57692-C848-475C-A229-AED6361A24F5}" destId="{B858272D-4F26-4EC0-B84E-A4167AEA63C4}" srcOrd="2" destOrd="0" parTransId="{CAC1B090-C284-4867-B1C3-B7EA12DD74A2}" sibTransId="{F0713CC0-F9AC-4472-960C-CCF241F54505}"/>
    <dgm:cxn modelId="{24698392-E133-4309-845C-C034A3E23313}" type="presOf" srcId="{B858272D-4F26-4EC0-B84E-A4167AEA63C4}" destId="{49F4DC88-CD07-4EC8-B7E9-CA938CB53082}" srcOrd="0" destOrd="0" presId="urn:microsoft.com/office/officeart/2005/8/layout/vList2"/>
    <dgm:cxn modelId="{E4BEC597-E2AD-4524-AD62-D8558E496363}" type="presOf" srcId="{3C9E4AC5-B120-4A2F-9542-DD3C417DC5A0}" destId="{251487DD-970C-4F71-AD74-0AC4E6CDAC2F}" srcOrd="0" destOrd="0" presId="urn:microsoft.com/office/officeart/2005/8/layout/vList2"/>
    <dgm:cxn modelId="{109F8D9F-036E-4FD8-B5D8-5D42F75B7EFB}" type="presOf" srcId="{549ACF4E-CFB3-4E89-A78E-7C7FEB70A38B}" destId="{713224BF-828B-41B4-AE52-FE069967D013}" srcOrd="0" destOrd="0" presId="urn:microsoft.com/office/officeart/2005/8/layout/vList2"/>
    <dgm:cxn modelId="{02472AA4-8A4B-42D6-9EF1-E2420FA75500}" type="presOf" srcId="{EFC57692-C848-475C-A229-AED6361A24F5}" destId="{04A71D53-3FFC-4528-8F20-88406AA40CA6}" srcOrd="0" destOrd="0" presId="urn:microsoft.com/office/officeart/2005/8/layout/vList2"/>
    <dgm:cxn modelId="{82EB95CB-5C57-436A-B656-4BBC704919BD}" type="presOf" srcId="{63B72A17-0BBE-4BF0-88CD-242498DFF673}" destId="{AE4413CF-2BA9-49E3-8111-4128671872CD}" srcOrd="0" destOrd="0" presId="urn:microsoft.com/office/officeart/2005/8/layout/vList2"/>
    <dgm:cxn modelId="{2BCA67CE-206D-4F0A-A257-07CE32FCA332}" srcId="{B858272D-4F26-4EC0-B84E-A4167AEA63C4}" destId="{6291BE70-9683-467C-A375-508C65F18B84}" srcOrd="4" destOrd="0" parTransId="{F2ED1C0F-8E4E-40DD-B45D-E8C666D189E0}" sibTransId="{5FC1E883-8CAA-402D-A80E-68F767896A5E}"/>
    <dgm:cxn modelId="{CA7DAFEE-5777-45AC-A5DF-E488521FDEDB}" srcId="{EFC57692-C848-475C-A229-AED6361A24F5}" destId="{63B72A17-0BBE-4BF0-88CD-242498DFF673}" srcOrd="3" destOrd="0" parTransId="{9B9EE71B-117A-4163-8331-5672FB850F35}" sibTransId="{8DDDF8B3-85E7-496A-BFEA-F66A6B0CDC49}"/>
    <dgm:cxn modelId="{EFF632BF-8D2B-4954-8359-1962D245463F}" type="presParOf" srcId="{04A71D53-3FFC-4528-8F20-88406AA40CA6}" destId="{251487DD-970C-4F71-AD74-0AC4E6CDAC2F}" srcOrd="0" destOrd="0" presId="urn:microsoft.com/office/officeart/2005/8/layout/vList2"/>
    <dgm:cxn modelId="{D4C61628-88A1-4A5E-B1C2-3DA7BAF49385}" type="presParOf" srcId="{04A71D53-3FFC-4528-8F20-88406AA40CA6}" destId="{57B22467-BDBF-4555-8AF8-B98CC2B8E01A}" srcOrd="1" destOrd="0" presId="urn:microsoft.com/office/officeart/2005/8/layout/vList2"/>
    <dgm:cxn modelId="{F9F15D65-6433-4370-8FE7-C25F2008BFAC}" type="presParOf" srcId="{04A71D53-3FFC-4528-8F20-88406AA40CA6}" destId="{713224BF-828B-41B4-AE52-FE069967D013}" srcOrd="2" destOrd="0" presId="urn:microsoft.com/office/officeart/2005/8/layout/vList2"/>
    <dgm:cxn modelId="{9A2FFE64-0B49-45B6-A44B-D7186A3334AF}" type="presParOf" srcId="{04A71D53-3FFC-4528-8F20-88406AA40CA6}" destId="{AC32A8BE-28F1-4EBA-A42E-3F5AE08FBAA0}" srcOrd="3" destOrd="0" presId="urn:microsoft.com/office/officeart/2005/8/layout/vList2"/>
    <dgm:cxn modelId="{350CB994-6CFF-4858-BA7B-A0D26B7478C6}" type="presParOf" srcId="{04A71D53-3FFC-4528-8F20-88406AA40CA6}" destId="{49F4DC88-CD07-4EC8-B7E9-CA938CB53082}" srcOrd="4" destOrd="0" presId="urn:microsoft.com/office/officeart/2005/8/layout/vList2"/>
    <dgm:cxn modelId="{66271BBE-A54D-4107-9C02-83FAD92F9D4B}" type="presParOf" srcId="{04A71D53-3FFC-4528-8F20-88406AA40CA6}" destId="{9A8D5B6B-982B-4793-AA2D-33FCB1480902}" srcOrd="5" destOrd="0" presId="urn:microsoft.com/office/officeart/2005/8/layout/vList2"/>
    <dgm:cxn modelId="{3B055AF5-922C-419C-8CB9-4F207A9469ED}" type="presParOf" srcId="{04A71D53-3FFC-4528-8F20-88406AA40CA6}" destId="{AE4413CF-2BA9-49E3-8111-4128671872C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0AAA5D-25E9-436D-8252-C14996C4E57D}"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0C562E87-5887-4EE7-BCE6-373A77DF685D}">
      <dgm:prSet/>
      <dgm:spPr/>
      <dgm:t>
        <a:bodyPr/>
        <a:lstStyle/>
        <a:p>
          <a:pPr>
            <a:defRPr b="1"/>
          </a:pPr>
          <a:r>
            <a:rPr lang="en-US" b="1" dirty="0"/>
            <a:t>What This Dataset Represents</a:t>
          </a:r>
          <a:endParaRPr lang="en-US" dirty="0"/>
        </a:p>
      </dgm:t>
    </dgm:pt>
    <dgm:pt modelId="{C53E3B3F-62AD-412E-B65F-C350FE6F9A73}" type="parTrans" cxnId="{7FAAFCFB-F9AF-4636-B752-5EB1EC512F18}">
      <dgm:prSet/>
      <dgm:spPr/>
      <dgm:t>
        <a:bodyPr/>
        <a:lstStyle/>
        <a:p>
          <a:endParaRPr lang="en-US"/>
        </a:p>
      </dgm:t>
    </dgm:pt>
    <dgm:pt modelId="{D3D48AC6-6093-49D8-B6EE-52073562443C}" type="sibTrans" cxnId="{7FAAFCFB-F9AF-4636-B752-5EB1EC512F18}">
      <dgm:prSet/>
      <dgm:spPr/>
      <dgm:t>
        <a:bodyPr/>
        <a:lstStyle/>
        <a:p>
          <a:endParaRPr lang="en-US"/>
        </a:p>
      </dgm:t>
    </dgm:pt>
    <dgm:pt modelId="{1107B7C0-B163-42FB-AEF5-A33045DE72FA}">
      <dgm:prSet/>
      <dgm:spPr/>
      <dgm:t>
        <a:bodyPr/>
        <a:lstStyle/>
        <a:p>
          <a:r>
            <a:rPr lang="en-US"/>
            <a:t>Real salary records for U.S. data‑science and analytics professionals</a:t>
          </a:r>
        </a:p>
      </dgm:t>
    </dgm:pt>
    <dgm:pt modelId="{7A9DC1FF-CEE5-423E-973B-4CF74FD5AABD}" type="parTrans" cxnId="{33036BB9-8525-4793-9D11-F03A616DB875}">
      <dgm:prSet/>
      <dgm:spPr/>
      <dgm:t>
        <a:bodyPr/>
        <a:lstStyle/>
        <a:p>
          <a:endParaRPr lang="en-US"/>
        </a:p>
      </dgm:t>
    </dgm:pt>
    <dgm:pt modelId="{FCD3C635-48E4-4ECC-A93C-602D043C1B07}" type="sibTrans" cxnId="{33036BB9-8525-4793-9D11-F03A616DB875}">
      <dgm:prSet/>
      <dgm:spPr/>
      <dgm:t>
        <a:bodyPr/>
        <a:lstStyle/>
        <a:p>
          <a:endParaRPr lang="en-US"/>
        </a:p>
      </dgm:t>
    </dgm:pt>
    <dgm:pt modelId="{4B9A0644-15CA-4156-96E0-BA0BA5C28A5A}">
      <dgm:prSet/>
      <dgm:spPr/>
      <dgm:t>
        <a:bodyPr/>
        <a:lstStyle/>
        <a:p>
          <a:r>
            <a:rPr lang="en-US"/>
            <a:t>Includes job titles, experience levels, company size, remote work, and employment type</a:t>
          </a:r>
        </a:p>
      </dgm:t>
    </dgm:pt>
    <dgm:pt modelId="{5D180631-B7F6-4C3C-AD1E-17E09FBE3934}" type="parTrans" cxnId="{E9895AF2-CF24-4A8D-BBE8-C1FC02B02E88}">
      <dgm:prSet/>
      <dgm:spPr/>
      <dgm:t>
        <a:bodyPr/>
        <a:lstStyle/>
        <a:p>
          <a:endParaRPr lang="en-US"/>
        </a:p>
      </dgm:t>
    </dgm:pt>
    <dgm:pt modelId="{18E3EFDE-9EF4-4EA1-BC50-90920C2808E1}" type="sibTrans" cxnId="{E9895AF2-CF24-4A8D-BBE8-C1FC02B02E88}">
      <dgm:prSet/>
      <dgm:spPr/>
      <dgm:t>
        <a:bodyPr/>
        <a:lstStyle/>
        <a:p>
          <a:endParaRPr lang="en-US"/>
        </a:p>
      </dgm:t>
    </dgm:pt>
    <dgm:pt modelId="{6CD43240-6436-4C13-B872-685E17481520}">
      <dgm:prSet/>
      <dgm:spPr/>
      <dgm:t>
        <a:bodyPr/>
        <a:lstStyle/>
        <a:p>
          <a:r>
            <a:rPr lang="en-US"/>
            <a:t>Median salary category used as a stable classification target</a:t>
          </a:r>
        </a:p>
      </dgm:t>
    </dgm:pt>
    <dgm:pt modelId="{37663691-F574-4301-B19B-3004889FCD07}" type="parTrans" cxnId="{76409EFB-BDB6-4E79-93A4-565C576DDC89}">
      <dgm:prSet/>
      <dgm:spPr/>
      <dgm:t>
        <a:bodyPr/>
        <a:lstStyle/>
        <a:p>
          <a:endParaRPr lang="en-US"/>
        </a:p>
      </dgm:t>
    </dgm:pt>
    <dgm:pt modelId="{44DBFD8F-C008-4F2D-B3B5-E4C7AC53ADFE}" type="sibTrans" cxnId="{76409EFB-BDB6-4E79-93A4-565C576DDC89}">
      <dgm:prSet/>
      <dgm:spPr/>
      <dgm:t>
        <a:bodyPr/>
        <a:lstStyle/>
        <a:p>
          <a:endParaRPr lang="en-US"/>
        </a:p>
      </dgm:t>
    </dgm:pt>
    <dgm:pt modelId="{803D331A-5D5D-454C-9022-F2A0FC140552}">
      <dgm:prSet/>
      <dgm:spPr/>
      <dgm:t>
        <a:bodyPr/>
        <a:lstStyle/>
        <a:p>
          <a:pPr>
            <a:defRPr b="1"/>
          </a:pPr>
          <a:r>
            <a:rPr lang="en-US" b="1"/>
            <a:t>Why Salary Analysis Matters</a:t>
          </a:r>
          <a:endParaRPr lang="en-US"/>
        </a:p>
      </dgm:t>
    </dgm:pt>
    <dgm:pt modelId="{7D35C0AE-4F63-4DC3-A188-9DD3D6C8A17E}" type="parTrans" cxnId="{F0F24EE4-9C8F-45FB-AB52-39A4A632DF00}">
      <dgm:prSet/>
      <dgm:spPr/>
      <dgm:t>
        <a:bodyPr/>
        <a:lstStyle/>
        <a:p>
          <a:endParaRPr lang="en-US"/>
        </a:p>
      </dgm:t>
    </dgm:pt>
    <dgm:pt modelId="{3CDFE199-BFD6-4696-A1C2-E03309C14355}" type="sibTrans" cxnId="{F0F24EE4-9C8F-45FB-AB52-39A4A632DF00}">
      <dgm:prSet/>
      <dgm:spPr/>
      <dgm:t>
        <a:bodyPr/>
        <a:lstStyle/>
        <a:p>
          <a:endParaRPr lang="en-US"/>
        </a:p>
      </dgm:t>
    </dgm:pt>
    <dgm:pt modelId="{9FEC1707-9B2C-448D-AE7D-2AA04A3020C9}">
      <dgm:prSet/>
      <dgm:spPr/>
      <dgm:t>
        <a:bodyPr/>
        <a:lstStyle/>
        <a:p>
          <a:r>
            <a:rPr lang="en-US"/>
            <a:t>Salary variation is large across roles, industries, and experience levels</a:t>
          </a:r>
        </a:p>
      </dgm:t>
    </dgm:pt>
    <dgm:pt modelId="{2B90AE16-793B-42A3-97D8-A82E8B55199C}" type="parTrans" cxnId="{354DF75A-2B41-4BF5-AD8C-4F880DD6CA9F}">
      <dgm:prSet/>
      <dgm:spPr/>
      <dgm:t>
        <a:bodyPr/>
        <a:lstStyle/>
        <a:p>
          <a:endParaRPr lang="en-US"/>
        </a:p>
      </dgm:t>
    </dgm:pt>
    <dgm:pt modelId="{B59FC681-FDC6-4AB0-9702-05EA904643F2}" type="sibTrans" cxnId="{354DF75A-2B41-4BF5-AD8C-4F880DD6CA9F}">
      <dgm:prSet/>
      <dgm:spPr/>
      <dgm:t>
        <a:bodyPr/>
        <a:lstStyle/>
        <a:p>
          <a:endParaRPr lang="en-US"/>
        </a:p>
      </dgm:t>
    </dgm:pt>
    <dgm:pt modelId="{481FAA5A-9C0A-44F2-A0E2-DACA3D28E1B1}">
      <dgm:prSet/>
      <dgm:spPr/>
      <dgm:t>
        <a:bodyPr/>
        <a:lstStyle/>
        <a:p>
          <a:r>
            <a:rPr lang="en-US"/>
            <a:t>Companies need data‑driven compensation benchmarks</a:t>
          </a:r>
        </a:p>
      </dgm:t>
    </dgm:pt>
    <dgm:pt modelId="{A29244B6-AEE1-4DD0-B1FF-EDA484739D6C}" type="parTrans" cxnId="{3AEBC3DA-CD9D-4B42-9F63-2BB5C1BA622B}">
      <dgm:prSet/>
      <dgm:spPr/>
      <dgm:t>
        <a:bodyPr/>
        <a:lstStyle/>
        <a:p>
          <a:endParaRPr lang="en-US"/>
        </a:p>
      </dgm:t>
    </dgm:pt>
    <dgm:pt modelId="{6545978F-15FA-46BF-AB31-A1BFAFB9F1A8}" type="sibTrans" cxnId="{3AEBC3DA-CD9D-4B42-9F63-2BB5C1BA622B}">
      <dgm:prSet/>
      <dgm:spPr/>
      <dgm:t>
        <a:bodyPr/>
        <a:lstStyle/>
        <a:p>
          <a:endParaRPr lang="en-US"/>
        </a:p>
      </dgm:t>
    </dgm:pt>
    <dgm:pt modelId="{6572B8B5-FD5D-46D4-BC67-D1EF85176DE6}">
      <dgm:prSet/>
      <dgm:spPr/>
      <dgm:t>
        <a:bodyPr/>
        <a:lstStyle/>
        <a:p>
          <a:r>
            <a:rPr lang="en-US"/>
            <a:t>Job seekers want clarity on what drives higher pay</a:t>
          </a:r>
        </a:p>
      </dgm:t>
    </dgm:pt>
    <dgm:pt modelId="{AE6073E8-1F1C-4B99-A28B-BA148B2CAA68}" type="parTrans" cxnId="{8415C3B1-8F42-48A7-89CE-C174E102D74C}">
      <dgm:prSet/>
      <dgm:spPr/>
      <dgm:t>
        <a:bodyPr/>
        <a:lstStyle/>
        <a:p>
          <a:endParaRPr lang="en-US"/>
        </a:p>
      </dgm:t>
    </dgm:pt>
    <dgm:pt modelId="{8DC6FF9F-F5A3-4322-84DB-03261348326E}" type="sibTrans" cxnId="{8415C3B1-8F42-48A7-89CE-C174E102D74C}">
      <dgm:prSet/>
      <dgm:spPr/>
      <dgm:t>
        <a:bodyPr/>
        <a:lstStyle/>
        <a:p>
          <a:endParaRPr lang="en-US"/>
        </a:p>
      </dgm:t>
    </dgm:pt>
    <dgm:pt modelId="{8D6E874F-9E4E-4F97-8190-70CBFB06632E}">
      <dgm:prSet/>
      <dgm:spPr/>
      <dgm:t>
        <a:bodyPr/>
        <a:lstStyle/>
        <a:p>
          <a:r>
            <a:rPr lang="en-US"/>
            <a:t>Supports pay‑equity, hiring strategy, and workforce planning</a:t>
          </a:r>
        </a:p>
      </dgm:t>
    </dgm:pt>
    <dgm:pt modelId="{554CB577-FFD3-4A47-95C3-40BA87AF0549}" type="parTrans" cxnId="{FC18E909-629D-4CF9-8A34-E790D20C8CBB}">
      <dgm:prSet/>
      <dgm:spPr/>
      <dgm:t>
        <a:bodyPr/>
        <a:lstStyle/>
        <a:p>
          <a:endParaRPr lang="en-US"/>
        </a:p>
      </dgm:t>
    </dgm:pt>
    <dgm:pt modelId="{7C3EC669-A495-465A-89B1-6752AD86C011}" type="sibTrans" cxnId="{FC18E909-629D-4CF9-8A34-E790D20C8CBB}">
      <dgm:prSet/>
      <dgm:spPr/>
      <dgm:t>
        <a:bodyPr/>
        <a:lstStyle/>
        <a:p>
          <a:endParaRPr lang="en-US"/>
        </a:p>
      </dgm:t>
    </dgm:pt>
    <dgm:pt modelId="{BF76506A-D775-434C-B209-C79E15C297C8}">
      <dgm:prSet/>
      <dgm:spPr/>
      <dgm:t>
        <a:bodyPr/>
        <a:lstStyle/>
        <a:p>
          <a:pPr>
            <a:defRPr b="1"/>
          </a:pPr>
          <a:r>
            <a:rPr lang="en-US" b="1"/>
            <a:t>Purpose of This Analysis</a:t>
          </a:r>
          <a:endParaRPr lang="en-US"/>
        </a:p>
      </dgm:t>
    </dgm:pt>
    <dgm:pt modelId="{59940935-4226-45DE-9DCD-CEBF533D2237}" type="parTrans" cxnId="{A085A6B8-D2E3-47E1-955D-F23DE7E749A6}">
      <dgm:prSet/>
      <dgm:spPr/>
      <dgm:t>
        <a:bodyPr/>
        <a:lstStyle/>
        <a:p>
          <a:endParaRPr lang="en-US"/>
        </a:p>
      </dgm:t>
    </dgm:pt>
    <dgm:pt modelId="{EDB17B30-4D8B-4A7A-AD90-6D7C02517145}" type="sibTrans" cxnId="{A085A6B8-D2E3-47E1-955D-F23DE7E749A6}">
      <dgm:prSet/>
      <dgm:spPr/>
      <dgm:t>
        <a:bodyPr/>
        <a:lstStyle/>
        <a:p>
          <a:endParaRPr lang="en-US"/>
        </a:p>
      </dgm:t>
    </dgm:pt>
    <dgm:pt modelId="{8ECCC05E-424D-4551-9076-065EEE2786D6}">
      <dgm:prSet/>
      <dgm:spPr/>
      <dgm:t>
        <a:bodyPr/>
        <a:lstStyle/>
        <a:p>
          <a:r>
            <a:rPr lang="en-US"/>
            <a:t>Build machine‑learning models to classify salaries as above or below median</a:t>
          </a:r>
        </a:p>
      </dgm:t>
    </dgm:pt>
    <dgm:pt modelId="{235A142C-E759-4CB8-9B7E-CE96D11C3B63}" type="parTrans" cxnId="{B943D47F-4EFC-456F-826A-754525D5CBC2}">
      <dgm:prSet/>
      <dgm:spPr/>
      <dgm:t>
        <a:bodyPr/>
        <a:lstStyle/>
        <a:p>
          <a:endParaRPr lang="en-US"/>
        </a:p>
      </dgm:t>
    </dgm:pt>
    <dgm:pt modelId="{AFA834FC-E420-4436-81BA-2FE7C42A9C3E}" type="sibTrans" cxnId="{B943D47F-4EFC-456F-826A-754525D5CBC2}">
      <dgm:prSet/>
      <dgm:spPr/>
      <dgm:t>
        <a:bodyPr/>
        <a:lstStyle/>
        <a:p>
          <a:endParaRPr lang="en-US"/>
        </a:p>
      </dgm:t>
    </dgm:pt>
    <dgm:pt modelId="{7EADC53C-D63C-42D5-8CF5-657B49C363F1}">
      <dgm:prSet/>
      <dgm:spPr/>
      <dgm:t>
        <a:bodyPr/>
        <a:lstStyle/>
        <a:p>
          <a:r>
            <a:rPr lang="en-US"/>
            <a:t>Identify the strongest predictors of higher compensation</a:t>
          </a:r>
        </a:p>
      </dgm:t>
    </dgm:pt>
    <dgm:pt modelId="{8C095594-FC07-4B11-9193-5B21E96512B5}" type="parTrans" cxnId="{8862DEF5-ADDA-40E1-AEE1-18D317129F2B}">
      <dgm:prSet/>
      <dgm:spPr/>
      <dgm:t>
        <a:bodyPr/>
        <a:lstStyle/>
        <a:p>
          <a:endParaRPr lang="en-US"/>
        </a:p>
      </dgm:t>
    </dgm:pt>
    <dgm:pt modelId="{3D5B0F1A-4D63-456A-B29E-CEE090552DEA}" type="sibTrans" cxnId="{8862DEF5-ADDA-40E1-AEE1-18D317129F2B}">
      <dgm:prSet/>
      <dgm:spPr/>
      <dgm:t>
        <a:bodyPr/>
        <a:lstStyle/>
        <a:p>
          <a:endParaRPr lang="en-US"/>
        </a:p>
      </dgm:t>
    </dgm:pt>
    <dgm:pt modelId="{1115BD87-AFF6-4CE1-B7D3-1CD6BAE2ED4B}">
      <dgm:prSet/>
      <dgm:spPr/>
      <dgm:t>
        <a:bodyPr/>
        <a:lstStyle/>
        <a:p>
          <a:r>
            <a:rPr lang="en-US"/>
            <a:t>Provide interpretable insights for HR, recruiting, and leadership</a:t>
          </a:r>
        </a:p>
      </dgm:t>
    </dgm:pt>
    <dgm:pt modelId="{F662834E-DFFC-4861-BCEC-5F199F027877}" type="parTrans" cxnId="{04C5CFF8-9DD5-413B-8B6E-245D1DDA44F6}">
      <dgm:prSet/>
      <dgm:spPr/>
      <dgm:t>
        <a:bodyPr/>
        <a:lstStyle/>
        <a:p>
          <a:endParaRPr lang="en-US"/>
        </a:p>
      </dgm:t>
    </dgm:pt>
    <dgm:pt modelId="{6CDC04CF-3618-4F51-8236-8D36AB51BC65}" type="sibTrans" cxnId="{04C5CFF8-9DD5-413B-8B6E-245D1DDA44F6}">
      <dgm:prSet/>
      <dgm:spPr/>
      <dgm:t>
        <a:bodyPr/>
        <a:lstStyle/>
        <a:p>
          <a:endParaRPr lang="en-US"/>
        </a:p>
      </dgm:t>
    </dgm:pt>
    <dgm:pt modelId="{78CC5253-91CD-46A2-8E4D-EC7A0D6C3C7A}" type="pres">
      <dgm:prSet presAssocID="{020AAA5D-25E9-436D-8252-C14996C4E57D}" presName="Name0" presStyleCnt="0">
        <dgm:presLayoutVars>
          <dgm:dir/>
          <dgm:animLvl val="lvl"/>
          <dgm:resizeHandles val="exact"/>
        </dgm:presLayoutVars>
      </dgm:prSet>
      <dgm:spPr/>
    </dgm:pt>
    <dgm:pt modelId="{041132DE-8DC4-4B58-805D-C7F3B98E1F78}" type="pres">
      <dgm:prSet presAssocID="{0C562E87-5887-4EE7-BCE6-373A77DF685D}" presName="linNode" presStyleCnt="0"/>
      <dgm:spPr/>
    </dgm:pt>
    <dgm:pt modelId="{6CE83C24-B6FE-4074-9EB1-405AB2D359B5}" type="pres">
      <dgm:prSet presAssocID="{0C562E87-5887-4EE7-BCE6-373A77DF685D}" presName="parentText" presStyleLbl="node1" presStyleIdx="0" presStyleCnt="3">
        <dgm:presLayoutVars>
          <dgm:chMax val="1"/>
          <dgm:bulletEnabled val="1"/>
        </dgm:presLayoutVars>
      </dgm:prSet>
      <dgm:spPr/>
    </dgm:pt>
    <dgm:pt modelId="{DD32119C-1E77-4230-A6BA-4B84C92FC23F}" type="pres">
      <dgm:prSet presAssocID="{0C562E87-5887-4EE7-BCE6-373A77DF685D}" presName="descendantText" presStyleLbl="alignAccFollowNode1" presStyleIdx="0" presStyleCnt="3">
        <dgm:presLayoutVars>
          <dgm:bulletEnabled val="1"/>
        </dgm:presLayoutVars>
      </dgm:prSet>
      <dgm:spPr/>
    </dgm:pt>
    <dgm:pt modelId="{1FAAB2AD-6138-4B7A-A2BC-428253986CB2}" type="pres">
      <dgm:prSet presAssocID="{D3D48AC6-6093-49D8-B6EE-52073562443C}" presName="sp" presStyleCnt="0"/>
      <dgm:spPr/>
    </dgm:pt>
    <dgm:pt modelId="{2838C460-0ACA-4F41-BD7C-36279BD0DECD}" type="pres">
      <dgm:prSet presAssocID="{803D331A-5D5D-454C-9022-F2A0FC140552}" presName="linNode" presStyleCnt="0"/>
      <dgm:spPr/>
    </dgm:pt>
    <dgm:pt modelId="{F7239554-D397-45BC-B2E8-D7A0D11F2632}" type="pres">
      <dgm:prSet presAssocID="{803D331A-5D5D-454C-9022-F2A0FC140552}" presName="parentText" presStyleLbl="node1" presStyleIdx="1" presStyleCnt="3">
        <dgm:presLayoutVars>
          <dgm:chMax val="1"/>
          <dgm:bulletEnabled val="1"/>
        </dgm:presLayoutVars>
      </dgm:prSet>
      <dgm:spPr/>
    </dgm:pt>
    <dgm:pt modelId="{C7DDBB2D-3023-4618-B9F6-40D7C9C25C33}" type="pres">
      <dgm:prSet presAssocID="{803D331A-5D5D-454C-9022-F2A0FC140552}" presName="descendantText" presStyleLbl="alignAccFollowNode1" presStyleIdx="1" presStyleCnt="3">
        <dgm:presLayoutVars>
          <dgm:bulletEnabled val="1"/>
        </dgm:presLayoutVars>
      </dgm:prSet>
      <dgm:spPr/>
    </dgm:pt>
    <dgm:pt modelId="{04AEF67C-0C92-4930-A186-9017492B2CA4}" type="pres">
      <dgm:prSet presAssocID="{3CDFE199-BFD6-4696-A1C2-E03309C14355}" presName="sp" presStyleCnt="0"/>
      <dgm:spPr/>
    </dgm:pt>
    <dgm:pt modelId="{C067645A-E6D9-43F3-A703-A4EF3CC807D4}" type="pres">
      <dgm:prSet presAssocID="{BF76506A-D775-434C-B209-C79E15C297C8}" presName="linNode" presStyleCnt="0"/>
      <dgm:spPr/>
    </dgm:pt>
    <dgm:pt modelId="{F69C8493-BA04-4435-829F-CDC5E21E18AB}" type="pres">
      <dgm:prSet presAssocID="{BF76506A-D775-434C-B209-C79E15C297C8}" presName="parentText" presStyleLbl="node1" presStyleIdx="2" presStyleCnt="3">
        <dgm:presLayoutVars>
          <dgm:chMax val="1"/>
          <dgm:bulletEnabled val="1"/>
        </dgm:presLayoutVars>
      </dgm:prSet>
      <dgm:spPr/>
    </dgm:pt>
    <dgm:pt modelId="{1EAD5F0D-3478-4527-9ADB-3F1B2462A74F}" type="pres">
      <dgm:prSet presAssocID="{BF76506A-D775-434C-B209-C79E15C297C8}" presName="descendantText" presStyleLbl="alignAccFollowNode1" presStyleIdx="2" presStyleCnt="3">
        <dgm:presLayoutVars>
          <dgm:bulletEnabled val="1"/>
        </dgm:presLayoutVars>
      </dgm:prSet>
      <dgm:spPr/>
    </dgm:pt>
  </dgm:ptLst>
  <dgm:cxnLst>
    <dgm:cxn modelId="{FC18E909-629D-4CF9-8A34-E790D20C8CBB}" srcId="{803D331A-5D5D-454C-9022-F2A0FC140552}" destId="{8D6E874F-9E4E-4F97-8190-70CBFB06632E}" srcOrd="3" destOrd="0" parTransId="{554CB577-FFD3-4A47-95C3-40BA87AF0549}" sibTransId="{7C3EC669-A495-465A-89B1-6752AD86C011}"/>
    <dgm:cxn modelId="{80C91C0C-E3F0-4C5C-BC0B-5BFC01D419E4}" type="presOf" srcId="{7EADC53C-D63C-42D5-8CF5-657B49C363F1}" destId="{1EAD5F0D-3478-4527-9ADB-3F1B2462A74F}" srcOrd="0" destOrd="1" presId="urn:microsoft.com/office/officeart/2005/8/layout/vList5"/>
    <dgm:cxn modelId="{0CE41111-1A4E-442E-8000-339E8943445C}" type="presOf" srcId="{020AAA5D-25E9-436D-8252-C14996C4E57D}" destId="{78CC5253-91CD-46A2-8E4D-EC7A0D6C3C7A}" srcOrd="0" destOrd="0" presId="urn:microsoft.com/office/officeart/2005/8/layout/vList5"/>
    <dgm:cxn modelId="{8E5B2612-2A82-4986-AEC9-99F35D638CFA}" type="presOf" srcId="{4B9A0644-15CA-4156-96E0-BA0BA5C28A5A}" destId="{DD32119C-1E77-4230-A6BA-4B84C92FC23F}" srcOrd="0" destOrd="1" presId="urn:microsoft.com/office/officeart/2005/8/layout/vList5"/>
    <dgm:cxn modelId="{77B0A226-6353-42BC-BC15-CB07627C65B0}" type="presOf" srcId="{8ECCC05E-424D-4551-9076-065EEE2786D6}" destId="{1EAD5F0D-3478-4527-9ADB-3F1B2462A74F}" srcOrd="0" destOrd="0" presId="urn:microsoft.com/office/officeart/2005/8/layout/vList5"/>
    <dgm:cxn modelId="{0AF5B73B-FBC8-45C9-A3CD-A9F7C79A3BBD}" type="presOf" srcId="{8D6E874F-9E4E-4F97-8190-70CBFB06632E}" destId="{C7DDBB2D-3023-4618-B9F6-40D7C9C25C33}" srcOrd="0" destOrd="3" presId="urn:microsoft.com/office/officeart/2005/8/layout/vList5"/>
    <dgm:cxn modelId="{39AA0A42-B078-401C-96E8-48F28DFC6EB8}" type="presOf" srcId="{1107B7C0-B163-42FB-AEF5-A33045DE72FA}" destId="{DD32119C-1E77-4230-A6BA-4B84C92FC23F}" srcOrd="0" destOrd="0" presId="urn:microsoft.com/office/officeart/2005/8/layout/vList5"/>
    <dgm:cxn modelId="{009AA345-0839-47FF-BCF9-903907125250}" type="presOf" srcId="{1115BD87-AFF6-4CE1-B7D3-1CD6BAE2ED4B}" destId="{1EAD5F0D-3478-4527-9ADB-3F1B2462A74F}" srcOrd="0" destOrd="2" presId="urn:microsoft.com/office/officeart/2005/8/layout/vList5"/>
    <dgm:cxn modelId="{354DF75A-2B41-4BF5-AD8C-4F880DD6CA9F}" srcId="{803D331A-5D5D-454C-9022-F2A0FC140552}" destId="{9FEC1707-9B2C-448D-AE7D-2AA04A3020C9}" srcOrd="0" destOrd="0" parTransId="{2B90AE16-793B-42A3-97D8-A82E8B55199C}" sibTransId="{B59FC681-FDC6-4AB0-9702-05EA904643F2}"/>
    <dgm:cxn modelId="{B943D47F-4EFC-456F-826A-754525D5CBC2}" srcId="{BF76506A-D775-434C-B209-C79E15C297C8}" destId="{8ECCC05E-424D-4551-9076-065EEE2786D6}" srcOrd="0" destOrd="0" parTransId="{235A142C-E759-4CB8-9B7E-CE96D11C3B63}" sibTransId="{AFA834FC-E420-4436-81BA-2FE7C42A9C3E}"/>
    <dgm:cxn modelId="{9171E889-A4E1-49FE-91A6-467A95855BAB}" type="presOf" srcId="{9FEC1707-9B2C-448D-AE7D-2AA04A3020C9}" destId="{C7DDBB2D-3023-4618-B9F6-40D7C9C25C33}" srcOrd="0" destOrd="0" presId="urn:microsoft.com/office/officeart/2005/8/layout/vList5"/>
    <dgm:cxn modelId="{887D7FA3-D9DC-4B8A-BCA8-524232221FF7}" type="presOf" srcId="{481FAA5A-9C0A-44F2-A0E2-DACA3D28E1B1}" destId="{C7DDBB2D-3023-4618-B9F6-40D7C9C25C33}" srcOrd="0" destOrd="1" presId="urn:microsoft.com/office/officeart/2005/8/layout/vList5"/>
    <dgm:cxn modelId="{8415C3B1-8F42-48A7-89CE-C174E102D74C}" srcId="{803D331A-5D5D-454C-9022-F2A0FC140552}" destId="{6572B8B5-FD5D-46D4-BC67-D1EF85176DE6}" srcOrd="2" destOrd="0" parTransId="{AE6073E8-1F1C-4B99-A28B-BA148B2CAA68}" sibTransId="{8DC6FF9F-F5A3-4322-84DB-03261348326E}"/>
    <dgm:cxn modelId="{A085A6B8-D2E3-47E1-955D-F23DE7E749A6}" srcId="{020AAA5D-25E9-436D-8252-C14996C4E57D}" destId="{BF76506A-D775-434C-B209-C79E15C297C8}" srcOrd="2" destOrd="0" parTransId="{59940935-4226-45DE-9DCD-CEBF533D2237}" sibTransId="{EDB17B30-4D8B-4A7A-AD90-6D7C02517145}"/>
    <dgm:cxn modelId="{33036BB9-8525-4793-9D11-F03A616DB875}" srcId="{0C562E87-5887-4EE7-BCE6-373A77DF685D}" destId="{1107B7C0-B163-42FB-AEF5-A33045DE72FA}" srcOrd="0" destOrd="0" parTransId="{7A9DC1FF-CEE5-423E-973B-4CF74FD5AABD}" sibTransId="{FCD3C635-48E4-4ECC-A93C-602D043C1B07}"/>
    <dgm:cxn modelId="{860946C9-DBEE-4DC2-9832-2A826ADDF373}" type="presOf" srcId="{803D331A-5D5D-454C-9022-F2A0FC140552}" destId="{F7239554-D397-45BC-B2E8-D7A0D11F2632}" srcOrd="0" destOrd="0" presId="urn:microsoft.com/office/officeart/2005/8/layout/vList5"/>
    <dgm:cxn modelId="{125160D2-0FC4-4563-A275-92AF73154603}" type="presOf" srcId="{0C562E87-5887-4EE7-BCE6-373A77DF685D}" destId="{6CE83C24-B6FE-4074-9EB1-405AB2D359B5}" srcOrd="0" destOrd="0" presId="urn:microsoft.com/office/officeart/2005/8/layout/vList5"/>
    <dgm:cxn modelId="{A46E57D8-CE60-40A4-875D-6BACB8740600}" type="presOf" srcId="{6CD43240-6436-4C13-B872-685E17481520}" destId="{DD32119C-1E77-4230-A6BA-4B84C92FC23F}" srcOrd="0" destOrd="2" presId="urn:microsoft.com/office/officeart/2005/8/layout/vList5"/>
    <dgm:cxn modelId="{3AEBC3DA-CD9D-4B42-9F63-2BB5C1BA622B}" srcId="{803D331A-5D5D-454C-9022-F2A0FC140552}" destId="{481FAA5A-9C0A-44F2-A0E2-DACA3D28E1B1}" srcOrd="1" destOrd="0" parTransId="{A29244B6-AEE1-4DD0-B1FF-EDA484739D6C}" sibTransId="{6545978F-15FA-46BF-AB31-A1BFAFB9F1A8}"/>
    <dgm:cxn modelId="{F0F24EE4-9C8F-45FB-AB52-39A4A632DF00}" srcId="{020AAA5D-25E9-436D-8252-C14996C4E57D}" destId="{803D331A-5D5D-454C-9022-F2A0FC140552}" srcOrd="1" destOrd="0" parTransId="{7D35C0AE-4F63-4DC3-A188-9DD3D6C8A17E}" sibTransId="{3CDFE199-BFD6-4696-A1C2-E03309C14355}"/>
    <dgm:cxn modelId="{E9895AF2-CF24-4A8D-BBE8-C1FC02B02E88}" srcId="{0C562E87-5887-4EE7-BCE6-373A77DF685D}" destId="{4B9A0644-15CA-4156-96E0-BA0BA5C28A5A}" srcOrd="1" destOrd="0" parTransId="{5D180631-B7F6-4C3C-AD1E-17E09FBE3934}" sibTransId="{18E3EFDE-9EF4-4EA1-BC50-90920C2808E1}"/>
    <dgm:cxn modelId="{8862DEF5-ADDA-40E1-AEE1-18D317129F2B}" srcId="{BF76506A-D775-434C-B209-C79E15C297C8}" destId="{7EADC53C-D63C-42D5-8CF5-657B49C363F1}" srcOrd="1" destOrd="0" parTransId="{8C095594-FC07-4B11-9193-5B21E96512B5}" sibTransId="{3D5B0F1A-4D63-456A-B29E-CEE090552DEA}"/>
    <dgm:cxn modelId="{6E13A9F7-2ED5-4F33-BEB3-C3659812BDA9}" type="presOf" srcId="{BF76506A-D775-434C-B209-C79E15C297C8}" destId="{F69C8493-BA04-4435-829F-CDC5E21E18AB}" srcOrd="0" destOrd="0" presId="urn:microsoft.com/office/officeart/2005/8/layout/vList5"/>
    <dgm:cxn modelId="{04C5CFF8-9DD5-413B-8B6E-245D1DDA44F6}" srcId="{BF76506A-D775-434C-B209-C79E15C297C8}" destId="{1115BD87-AFF6-4CE1-B7D3-1CD6BAE2ED4B}" srcOrd="2" destOrd="0" parTransId="{F662834E-DFFC-4861-BCEC-5F199F027877}" sibTransId="{6CDC04CF-3618-4F51-8236-8D36AB51BC65}"/>
    <dgm:cxn modelId="{76409EFB-BDB6-4E79-93A4-565C576DDC89}" srcId="{0C562E87-5887-4EE7-BCE6-373A77DF685D}" destId="{6CD43240-6436-4C13-B872-685E17481520}" srcOrd="2" destOrd="0" parTransId="{37663691-F574-4301-B19B-3004889FCD07}" sibTransId="{44DBFD8F-C008-4F2D-B3B5-E4C7AC53ADFE}"/>
    <dgm:cxn modelId="{7FAAFCFB-F9AF-4636-B752-5EB1EC512F18}" srcId="{020AAA5D-25E9-436D-8252-C14996C4E57D}" destId="{0C562E87-5887-4EE7-BCE6-373A77DF685D}" srcOrd="0" destOrd="0" parTransId="{C53E3B3F-62AD-412E-B65F-C350FE6F9A73}" sibTransId="{D3D48AC6-6093-49D8-B6EE-52073562443C}"/>
    <dgm:cxn modelId="{8414D4FE-5EAA-4BDB-AE42-2E0BE6ED25DB}" type="presOf" srcId="{6572B8B5-FD5D-46D4-BC67-D1EF85176DE6}" destId="{C7DDBB2D-3023-4618-B9F6-40D7C9C25C33}" srcOrd="0" destOrd="2" presId="urn:microsoft.com/office/officeart/2005/8/layout/vList5"/>
    <dgm:cxn modelId="{34C8F2B9-49E0-4B85-A621-C4A93253F24B}" type="presParOf" srcId="{78CC5253-91CD-46A2-8E4D-EC7A0D6C3C7A}" destId="{041132DE-8DC4-4B58-805D-C7F3B98E1F78}" srcOrd="0" destOrd="0" presId="urn:microsoft.com/office/officeart/2005/8/layout/vList5"/>
    <dgm:cxn modelId="{FF07B06C-AA33-4AE0-AEE9-10665EDFAD8E}" type="presParOf" srcId="{041132DE-8DC4-4B58-805D-C7F3B98E1F78}" destId="{6CE83C24-B6FE-4074-9EB1-405AB2D359B5}" srcOrd="0" destOrd="0" presId="urn:microsoft.com/office/officeart/2005/8/layout/vList5"/>
    <dgm:cxn modelId="{EACC5070-3E0C-4FFC-AC85-6831D8543029}" type="presParOf" srcId="{041132DE-8DC4-4B58-805D-C7F3B98E1F78}" destId="{DD32119C-1E77-4230-A6BA-4B84C92FC23F}" srcOrd="1" destOrd="0" presId="urn:microsoft.com/office/officeart/2005/8/layout/vList5"/>
    <dgm:cxn modelId="{5ECD2796-4644-4280-BA8D-F417F2937522}" type="presParOf" srcId="{78CC5253-91CD-46A2-8E4D-EC7A0D6C3C7A}" destId="{1FAAB2AD-6138-4B7A-A2BC-428253986CB2}" srcOrd="1" destOrd="0" presId="urn:microsoft.com/office/officeart/2005/8/layout/vList5"/>
    <dgm:cxn modelId="{9DCFBFAE-D7C6-4EFF-9D17-FD9DFB873E35}" type="presParOf" srcId="{78CC5253-91CD-46A2-8E4D-EC7A0D6C3C7A}" destId="{2838C460-0ACA-4F41-BD7C-36279BD0DECD}" srcOrd="2" destOrd="0" presId="urn:microsoft.com/office/officeart/2005/8/layout/vList5"/>
    <dgm:cxn modelId="{B3399072-D00C-4D3E-A8DA-699CFA1EEC45}" type="presParOf" srcId="{2838C460-0ACA-4F41-BD7C-36279BD0DECD}" destId="{F7239554-D397-45BC-B2E8-D7A0D11F2632}" srcOrd="0" destOrd="0" presId="urn:microsoft.com/office/officeart/2005/8/layout/vList5"/>
    <dgm:cxn modelId="{0386D16D-6D2C-497F-BB09-7332D5F6F5A1}" type="presParOf" srcId="{2838C460-0ACA-4F41-BD7C-36279BD0DECD}" destId="{C7DDBB2D-3023-4618-B9F6-40D7C9C25C33}" srcOrd="1" destOrd="0" presId="urn:microsoft.com/office/officeart/2005/8/layout/vList5"/>
    <dgm:cxn modelId="{D2F964D2-E9E4-4F2E-9DED-BC668732DD44}" type="presParOf" srcId="{78CC5253-91CD-46A2-8E4D-EC7A0D6C3C7A}" destId="{04AEF67C-0C92-4930-A186-9017492B2CA4}" srcOrd="3" destOrd="0" presId="urn:microsoft.com/office/officeart/2005/8/layout/vList5"/>
    <dgm:cxn modelId="{54A8053B-4590-4B05-9107-F6710C7F3F93}" type="presParOf" srcId="{78CC5253-91CD-46A2-8E4D-EC7A0D6C3C7A}" destId="{C067645A-E6D9-43F3-A703-A4EF3CC807D4}" srcOrd="4" destOrd="0" presId="urn:microsoft.com/office/officeart/2005/8/layout/vList5"/>
    <dgm:cxn modelId="{608CF193-353E-4F8D-801C-64B29FEFAD94}" type="presParOf" srcId="{C067645A-E6D9-43F3-A703-A4EF3CC807D4}" destId="{F69C8493-BA04-4435-829F-CDC5E21E18AB}" srcOrd="0" destOrd="0" presId="urn:microsoft.com/office/officeart/2005/8/layout/vList5"/>
    <dgm:cxn modelId="{0331F8BE-7D93-40B9-8D9A-7555D6027DFE}" type="presParOf" srcId="{C067645A-E6D9-43F3-A703-A4EF3CC807D4}" destId="{1EAD5F0D-3478-4527-9ADB-3F1B2462A74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86C296-DF56-4C47-B994-D9B8471360EE}" type="doc">
      <dgm:prSet loTypeId="urn:microsoft.com/office/officeart/2017/3/layout/HorizontalLabelsTimeline" loCatId="process" qsTypeId="urn:microsoft.com/office/officeart/2005/8/quickstyle/simple1" qsCatId="simple" csTypeId="urn:microsoft.com/office/officeart/2005/8/colors/colorful2" csCatId="colorful" phldr="1"/>
      <dgm:spPr/>
      <dgm:t>
        <a:bodyPr/>
        <a:lstStyle/>
        <a:p>
          <a:endParaRPr lang="en-US"/>
        </a:p>
      </dgm:t>
    </dgm:pt>
    <dgm:pt modelId="{6B635021-A55F-4016-84D1-C47178F0651F}">
      <dgm:prSet/>
      <dgm:spPr/>
      <dgm:t>
        <a:bodyPr/>
        <a:lstStyle/>
        <a:p>
          <a:pPr>
            <a:defRPr b="1"/>
          </a:pPr>
          <a:r>
            <a:rPr lang="en-US"/>
            <a:t>2010–2014</a:t>
          </a:r>
        </a:p>
      </dgm:t>
    </dgm:pt>
    <dgm:pt modelId="{AE67E23C-B7FA-4B82-BF58-0B53A2531AFF}" type="parTrans" cxnId="{F3917F2B-214A-4ADE-9F58-1C56383D2815}">
      <dgm:prSet/>
      <dgm:spPr/>
      <dgm:t>
        <a:bodyPr/>
        <a:lstStyle/>
        <a:p>
          <a:endParaRPr lang="en-US"/>
        </a:p>
      </dgm:t>
    </dgm:pt>
    <dgm:pt modelId="{2BE2A797-5C88-4F53-AA81-13C2AB3880EF}" type="sibTrans" cxnId="{F3917F2B-214A-4ADE-9F58-1C56383D2815}">
      <dgm:prSet/>
      <dgm:spPr/>
      <dgm:t>
        <a:bodyPr/>
        <a:lstStyle/>
        <a:p>
          <a:endParaRPr lang="en-US"/>
        </a:p>
      </dgm:t>
    </dgm:pt>
    <dgm:pt modelId="{A2085995-8470-450E-B6A8-C1F91C101113}">
      <dgm:prSet/>
      <dgm:spPr/>
      <dgm:t>
        <a:bodyPr/>
        <a:lstStyle/>
        <a:p>
          <a:r>
            <a:rPr lang="en-US"/>
            <a:t>Big Data Era</a:t>
          </a:r>
        </a:p>
      </dgm:t>
    </dgm:pt>
    <dgm:pt modelId="{465391C6-D463-43DE-8D38-67642DF13AE0}" type="parTrans" cxnId="{83A3F837-E24F-427F-9F06-9297C30ADEFE}">
      <dgm:prSet/>
      <dgm:spPr/>
      <dgm:t>
        <a:bodyPr/>
        <a:lstStyle/>
        <a:p>
          <a:endParaRPr lang="en-US"/>
        </a:p>
      </dgm:t>
    </dgm:pt>
    <dgm:pt modelId="{9FFBED70-6D20-4A8B-9112-30633D50C263}" type="sibTrans" cxnId="{83A3F837-E24F-427F-9F06-9297C30ADEFE}">
      <dgm:prSet/>
      <dgm:spPr/>
      <dgm:t>
        <a:bodyPr/>
        <a:lstStyle/>
        <a:p>
          <a:endParaRPr lang="en-US"/>
        </a:p>
      </dgm:t>
    </dgm:pt>
    <dgm:pt modelId="{77CC3EBF-DC77-49CD-8247-07A80CC498B6}">
      <dgm:prSet/>
      <dgm:spPr/>
      <dgm:t>
        <a:bodyPr/>
        <a:lstStyle/>
        <a:p>
          <a:r>
            <a:rPr lang="en-US"/>
            <a:t>Companies adopt Hadoop/Spark</a:t>
          </a:r>
        </a:p>
      </dgm:t>
    </dgm:pt>
    <dgm:pt modelId="{53B6D24B-1308-4611-ACC7-D6B749778358}" type="parTrans" cxnId="{7EA093A3-290A-489D-AA53-23DFC8EB3892}">
      <dgm:prSet/>
      <dgm:spPr/>
      <dgm:t>
        <a:bodyPr/>
        <a:lstStyle/>
        <a:p>
          <a:endParaRPr lang="en-US"/>
        </a:p>
      </dgm:t>
    </dgm:pt>
    <dgm:pt modelId="{FCBE6D34-5E0F-40B9-89F9-D61BDFCE54C7}" type="sibTrans" cxnId="{7EA093A3-290A-489D-AA53-23DFC8EB3892}">
      <dgm:prSet/>
      <dgm:spPr/>
      <dgm:t>
        <a:bodyPr/>
        <a:lstStyle/>
        <a:p>
          <a:endParaRPr lang="en-US"/>
        </a:p>
      </dgm:t>
    </dgm:pt>
    <dgm:pt modelId="{49013905-4C87-4BB1-9BEE-55DB1F102E7D}">
      <dgm:prSet/>
      <dgm:spPr/>
      <dgm:t>
        <a:bodyPr/>
        <a:lstStyle/>
        <a:p>
          <a:r>
            <a:rPr lang="en-US"/>
            <a:t>Demand for data talent surges</a:t>
          </a:r>
        </a:p>
      </dgm:t>
    </dgm:pt>
    <dgm:pt modelId="{12D6FB59-DD32-41A0-A5E0-86C917142BEE}" type="parTrans" cxnId="{D80C1151-4F68-468D-A27F-469A658F0A0C}">
      <dgm:prSet/>
      <dgm:spPr/>
      <dgm:t>
        <a:bodyPr/>
        <a:lstStyle/>
        <a:p>
          <a:endParaRPr lang="en-US"/>
        </a:p>
      </dgm:t>
    </dgm:pt>
    <dgm:pt modelId="{1CDD4F65-B4FE-4A87-A776-742889BAD5D5}" type="sibTrans" cxnId="{D80C1151-4F68-468D-A27F-469A658F0A0C}">
      <dgm:prSet/>
      <dgm:spPr/>
      <dgm:t>
        <a:bodyPr/>
        <a:lstStyle/>
        <a:p>
          <a:endParaRPr lang="en-US"/>
        </a:p>
      </dgm:t>
    </dgm:pt>
    <dgm:pt modelId="{6C474853-88F3-43B8-A337-E1AFB154CD48}">
      <dgm:prSet/>
      <dgm:spPr/>
      <dgm:t>
        <a:bodyPr/>
        <a:lstStyle/>
        <a:p>
          <a:r>
            <a:rPr lang="en-US"/>
            <a:t>Salaries rise due to scarcity</a:t>
          </a:r>
        </a:p>
      </dgm:t>
    </dgm:pt>
    <dgm:pt modelId="{FB956152-EC4B-4437-8D23-8E4E5072CB11}" type="parTrans" cxnId="{504D8D98-F7E2-44BE-868E-19D00AE3CA75}">
      <dgm:prSet/>
      <dgm:spPr/>
      <dgm:t>
        <a:bodyPr/>
        <a:lstStyle/>
        <a:p>
          <a:endParaRPr lang="en-US"/>
        </a:p>
      </dgm:t>
    </dgm:pt>
    <dgm:pt modelId="{66FBD1E8-3D88-494F-980D-ECA30B31DB17}" type="sibTrans" cxnId="{504D8D98-F7E2-44BE-868E-19D00AE3CA75}">
      <dgm:prSet/>
      <dgm:spPr/>
      <dgm:t>
        <a:bodyPr/>
        <a:lstStyle/>
        <a:p>
          <a:endParaRPr lang="en-US"/>
        </a:p>
      </dgm:t>
    </dgm:pt>
    <dgm:pt modelId="{CC3CF1B1-312D-4DD0-88BC-A0391F1B50E0}">
      <dgm:prSet/>
      <dgm:spPr/>
      <dgm:t>
        <a:bodyPr/>
        <a:lstStyle/>
        <a:p>
          <a:pPr>
            <a:defRPr b="1"/>
          </a:pPr>
          <a:r>
            <a:rPr lang="en-US"/>
            <a:t>2015–2018</a:t>
          </a:r>
        </a:p>
      </dgm:t>
    </dgm:pt>
    <dgm:pt modelId="{A7B4333B-1EFD-49A4-8016-3FA24F5CC67E}" type="parTrans" cxnId="{F6E5367C-CBC0-4A5A-BF41-28F2D6FDAF99}">
      <dgm:prSet/>
      <dgm:spPr/>
      <dgm:t>
        <a:bodyPr/>
        <a:lstStyle/>
        <a:p>
          <a:endParaRPr lang="en-US"/>
        </a:p>
      </dgm:t>
    </dgm:pt>
    <dgm:pt modelId="{DED28691-F0F9-45F8-9271-3B1A7F1D0033}" type="sibTrans" cxnId="{F6E5367C-CBC0-4A5A-BF41-28F2D6FDAF99}">
      <dgm:prSet/>
      <dgm:spPr/>
      <dgm:t>
        <a:bodyPr/>
        <a:lstStyle/>
        <a:p>
          <a:endParaRPr lang="en-US"/>
        </a:p>
      </dgm:t>
    </dgm:pt>
    <dgm:pt modelId="{D6065B06-753E-4DAE-8F92-A5300AF4BA94}">
      <dgm:prSet/>
      <dgm:spPr/>
      <dgm:t>
        <a:bodyPr/>
        <a:lstStyle/>
        <a:p>
          <a:r>
            <a:rPr lang="en-US"/>
            <a:t>ML Goes Mainstream</a:t>
          </a:r>
        </a:p>
      </dgm:t>
    </dgm:pt>
    <dgm:pt modelId="{3487EDB0-D355-43F8-8ABB-9E699FF98E76}" type="parTrans" cxnId="{C1EC8C2D-0728-473E-A447-EB701B860621}">
      <dgm:prSet/>
      <dgm:spPr/>
      <dgm:t>
        <a:bodyPr/>
        <a:lstStyle/>
        <a:p>
          <a:endParaRPr lang="en-US"/>
        </a:p>
      </dgm:t>
    </dgm:pt>
    <dgm:pt modelId="{2D4B2AE6-EA54-49D1-96B4-8915EEC13AA5}" type="sibTrans" cxnId="{C1EC8C2D-0728-473E-A447-EB701B860621}">
      <dgm:prSet/>
      <dgm:spPr/>
      <dgm:t>
        <a:bodyPr/>
        <a:lstStyle/>
        <a:p>
          <a:endParaRPr lang="en-US"/>
        </a:p>
      </dgm:t>
    </dgm:pt>
    <dgm:pt modelId="{1DF46E03-E0E7-44D5-A5ED-511573F4CDC9}">
      <dgm:prSet/>
      <dgm:spPr/>
      <dgm:t>
        <a:bodyPr/>
        <a:lstStyle/>
        <a:p>
          <a:r>
            <a:rPr lang="en-US"/>
            <a:t>Python + ML libraries mature</a:t>
          </a:r>
        </a:p>
      </dgm:t>
    </dgm:pt>
    <dgm:pt modelId="{4EF98C2D-5CBD-4BBD-9095-501E0F2A1375}" type="parTrans" cxnId="{7FBF27B1-83E8-43E6-B6B3-11776E5D3A91}">
      <dgm:prSet/>
      <dgm:spPr/>
      <dgm:t>
        <a:bodyPr/>
        <a:lstStyle/>
        <a:p>
          <a:endParaRPr lang="en-US"/>
        </a:p>
      </dgm:t>
    </dgm:pt>
    <dgm:pt modelId="{35AF78F3-6B84-46F1-99A9-411023E84A0F}" type="sibTrans" cxnId="{7FBF27B1-83E8-43E6-B6B3-11776E5D3A91}">
      <dgm:prSet/>
      <dgm:spPr/>
      <dgm:t>
        <a:bodyPr/>
        <a:lstStyle/>
        <a:p>
          <a:endParaRPr lang="en-US"/>
        </a:p>
      </dgm:t>
    </dgm:pt>
    <dgm:pt modelId="{C576E449-BD71-4CA0-9258-7DE76823353B}">
      <dgm:prSet/>
      <dgm:spPr/>
      <dgm:t>
        <a:bodyPr/>
        <a:lstStyle/>
        <a:p>
          <a:r>
            <a:rPr lang="en-US"/>
            <a:t>Specialized roles emerge</a:t>
          </a:r>
        </a:p>
      </dgm:t>
    </dgm:pt>
    <dgm:pt modelId="{B112A2CA-7455-4FF6-847F-A09AF1CACDB6}" type="parTrans" cxnId="{081BCD21-6101-4AB1-A8F6-0B2E625B3AAD}">
      <dgm:prSet/>
      <dgm:spPr/>
      <dgm:t>
        <a:bodyPr/>
        <a:lstStyle/>
        <a:p>
          <a:endParaRPr lang="en-US"/>
        </a:p>
      </dgm:t>
    </dgm:pt>
    <dgm:pt modelId="{7DA9780F-9815-4FA1-81CF-A3D7F33967AF}" type="sibTrans" cxnId="{081BCD21-6101-4AB1-A8F6-0B2E625B3AAD}">
      <dgm:prSet/>
      <dgm:spPr/>
      <dgm:t>
        <a:bodyPr/>
        <a:lstStyle/>
        <a:p>
          <a:endParaRPr lang="en-US"/>
        </a:p>
      </dgm:t>
    </dgm:pt>
    <dgm:pt modelId="{3B3D09CE-2CD9-4928-A34C-23055D7D9726}">
      <dgm:prSet/>
      <dgm:spPr/>
      <dgm:t>
        <a:bodyPr/>
        <a:lstStyle/>
        <a:p>
          <a:r>
            <a:rPr lang="en-US"/>
            <a:t>Salary gaps widen</a:t>
          </a:r>
        </a:p>
      </dgm:t>
    </dgm:pt>
    <dgm:pt modelId="{77776792-2B89-4653-A9FD-71CE5BA6B4BC}" type="parTrans" cxnId="{3C1E06AB-7799-4732-A887-98FE6EE5B6D0}">
      <dgm:prSet/>
      <dgm:spPr/>
      <dgm:t>
        <a:bodyPr/>
        <a:lstStyle/>
        <a:p>
          <a:endParaRPr lang="en-US"/>
        </a:p>
      </dgm:t>
    </dgm:pt>
    <dgm:pt modelId="{7E8C98A1-C93E-4591-8A25-90CE4F4590B5}" type="sibTrans" cxnId="{3C1E06AB-7799-4732-A887-98FE6EE5B6D0}">
      <dgm:prSet/>
      <dgm:spPr/>
      <dgm:t>
        <a:bodyPr/>
        <a:lstStyle/>
        <a:p>
          <a:endParaRPr lang="en-US"/>
        </a:p>
      </dgm:t>
    </dgm:pt>
    <dgm:pt modelId="{57F70C2E-8DEE-4019-B68D-06C8715A2C8A}">
      <dgm:prSet/>
      <dgm:spPr/>
      <dgm:t>
        <a:bodyPr/>
        <a:lstStyle/>
        <a:p>
          <a:pPr>
            <a:defRPr b="1"/>
          </a:pPr>
          <a:r>
            <a:rPr lang="en-US"/>
            <a:t>2018–2020</a:t>
          </a:r>
        </a:p>
      </dgm:t>
    </dgm:pt>
    <dgm:pt modelId="{5E0DFD12-7FB7-4165-83BA-04648DF9E700}" type="parTrans" cxnId="{9AA6385B-F6F0-4CC9-8A29-F5C878443C8F}">
      <dgm:prSet/>
      <dgm:spPr/>
      <dgm:t>
        <a:bodyPr/>
        <a:lstStyle/>
        <a:p>
          <a:endParaRPr lang="en-US"/>
        </a:p>
      </dgm:t>
    </dgm:pt>
    <dgm:pt modelId="{09A70FB8-BEAC-43B1-8D7D-1C78E2408CA4}" type="sibTrans" cxnId="{9AA6385B-F6F0-4CC9-8A29-F5C878443C8F}">
      <dgm:prSet/>
      <dgm:spPr/>
      <dgm:t>
        <a:bodyPr/>
        <a:lstStyle/>
        <a:p>
          <a:endParaRPr lang="en-US"/>
        </a:p>
      </dgm:t>
    </dgm:pt>
    <dgm:pt modelId="{60F2964D-04FC-4B6E-90FA-1E3592639085}">
      <dgm:prSet/>
      <dgm:spPr/>
      <dgm:t>
        <a:bodyPr/>
        <a:lstStyle/>
        <a:p>
          <a:r>
            <a:rPr lang="en-US"/>
            <a:t>Tech Giants Inflate Pay</a:t>
          </a:r>
        </a:p>
      </dgm:t>
    </dgm:pt>
    <dgm:pt modelId="{0916983C-DF14-4642-B58A-134F2235EA9D}" type="parTrans" cxnId="{9DF36335-2EA2-41C6-9EDA-D508BC810A0C}">
      <dgm:prSet/>
      <dgm:spPr/>
      <dgm:t>
        <a:bodyPr/>
        <a:lstStyle/>
        <a:p>
          <a:endParaRPr lang="en-US"/>
        </a:p>
      </dgm:t>
    </dgm:pt>
    <dgm:pt modelId="{D7CAB945-65DD-4690-B902-162601AFD2CB}" type="sibTrans" cxnId="{9DF36335-2EA2-41C6-9EDA-D508BC810A0C}">
      <dgm:prSet/>
      <dgm:spPr/>
      <dgm:t>
        <a:bodyPr/>
        <a:lstStyle/>
        <a:p>
          <a:endParaRPr lang="en-US"/>
        </a:p>
      </dgm:t>
    </dgm:pt>
    <dgm:pt modelId="{0122C00D-5F93-4F45-ACA9-979F9D8D1C3B}">
      <dgm:prSet/>
      <dgm:spPr/>
      <dgm:t>
        <a:bodyPr/>
        <a:lstStyle/>
        <a:p>
          <a:r>
            <a:rPr lang="en-US"/>
            <a:t>FAANG compensation spikes</a:t>
          </a:r>
        </a:p>
      </dgm:t>
    </dgm:pt>
    <dgm:pt modelId="{7F70CBE8-0DF0-4F64-A136-C4E79635626F}" type="parTrans" cxnId="{B57C6932-E59C-433B-B13A-D081AD850D67}">
      <dgm:prSet/>
      <dgm:spPr/>
      <dgm:t>
        <a:bodyPr/>
        <a:lstStyle/>
        <a:p>
          <a:endParaRPr lang="en-US"/>
        </a:p>
      </dgm:t>
    </dgm:pt>
    <dgm:pt modelId="{18482CA7-0512-42A2-873D-67BA5A0427EF}" type="sibTrans" cxnId="{B57C6932-E59C-433B-B13A-D081AD850D67}">
      <dgm:prSet/>
      <dgm:spPr/>
      <dgm:t>
        <a:bodyPr/>
        <a:lstStyle/>
        <a:p>
          <a:endParaRPr lang="en-US"/>
        </a:p>
      </dgm:t>
    </dgm:pt>
    <dgm:pt modelId="{C9DF8A8E-D893-4161-871D-523FDB8478B3}">
      <dgm:prSet/>
      <dgm:spPr/>
      <dgm:t>
        <a:bodyPr/>
        <a:lstStyle/>
        <a:p>
          <a:r>
            <a:rPr lang="en-US"/>
            <a:t>Equity packages reshape salary norms</a:t>
          </a:r>
        </a:p>
      </dgm:t>
    </dgm:pt>
    <dgm:pt modelId="{ED7B9CFC-13F2-4E20-9790-69A7686FD6D3}" type="parTrans" cxnId="{63479F05-3470-447C-8DB8-214B1EB1766C}">
      <dgm:prSet/>
      <dgm:spPr/>
      <dgm:t>
        <a:bodyPr/>
        <a:lstStyle/>
        <a:p>
          <a:endParaRPr lang="en-US"/>
        </a:p>
      </dgm:t>
    </dgm:pt>
    <dgm:pt modelId="{899FA1F5-F511-4F90-BF71-1777F4FD4283}" type="sibTrans" cxnId="{63479F05-3470-447C-8DB8-214B1EB1766C}">
      <dgm:prSet/>
      <dgm:spPr/>
      <dgm:t>
        <a:bodyPr/>
        <a:lstStyle/>
        <a:p>
          <a:endParaRPr lang="en-US"/>
        </a:p>
      </dgm:t>
    </dgm:pt>
    <dgm:pt modelId="{2D4C0A55-4C08-4A5D-B991-1FC00D851071}">
      <dgm:prSet/>
      <dgm:spPr/>
      <dgm:t>
        <a:bodyPr/>
        <a:lstStyle/>
        <a:p>
          <a:pPr>
            <a:defRPr b="1"/>
          </a:pPr>
          <a:r>
            <a:rPr lang="en-US"/>
            <a:t>2020–2022</a:t>
          </a:r>
        </a:p>
      </dgm:t>
    </dgm:pt>
    <dgm:pt modelId="{C669B006-A238-4288-8321-EF1BCD62FDC6}" type="parTrans" cxnId="{0B194153-4B59-4F01-ADC1-BACD2B0FF4C6}">
      <dgm:prSet/>
      <dgm:spPr/>
      <dgm:t>
        <a:bodyPr/>
        <a:lstStyle/>
        <a:p>
          <a:endParaRPr lang="en-US"/>
        </a:p>
      </dgm:t>
    </dgm:pt>
    <dgm:pt modelId="{7FA5602A-B5FF-4FD8-BD97-94D0A2A07EF2}" type="sibTrans" cxnId="{0B194153-4B59-4F01-ADC1-BACD2B0FF4C6}">
      <dgm:prSet/>
      <dgm:spPr/>
      <dgm:t>
        <a:bodyPr/>
        <a:lstStyle/>
        <a:p>
          <a:endParaRPr lang="en-US"/>
        </a:p>
      </dgm:t>
    </dgm:pt>
    <dgm:pt modelId="{24ECA2C2-2B53-4DA3-9534-4CECD2615396}">
      <dgm:prSet/>
      <dgm:spPr/>
      <dgm:t>
        <a:bodyPr/>
        <a:lstStyle/>
        <a:p>
          <a:r>
            <a:rPr lang="en-US"/>
            <a:t>Remote Work Shift</a:t>
          </a:r>
        </a:p>
      </dgm:t>
    </dgm:pt>
    <dgm:pt modelId="{7F9F2CFF-7653-4420-9B36-AA231C5D0C3B}" type="parTrans" cxnId="{59B4FE1B-9CA8-4BEF-9BEE-8287EB389E2F}">
      <dgm:prSet/>
      <dgm:spPr/>
      <dgm:t>
        <a:bodyPr/>
        <a:lstStyle/>
        <a:p>
          <a:endParaRPr lang="en-US"/>
        </a:p>
      </dgm:t>
    </dgm:pt>
    <dgm:pt modelId="{EEC9EE7C-281C-4E68-BD31-F03BD0623CC4}" type="sibTrans" cxnId="{59B4FE1B-9CA8-4BEF-9BEE-8287EB389E2F}">
      <dgm:prSet/>
      <dgm:spPr/>
      <dgm:t>
        <a:bodyPr/>
        <a:lstStyle/>
        <a:p>
          <a:endParaRPr lang="en-US"/>
        </a:p>
      </dgm:t>
    </dgm:pt>
    <dgm:pt modelId="{E27DC033-004F-45B2-AEFF-6E4FA6525B94}">
      <dgm:prSet/>
      <dgm:spPr/>
      <dgm:t>
        <a:bodyPr/>
        <a:lstStyle/>
        <a:p>
          <a:r>
            <a:rPr lang="en-US"/>
            <a:t>National hiring equalizes pay</a:t>
          </a:r>
        </a:p>
      </dgm:t>
    </dgm:pt>
    <dgm:pt modelId="{CD67A71E-90AB-4CB5-AAEF-A6ED59863C8F}" type="parTrans" cxnId="{B205565E-BAEA-49D3-AB15-B58407E17236}">
      <dgm:prSet/>
      <dgm:spPr/>
      <dgm:t>
        <a:bodyPr/>
        <a:lstStyle/>
        <a:p>
          <a:endParaRPr lang="en-US"/>
        </a:p>
      </dgm:t>
    </dgm:pt>
    <dgm:pt modelId="{EB10251B-BA63-41D9-A6A0-D68C721791A7}" type="sibTrans" cxnId="{B205565E-BAEA-49D3-AB15-B58407E17236}">
      <dgm:prSet/>
      <dgm:spPr/>
      <dgm:t>
        <a:bodyPr/>
        <a:lstStyle/>
        <a:p>
          <a:endParaRPr lang="en-US"/>
        </a:p>
      </dgm:t>
    </dgm:pt>
    <dgm:pt modelId="{2B92B70A-9F50-4998-9EF5-713CC8C29D12}">
      <dgm:prSet/>
      <dgm:spPr/>
      <dgm:t>
        <a:bodyPr/>
        <a:lstStyle/>
        <a:p>
          <a:r>
            <a:rPr lang="en-US"/>
            <a:t>Remote roles often pay more</a:t>
          </a:r>
        </a:p>
      </dgm:t>
    </dgm:pt>
    <dgm:pt modelId="{99DB2B3B-C080-4BC7-BB85-F068A40435F8}" type="parTrans" cxnId="{3B1814C1-C85B-4397-A13A-6CB5C275E204}">
      <dgm:prSet/>
      <dgm:spPr/>
      <dgm:t>
        <a:bodyPr/>
        <a:lstStyle/>
        <a:p>
          <a:endParaRPr lang="en-US"/>
        </a:p>
      </dgm:t>
    </dgm:pt>
    <dgm:pt modelId="{662FD31D-8257-4609-9048-B8B4038649F8}" type="sibTrans" cxnId="{3B1814C1-C85B-4397-A13A-6CB5C275E204}">
      <dgm:prSet/>
      <dgm:spPr/>
      <dgm:t>
        <a:bodyPr/>
        <a:lstStyle/>
        <a:p>
          <a:endParaRPr lang="en-US"/>
        </a:p>
      </dgm:t>
    </dgm:pt>
    <dgm:pt modelId="{985FB6BE-11B3-4036-8C19-98DAA688E171}">
      <dgm:prSet/>
      <dgm:spPr/>
      <dgm:t>
        <a:bodyPr/>
        <a:lstStyle/>
        <a:p>
          <a:pPr>
            <a:defRPr b="1"/>
          </a:pPr>
          <a:r>
            <a:rPr lang="en-US"/>
            <a:t>2023–2025</a:t>
          </a:r>
        </a:p>
      </dgm:t>
    </dgm:pt>
    <dgm:pt modelId="{48BC298F-B22B-459A-81CC-A64F4197C723}" type="parTrans" cxnId="{6DDEA8D5-1637-4900-92F6-97BDDEB3DD92}">
      <dgm:prSet/>
      <dgm:spPr/>
      <dgm:t>
        <a:bodyPr/>
        <a:lstStyle/>
        <a:p>
          <a:endParaRPr lang="en-US"/>
        </a:p>
      </dgm:t>
    </dgm:pt>
    <dgm:pt modelId="{664BE163-EF79-4EC5-8A75-10E4BD107745}" type="sibTrans" cxnId="{6DDEA8D5-1637-4900-92F6-97BDDEB3DD92}">
      <dgm:prSet/>
      <dgm:spPr/>
      <dgm:t>
        <a:bodyPr/>
        <a:lstStyle/>
        <a:p>
          <a:endParaRPr lang="en-US"/>
        </a:p>
      </dgm:t>
    </dgm:pt>
    <dgm:pt modelId="{98EE9088-74EA-45A4-83C2-052C752A9660}">
      <dgm:prSet/>
      <dgm:spPr/>
      <dgm:t>
        <a:bodyPr/>
        <a:lstStyle/>
        <a:p>
          <a:r>
            <a:rPr lang="en-US"/>
            <a:t>AI &amp; LLM Boom</a:t>
          </a:r>
        </a:p>
      </dgm:t>
    </dgm:pt>
    <dgm:pt modelId="{CB5B250D-FEBB-4F32-95F4-1C9AAE3A98D7}" type="parTrans" cxnId="{1FD06320-C0E2-4B35-AD7B-E57CBD738C7F}">
      <dgm:prSet/>
      <dgm:spPr/>
      <dgm:t>
        <a:bodyPr/>
        <a:lstStyle/>
        <a:p>
          <a:endParaRPr lang="en-US"/>
        </a:p>
      </dgm:t>
    </dgm:pt>
    <dgm:pt modelId="{5A438E39-9FF1-4439-9C8A-1EFB8DBE1261}" type="sibTrans" cxnId="{1FD06320-C0E2-4B35-AD7B-E57CBD738C7F}">
      <dgm:prSet/>
      <dgm:spPr/>
      <dgm:t>
        <a:bodyPr/>
        <a:lstStyle/>
        <a:p>
          <a:endParaRPr lang="en-US"/>
        </a:p>
      </dgm:t>
    </dgm:pt>
    <dgm:pt modelId="{93810A9F-4737-4B3B-8312-2666D412C50C}">
      <dgm:prSet/>
      <dgm:spPr/>
      <dgm:t>
        <a:bodyPr/>
        <a:lstStyle/>
        <a:p>
          <a:r>
            <a:rPr lang="en-US"/>
            <a:t>New high‑pay AI roles appear</a:t>
          </a:r>
        </a:p>
      </dgm:t>
    </dgm:pt>
    <dgm:pt modelId="{32784790-DC1E-4346-8EE7-E22C1D064277}" type="parTrans" cxnId="{90DA1F00-46AC-4496-803A-CDC1D3C08B69}">
      <dgm:prSet/>
      <dgm:spPr/>
      <dgm:t>
        <a:bodyPr/>
        <a:lstStyle/>
        <a:p>
          <a:endParaRPr lang="en-US"/>
        </a:p>
      </dgm:t>
    </dgm:pt>
    <dgm:pt modelId="{7A43237E-372D-4584-82A1-70D9B5B00423}" type="sibTrans" cxnId="{90DA1F00-46AC-4496-803A-CDC1D3C08B69}">
      <dgm:prSet/>
      <dgm:spPr/>
      <dgm:t>
        <a:bodyPr/>
        <a:lstStyle/>
        <a:p>
          <a:endParaRPr lang="en-US"/>
        </a:p>
      </dgm:t>
    </dgm:pt>
    <dgm:pt modelId="{B36482C3-FDA0-4C13-B6CE-6FAC8AA57A6F}">
      <dgm:prSet/>
      <dgm:spPr/>
      <dgm:t>
        <a:bodyPr/>
        <a:lstStyle/>
        <a:p>
          <a:r>
            <a:rPr lang="en-US"/>
            <a:t>Salary volatility increases</a:t>
          </a:r>
        </a:p>
      </dgm:t>
    </dgm:pt>
    <dgm:pt modelId="{CECD7995-56AC-41E5-9F25-F455034E5DFD}" type="parTrans" cxnId="{06113F87-3A5D-4E16-A3D4-C967F601EF7C}">
      <dgm:prSet/>
      <dgm:spPr/>
      <dgm:t>
        <a:bodyPr/>
        <a:lstStyle/>
        <a:p>
          <a:endParaRPr lang="en-US"/>
        </a:p>
      </dgm:t>
    </dgm:pt>
    <dgm:pt modelId="{4149B2A5-364E-484B-856D-E8DEE8CFA912}" type="sibTrans" cxnId="{06113F87-3A5D-4E16-A3D4-C967F601EF7C}">
      <dgm:prSet/>
      <dgm:spPr/>
      <dgm:t>
        <a:bodyPr/>
        <a:lstStyle/>
        <a:p>
          <a:endParaRPr lang="en-US"/>
        </a:p>
      </dgm:t>
    </dgm:pt>
    <dgm:pt modelId="{F38A4E36-20A8-4E9E-8F3C-D8A2F1FD7C2A}">
      <dgm:prSet/>
      <dgm:spPr/>
      <dgm:t>
        <a:bodyPr/>
        <a:lstStyle/>
        <a:p>
          <a:pPr>
            <a:defRPr b="1"/>
          </a:pPr>
          <a:r>
            <a:rPr lang="en-US"/>
            <a:t>2026</a:t>
          </a:r>
        </a:p>
      </dgm:t>
    </dgm:pt>
    <dgm:pt modelId="{F36263D1-E029-4153-B91A-FCCE5FF946F7}" type="parTrans" cxnId="{CE5ABBA3-DB1E-4C9F-B759-7B0384CC7779}">
      <dgm:prSet/>
      <dgm:spPr/>
      <dgm:t>
        <a:bodyPr/>
        <a:lstStyle/>
        <a:p>
          <a:endParaRPr lang="en-US"/>
        </a:p>
      </dgm:t>
    </dgm:pt>
    <dgm:pt modelId="{B1DF586B-F6ED-49AF-AE5F-AA527D985E36}" type="sibTrans" cxnId="{CE5ABBA3-DB1E-4C9F-B759-7B0384CC7779}">
      <dgm:prSet/>
      <dgm:spPr/>
      <dgm:t>
        <a:bodyPr/>
        <a:lstStyle/>
        <a:p>
          <a:endParaRPr lang="en-US"/>
        </a:p>
      </dgm:t>
    </dgm:pt>
    <dgm:pt modelId="{19AF0122-6DC0-418D-890A-C6C20D1D8CAA}">
      <dgm:prSet/>
      <dgm:spPr/>
      <dgm:t>
        <a:bodyPr/>
        <a:lstStyle/>
        <a:p>
          <a:r>
            <a:rPr lang="en-US"/>
            <a:t>Why This Analysis Now</a:t>
          </a:r>
        </a:p>
      </dgm:t>
    </dgm:pt>
    <dgm:pt modelId="{A943EC00-4B54-4358-A363-DE8350705EC7}" type="parTrans" cxnId="{16758AD0-6DB3-451D-8CA4-0041CA5A8C73}">
      <dgm:prSet/>
      <dgm:spPr/>
      <dgm:t>
        <a:bodyPr/>
        <a:lstStyle/>
        <a:p>
          <a:endParaRPr lang="en-US"/>
        </a:p>
      </dgm:t>
    </dgm:pt>
    <dgm:pt modelId="{3494201D-240C-44EE-8482-7FC7A59DF404}" type="sibTrans" cxnId="{16758AD0-6DB3-451D-8CA4-0041CA5A8C73}">
      <dgm:prSet/>
      <dgm:spPr/>
      <dgm:t>
        <a:bodyPr/>
        <a:lstStyle/>
        <a:p>
          <a:endParaRPr lang="en-US"/>
        </a:p>
      </dgm:t>
    </dgm:pt>
    <dgm:pt modelId="{83B06CF7-2CF6-474A-AB03-7C24F1A2D417}">
      <dgm:prSet/>
      <dgm:spPr/>
      <dgm:t>
        <a:bodyPr/>
        <a:lstStyle/>
        <a:p>
          <a:r>
            <a:rPr lang="en-US"/>
            <a:t>AI automation reshapes job duties</a:t>
          </a:r>
        </a:p>
      </dgm:t>
    </dgm:pt>
    <dgm:pt modelId="{D7BA4595-6F03-4BBD-BE62-0383112D6DC3}" type="parTrans" cxnId="{0B5CCD15-B0DD-4AB5-9B45-926E5860D232}">
      <dgm:prSet/>
      <dgm:spPr/>
      <dgm:t>
        <a:bodyPr/>
        <a:lstStyle/>
        <a:p>
          <a:endParaRPr lang="en-US"/>
        </a:p>
      </dgm:t>
    </dgm:pt>
    <dgm:pt modelId="{9B648387-47DE-463A-A69E-44F1BFAF29D9}" type="sibTrans" cxnId="{0B5CCD15-B0DD-4AB5-9B45-926E5860D232}">
      <dgm:prSet/>
      <dgm:spPr/>
      <dgm:t>
        <a:bodyPr/>
        <a:lstStyle/>
        <a:p>
          <a:endParaRPr lang="en-US"/>
        </a:p>
      </dgm:t>
    </dgm:pt>
    <dgm:pt modelId="{D4475EE6-50A4-4600-A43A-BDD27998A7F5}">
      <dgm:prSet/>
      <dgm:spPr/>
      <dgm:t>
        <a:bodyPr/>
        <a:lstStyle/>
        <a:p>
          <a:r>
            <a:rPr lang="en-US"/>
            <a:t>Hybrid work becomes standard</a:t>
          </a:r>
        </a:p>
      </dgm:t>
    </dgm:pt>
    <dgm:pt modelId="{DAD48BF0-3CAC-4783-A865-EE0B52C7B6B4}" type="parTrans" cxnId="{84F8FF86-1851-49C1-9340-6F202192B484}">
      <dgm:prSet/>
      <dgm:spPr/>
      <dgm:t>
        <a:bodyPr/>
        <a:lstStyle/>
        <a:p>
          <a:endParaRPr lang="en-US"/>
        </a:p>
      </dgm:t>
    </dgm:pt>
    <dgm:pt modelId="{80843EBC-B8C7-436B-9FDD-0CEA26894360}" type="sibTrans" cxnId="{84F8FF86-1851-49C1-9340-6F202192B484}">
      <dgm:prSet/>
      <dgm:spPr/>
      <dgm:t>
        <a:bodyPr/>
        <a:lstStyle/>
        <a:p>
          <a:endParaRPr lang="en-US"/>
        </a:p>
      </dgm:t>
    </dgm:pt>
    <dgm:pt modelId="{3801F1EC-46C4-4DDA-A4D1-8CF51299086A}">
      <dgm:prSet/>
      <dgm:spPr/>
      <dgm:t>
        <a:bodyPr/>
        <a:lstStyle/>
        <a:p>
          <a:r>
            <a:rPr lang="en-US"/>
            <a:t>Senior talent remains competitive</a:t>
          </a:r>
        </a:p>
      </dgm:t>
    </dgm:pt>
    <dgm:pt modelId="{428A9BBC-600B-4157-B47F-1C3C5DA1EEEE}" type="parTrans" cxnId="{32D9BFD3-8F62-49FA-987F-CEC89CAD7F05}">
      <dgm:prSet/>
      <dgm:spPr/>
      <dgm:t>
        <a:bodyPr/>
        <a:lstStyle/>
        <a:p>
          <a:endParaRPr lang="en-US"/>
        </a:p>
      </dgm:t>
    </dgm:pt>
    <dgm:pt modelId="{8E43FD49-5D95-4786-A419-C60B80005278}" type="sibTrans" cxnId="{32D9BFD3-8F62-49FA-987F-CEC89CAD7F05}">
      <dgm:prSet/>
      <dgm:spPr/>
      <dgm:t>
        <a:bodyPr/>
        <a:lstStyle/>
        <a:p>
          <a:endParaRPr lang="en-US"/>
        </a:p>
      </dgm:t>
    </dgm:pt>
    <dgm:pt modelId="{986487B5-D84B-4F3C-98F6-AF62EDDE5B3B}">
      <dgm:prSet/>
      <dgm:spPr/>
      <dgm:t>
        <a:bodyPr/>
        <a:lstStyle/>
        <a:p>
          <a:r>
            <a:rPr lang="en-US"/>
            <a:t>Entry‑level supply grows</a:t>
          </a:r>
        </a:p>
      </dgm:t>
    </dgm:pt>
    <dgm:pt modelId="{EDAA990E-80D7-4A43-BB03-933520A98F3B}" type="parTrans" cxnId="{6E746DD9-F65A-47B2-82B5-A311F5EF1156}">
      <dgm:prSet/>
      <dgm:spPr/>
      <dgm:t>
        <a:bodyPr/>
        <a:lstStyle/>
        <a:p>
          <a:endParaRPr lang="en-US"/>
        </a:p>
      </dgm:t>
    </dgm:pt>
    <dgm:pt modelId="{FAA9C1CC-79EA-4E56-8038-EDA7B76E8BDC}" type="sibTrans" cxnId="{6E746DD9-F65A-47B2-82B5-A311F5EF1156}">
      <dgm:prSet/>
      <dgm:spPr/>
      <dgm:t>
        <a:bodyPr/>
        <a:lstStyle/>
        <a:p>
          <a:endParaRPr lang="en-US"/>
        </a:p>
      </dgm:t>
    </dgm:pt>
    <dgm:pt modelId="{D3E7C728-7648-48F7-BEF9-E553597544B0}">
      <dgm:prSet/>
      <dgm:spPr/>
      <dgm:t>
        <a:bodyPr/>
        <a:lstStyle/>
        <a:p>
          <a:r>
            <a:rPr lang="en-US"/>
            <a:t>Organizations need data‑driven salary benchmarks</a:t>
          </a:r>
        </a:p>
      </dgm:t>
    </dgm:pt>
    <dgm:pt modelId="{F547A30D-C9E6-4EE2-AAC2-ADF88EDEC7D1}" type="parTrans" cxnId="{5E26F841-3A03-4F90-931B-AF24869952BD}">
      <dgm:prSet/>
      <dgm:spPr/>
      <dgm:t>
        <a:bodyPr/>
        <a:lstStyle/>
        <a:p>
          <a:endParaRPr lang="en-US"/>
        </a:p>
      </dgm:t>
    </dgm:pt>
    <dgm:pt modelId="{E07E0720-0364-4101-B0AE-D8A6DFCB0838}" type="sibTrans" cxnId="{5E26F841-3A03-4F90-931B-AF24869952BD}">
      <dgm:prSet/>
      <dgm:spPr/>
      <dgm:t>
        <a:bodyPr/>
        <a:lstStyle/>
        <a:p>
          <a:endParaRPr lang="en-US"/>
        </a:p>
      </dgm:t>
    </dgm:pt>
    <dgm:pt modelId="{6098FAB1-6A94-4472-8D0F-E01453E67059}" type="pres">
      <dgm:prSet presAssocID="{AD86C296-DF56-4C47-B994-D9B8471360EE}" presName="root" presStyleCnt="0">
        <dgm:presLayoutVars>
          <dgm:chMax/>
          <dgm:chPref/>
          <dgm:animLvl val="lvl"/>
        </dgm:presLayoutVars>
      </dgm:prSet>
      <dgm:spPr/>
    </dgm:pt>
    <dgm:pt modelId="{5773FB3B-DBAB-4526-AA76-49510014591F}" type="pres">
      <dgm:prSet presAssocID="{AD86C296-DF56-4C47-B994-D9B8471360EE}" presName="divider" presStyleLbl="fgAcc1" presStyleIdx="0" presStyleCnt="1"/>
      <dgm:spPr/>
    </dgm:pt>
    <dgm:pt modelId="{A04F62D8-C587-43ED-B268-B59F9CA9A35B}" type="pres">
      <dgm:prSet presAssocID="{AD86C296-DF56-4C47-B994-D9B8471360EE}" presName="nodes" presStyleCnt="0">
        <dgm:presLayoutVars>
          <dgm:chMax/>
          <dgm:chPref/>
          <dgm:animLvl val="lvl"/>
        </dgm:presLayoutVars>
      </dgm:prSet>
      <dgm:spPr/>
    </dgm:pt>
    <dgm:pt modelId="{119BCC68-C283-4ABE-83F2-C8C076F1CE0C}" type="pres">
      <dgm:prSet presAssocID="{6B635021-A55F-4016-84D1-C47178F0651F}" presName="composite" presStyleCnt="0"/>
      <dgm:spPr/>
    </dgm:pt>
    <dgm:pt modelId="{802A0C8A-4A35-4963-B4B1-F5ED9F653112}" type="pres">
      <dgm:prSet presAssocID="{6B635021-A55F-4016-84D1-C47178F0651F}" presName="L1TextContainer" presStyleLbl="alignNode1" presStyleIdx="0" presStyleCnt="6">
        <dgm:presLayoutVars>
          <dgm:chMax val="1"/>
          <dgm:chPref val="1"/>
          <dgm:bulletEnabled val="1"/>
        </dgm:presLayoutVars>
      </dgm:prSet>
      <dgm:spPr/>
    </dgm:pt>
    <dgm:pt modelId="{DAA7B44C-AA3D-4F19-B361-25F9CD6AD4F0}" type="pres">
      <dgm:prSet presAssocID="{6B635021-A55F-4016-84D1-C47178F0651F}" presName="L2TextContainerWrapper" presStyleCnt="0">
        <dgm:presLayoutVars>
          <dgm:bulletEnabled val="1"/>
        </dgm:presLayoutVars>
      </dgm:prSet>
      <dgm:spPr/>
    </dgm:pt>
    <dgm:pt modelId="{05088F65-0C60-47F2-AE9C-C5458B0D7048}" type="pres">
      <dgm:prSet presAssocID="{6B635021-A55F-4016-84D1-C47178F0651F}" presName="L2TextContainer" presStyleLbl="bgAccFollowNode1" presStyleIdx="0" presStyleCnt="6"/>
      <dgm:spPr/>
    </dgm:pt>
    <dgm:pt modelId="{124117B4-7DBB-4257-9D8A-20ED6006DA1D}" type="pres">
      <dgm:prSet presAssocID="{6B635021-A55F-4016-84D1-C47178F0651F}" presName="FlexibleEmptyPlaceHolder" presStyleCnt="0"/>
      <dgm:spPr/>
    </dgm:pt>
    <dgm:pt modelId="{ED456B51-235D-4ADF-A5A6-B463AF2A1179}" type="pres">
      <dgm:prSet presAssocID="{6B635021-A55F-4016-84D1-C47178F0651F}" presName="ConnectLine" presStyleLbl="sibTrans1D1" presStyleIdx="0" presStyleCnt="6"/>
      <dgm:spPr/>
    </dgm:pt>
    <dgm:pt modelId="{100C1844-1894-4B90-A12B-6D37CCA84D39}" type="pres">
      <dgm:prSet presAssocID="{6B635021-A55F-4016-84D1-C47178F0651F}" presName="ConnectorPoint" presStyleLbl="node1" presStyleIdx="0" presStyleCnt="6"/>
      <dgm:spPr>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8DA58809-F8BA-47A2-B8C9-F262BBEE1397}" type="pres">
      <dgm:prSet presAssocID="{6B635021-A55F-4016-84D1-C47178F0651F}" presName="EmptyPlaceHolder" presStyleCnt="0"/>
      <dgm:spPr/>
    </dgm:pt>
    <dgm:pt modelId="{D3631B44-07A0-4977-A841-B5F4B0F442EA}" type="pres">
      <dgm:prSet presAssocID="{2BE2A797-5C88-4F53-AA81-13C2AB3880EF}" presName="spaceBetweenRectangles" presStyleCnt="0"/>
      <dgm:spPr/>
    </dgm:pt>
    <dgm:pt modelId="{5C88C4DE-C046-43E9-9CCE-21901AA2DAF8}" type="pres">
      <dgm:prSet presAssocID="{CC3CF1B1-312D-4DD0-88BC-A0391F1B50E0}" presName="composite" presStyleCnt="0"/>
      <dgm:spPr/>
    </dgm:pt>
    <dgm:pt modelId="{08B00AD1-DEAB-43F3-AF4F-2275A39D98B7}" type="pres">
      <dgm:prSet presAssocID="{CC3CF1B1-312D-4DD0-88BC-A0391F1B50E0}" presName="L1TextContainer" presStyleLbl="alignNode1" presStyleIdx="1" presStyleCnt="6">
        <dgm:presLayoutVars>
          <dgm:chMax val="1"/>
          <dgm:chPref val="1"/>
          <dgm:bulletEnabled val="1"/>
        </dgm:presLayoutVars>
      </dgm:prSet>
      <dgm:spPr/>
    </dgm:pt>
    <dgm:pt modelId="{33C6FCD4-D975-426F-8A75-8CF9C29F865B}" type="pres">
      <dgm:prSet presAssocID="{CC3CF1B1-312D-4DD0-88BC-A0391F1B50E0}" presName="L2TextContainerWrapper" presStyleCnt="0">
        <dgm:presLayoutVars>
          <dgm:bulletEnabled val="1"/>
        </dgm:presLayoutVars>
      </dgm:prSet>
      <dgm:spPr/>
    </dgm:pt>
    <dgm:pt modelId="{A6CF4211-5CC0-4919-A677-684820176A3C}" type="pres">
      <dgm:prSet presAssocID="{CC3CF1B1-312D-4DD0-88BC-A0391F1B50E0}" presName="L2TextContainer" presStyleLbl="bgAccFollowNode1" presStyleIdx="1" presStyleCnt="6"/>
      <dgm:spPr/>
    </dgm:pt>
    <dgm:pt modelId="{AB10AEE1-719F-41DD-BD31-DD41060C6A9D}" type="pres">
      <dgm:prSet presAssocID="{CC3CF1B1-312D-4DD0-88BC-A0391F1B50E0}" presName="FlexibleEmptyPlaceHolder" presStyleCnt="0"/>
      <dgm:spPr/>
    </dgm:pt>
    <dgm:pt modelId="{61C29056-6D09-46DD-A56F-8D6D3671F63F}" type="pres">
      <dgm:prSet presAssocID="{CC3CF1B1-312D-4DD0-88BC-A0391F1B50E0}" presName="ConnectLine" presStyleLbl="sibTrans1D1" presStyleIdx="1" presStyleCnt="6"/>
      <dgm:spPr/>
    </dgm:pt>
    <dgm:pt modelId="{A58318B6-9A04-4BFB-8C16-5EA644ED22A6}" type="pres">
      <dgm:prSet presAssocID="{CC3CF1B1-312D-4DD0-88BC-A0391F1B50E0}" presName="ConnectorPoint" presStyleLbl="node1" presStyleIdx="1" presStyleCnt="6"/>
      <dgm:spPr>
        <a:solidFill>
          <a:schemeClr val="accent2">
            <a:hueOff val="1288723"/>
            <a:satOff val="-3699"/>
            <a:lumOff val="-5922"/>
            <a:alphaOff val="0"/>
          </a:schemeClr>
        </a:solidFill>
        <a:ln w="6350" cap="flat" cmpd="sng" algn="ctr">
          <a:solidFill>
            <a:schemeClr val="lt1">
              <a:hueOff val="0"/>
              <a:satOff val="0"/>
              <a:lumOff val="0"/>
              <a:alphaOff val="0"/>
            </a:schemeClr>
          </a:solidFill>
          <a:prstDash val="solid"/>
          <a:miter lim="800000"/>
        </a:ln>
        <a:effectLst/>
      </dgm:spPr>
    </dgm:pt>
    <dgm:pt modelId="{2288319D-D576-46BA-B993-6BBF99FE7B46}" type="pres">
      <dgm:prSet presAssocID="{CC3CF1B1-312D-4DD0-88BC-A0391F1B50E0}" presName="EmptyPlaceHolder" presStyleCnt="0"/>
      <dgm:spPr/>
    </dgm:pt>
    <dgm:pt modelId="{50366BB5-6221-4995-9D91-30D3C0437713}" type="pres">
      <dgm:prSet presAssocID="{DED28691-F0F9-45F8-9271-3B1A7F1D0033}" presName="spaceBetweenRectangles" presStyleCnt="0"/>
      <dgm:spPr/>
    </dgm:pt>
    <dgm:pt modelId="{78423D91-A5D0-493A-B372-B035B5E141EF}" type="pres">
      <dgm:prSet presAssocID="{57F70C2E-8DEE-4019-B68D-06C8715A2C8A}" presName="composite" presStyleCnt="0"/>
      <dgm:spPr/>
    </dgm:pt>
    <dgm:pt modelId="{F8F17D2E-9829-4F7A-82A4-3B5FACBEC271}" type="pres">
      <dgm:prSet presAssocID="{57F70C2E-8DEE-4019-B68D-06C8715A2C8A}" presName="L1TextContainer" presStyleLbl="alignNode1" presStyleIdx="2" presStyleCnt="6">
        <dgm:presLayoutVars>
          <dgm:chMax val="1"/>
          <dgm:chPref val="1"/>
          <dgm:bulletEnabled val="1"/>
        </dgm:presLayoutVars>
      </dgm:prSet>
      <dgm:spPr/>
    </dgm:pt>
    <dgm:pt modelId="{88E490DF-87F5-4271-9DC2-3C81975C8943}" type="pres">
      <dgm:prSet presAssocID="{57F70C2E-8DEE-4019-B68D-06C8715A2C8A}" presName="L2TextContainerWrapper" presStyleCnt="0">
        <dgm:presLayoutVars>
          <dgm:bulletEnabled val="1"/>
        </dgm:presLayoutVars>
      </dgm:prSet>
      <dgm:spPr/>
    </dgm:pt>
    <dgm:pt modelId="{F1468C7A-03EC-4B8A-859B-BDCDD8788F4E}" type="pres">
      <dgm:prSet presAssocID="{57F70C2E-8DEE-4019-B68D-06C8715A2C8A}" presName="L2TextContainer" presStyleLbl="bgAccFollowNode1" presStyleIdx="2" presStyleCnt="6"/>
      <dgm:spPr/>
    </dgm:pt>
    <dgm:pt modelId="{B90B582B-24EB-4839-AE1B-2A9EDDB4E77D}" type="pres">
      <dgm:prSet presAssocID="{57F70C2E-8DEE-4019-B68D-06C8715A2C8A}" presName="FlexibleEmptyPlaceHolder" presStyleCnt="0"/>
      <dgm:spPr/>
    </dgm:pt>
    <dgm:pt modelId="{3194E422-2979-4ED5-B490-DDD0BD660873}" type="pres">
      <dgm:prSet presAssocID="{57F70C2E-8DEE-4019-B68D-06C8715A2C8A}" presName="ConnectLine" presStyleLbl="sibTrans1D1" presStyleIdx="2" presStyleCnt="6"/>
      <dgm:spPr/>
    </dgm:pt>
    <dgm:pt modelId="{6392E809-1E55-4D6B-9786-A83F084346CA}" type="pres">
      <dgm:prSet presAssocID="{57F70C2E-8DEE-4019-B68D-06C8715A2C8A}" presName="ConnectorPoint" presStyleLbl="node1" presStyleIdx="2" presStyleCnt="6"/>
      <dgm:spPr>
        <a:solidFill>
          <a:schemeClr val="accent2">
            <a:hueOff val="2577445"/>
            <a:satOff val="-7397"/>
            <a:lumOff val="-11844"/>
            <a:alphaOff val="0"/>
          </a:schemeClr>
        </a:solidFill>
        <a:ln w="6350" cap="flat" cmpd="sng" algn="ctr">
          <a:solidFill>
            <a:schemeClr val="lt1">
              <a:hueOff val="0"/>
              <a:satOff val="0"/>
              <a:lumOff val="0"/>
              <a:alphaOff val="0"/>
            </a:schemeClr>
          </a:solidFill>
          <a:prstDash val="solid"/>
          <a:miter lim="800000"/>
        </a:ln>
        <a:effectLst/>
      </dgm:spPr>
    </dgm:pt>
    <dgm:pt modelId="{1AFBCC22-FEE9-44B8-BF72-438443CDE354}" type="pres">
      <dgm:prSet presAssocID="{57F70C2E-8DEE-4019-B68D-06C8715A2C8A}" presName="EmptyPlaceHolder" presStyleCnt="0"/>
      <dgm:spPr/>
    </dgm:pt>
    <dgm:pt modelId="{31731EEA-FF7F-4199-A769-52AF049182C3}" type="pres">
      <dgm:prSet presAssocID="{09A70FB8-BEAC-43B1-8D7D-1C78E2408CA4}" presName="spaceBetweenRectangles" presStyleCnt="0"/>
      <dgm:spPr/>
    </dgm:pt>
    <dgm:pt modelId="{31F29D81-082E-43F2-8D6A-901F78212B02}" type="pres">
      <dgm:prSet presAssocID="{2D4C0A55-4C08-4A5D-B991-1FC00D851071}" presName="composite" presStyleCnt="0"/>
      <dgm:spPr/>
    </dgm:pt>
    <dgm:pt modelId="{C622D010-0D69-4232-AA70-2AA85CD50F06}" type="pres">
      <dgm:prSet presAssocID="{2D4C0A55-4C08-4A5D-B991-1FC00D851071}" presName="L1TextContainer" presStyleLbl="alignNode1" presStyleIdx="3" presStyleCnt="6">
        <dgm:presLayoutVars>
          <dgm:chMax val="1"/>
          <dgm:chPref val="1"/>
          <dgm:bulletEnabled val="1"/>
        </dgm:presLayoutVars>
      </dgm:prSet>
      <dgm:spPr/>
    </dgm:pt>
    <dgm:pt modelId="{D4283396-EA7F-43D0-95FF-17390F2D570A}" type="pres">
      <dgm:prSet presAssocID="{2D4C0A55-4C08-4A5D-B991-1FC00D851071}" presName="L2TextContainerWrapper" presStyleCnt="0">
        <dgm:presLayoutVars>
          <dgm:bulletEnabled val="1"/>
        </dgm:presLayoutVars>
      </dgm:prSet>
      <dgm:spPr/>
    </dgm:pt>
    <dgm:pt modelId="{00A6492E-A900-4E73-B9EA-DB40343CECC4}" type="pres">
      <dgm:prSet presAssocID="{2D4C0A55-4C08-4A5D-B991-1FC00D851071}" presName="L2TextContainer" presStyleLbl="bgAccFollowNode1" presStyleIdx="3" presStyleCnt="6"/>
      <dgm:spPr/>
    </dgm:pt>
    <dgm:pt modelId="{B5FF2296-DDC2-43B8-8514-87984D0DD003}" type="pres">
      <dgm:prSet presAssocID="{2D4C0A55-4C08-4A5D-B991-1FC00D851071}" presName="FlexibleEmptyPlaceHolder" presStyleCnt="0"/>
      <dgm:spPr/>
    </dgm:pt>
    <dgm:pt modelId="{E1706467-0C68-4914-A7E3-02B2911948D5}" type="pres">
      <dgm:prSet presAssocID="{2D4C0A55-4C08-4A5D-B991-1FC00D851071}" presName="ConnectLine" presStyleLbl="sibTrans1D1" presStyleIdx="3" presStyleCnt="6"/>
      <dgm:spPr/>
    </dgm:pt>
    <dgm:pt modelId="{E3A8DCFB-5A12-4EC2-88F9-36DBCE066AC2}" type="pres">
      <dgm:prSet presAssocID="{2D4C0A55-4C08-4A5D-B991-1FC00D851071}" presName="ConnectorPoint" presStyleLbl="node1" presStyleIdx="3" presStyleCnt="6"/>
      <dgm:spPr>
        <a:solidFill>
          <a:schemeClr val="accent2">
            <a:hueOff val="3866169"/>
            <a:satOff val="-11096"/>
            <a:lumOff val="-17765"/>
            <a:alphaOff val="0"/>
          </a:schemeClr>
        </a:solidFill>
        <a:ln w="6350" cap="flat" cmpd="sng" algn="ctr">
          <a:solidFill>
            <a:schemeClr val="lt1">
              <a:hueOff val="0"/>
              <a:satOff val="0"/>
              <a:lumOff val="0"/>
              <a:alphaOff val="0"/>
            </a:schemeClr>
          </a:solidFill>
          <a:prstDash val="solid"/>
          <a:miter lim="800000"/>
        </a:ln>
        <a:effectLst/>
      </dgm:spPr>
    </dgm:pt>
    <dgm:pt modelId="{2E685694-89B2-429C-A820-61CE61DDA857}" type="pres">
      <dgm:prSet presAssocID="{2D4C0A55-4C08-4A5D-B991-1FC00D851071}" presName="EmptyPlaceHolder" presStyleCnt="0"/>
      <dgm:spPr/>
    </dgm:pt>
    <dgm:pt modelId="{A418BD6B-BF82-4E5B-8334-A4E2C2F00547}" type="pres">
      <dgm:prSet presAssocID="{7FA5602A-B5FF-4FD8-BD97-94D0A2A07EF2}" presName="spaceBetweenRectangles" presStyleCnt="0"/>
      <dgm:spPr/>
    </dgm:pt>
    <dgm:pt modelId="{BE6E22BB-C70A-4715-989E-01E5B12580DE}" type="pres">
      <dgm:prSet presAssocID="{985FB6BE-11B3-4036-8C19-98DAA688E171}" presName="composite" presStyleCnt="0"/>
      <dgm:spPr/>
    </dgm:pt>
    <dgm:pt modelId="{12125637-3446-4C02-A7A9-4BF8D1B2F3E4}" type="pres">
      <dgm:prSet presAssocID="{985FB6BE-11B3-4036-8C19-98DAA688E171}" presName="L1TextContainer" presStyleLbl="alignNode1" presStyleIdx="4" presStyleCnt="6">
        <dgm:presLayoutVars>
          <dgm:chMax val="1"/>
          <dgm:chPref val="1"/>
          <dgm:bulletEnabled val="1"/>
        </dgm:presLayoutVars>
      </dgm:prSet>
      <dgm:spPr/>
    </dgm:pt>
    <dgm:pt modelId="{AD416B7F-8EFD-470D-9479-8903D734A961}" type="pres">
      <dgm:prSet presAssocID="{985FB6BE-11B3-4036-8C19-98DAA688E171}" presName="L2TextContainerWrapper" presStyleCnt="0">
        <dgm:presLayoutVars>
          <dgm:bulletEnabled val="1"/>
        </dgm:presLayoutVars>
      </dgm:prSet>
      <dgm:spPr/>
    </dgm:pt>
    <dgm:pt modelId="{3C28CB50-E47A-4CAB-9D70-8C5997F6102E}" type="pres">
      <dgm:prSet presAssocID="{985FB6BE-11B3-4036-8C19-98DAA688E171}" presName="L2TextContainer" presStyleLbl="bgAccFollowNode1" presStyleIdx="4" presStyleCnt="6"/>
      <dgm:spPr/>
    </dgm:pt>
    <dgm:pt modelId="{45D9461A-8865-4D47-A1BB-15B6E2A04A66}" type="pres">
      <dgm:prSet presAssocID="{985FB6BE-11B3-4036-8C19-98DAA688E171}" presName="FlexibleEmptyPlaceHolder" presStyleCnt="0"/>
      <dgm:spPr/>
    </dgm:pt>
    <dgm:pt modelId="{E3B301BF-5D80-4C1E-B58F-1BBE3BA57F8A}" type="pres">
      <dgm:prSet presAssocID="{985FB6BE-11B3-4036-8C19-98DAA688E171}" presName="ConnectLine" presStyleLbl="sibTrans1D1" presStyleIdx="4" presStyleCnt="6"/>
      <dgm:spPr/>
    </dgm:pt>
    <dgm:pt modelId="{9C0D5690-5DC4-4E9B-8DFA-8117CEDBACFA}" type="pres">
      <dgm:prSet presAssocID="{985FB6BE-11B3-4036-8C19-98DAA688E171}" presName="ConnectorPoint" presStyleLbl="node1" presStyleIdx="4" presStyleCnt="6"/>
      <dgm:spPr>
        <a:solidFill>
          <a:schemeClr val="accent2">
            <a:hueOff val="5154891"/>
            <a:satOff val="-14794"/>
            <a:lumOff val="-23687"/>
            <a:alphaOff val="0"/>
          </a:schemeClr>
        </a:solidFill>
        <a:ln w="6350" cap="flat" cmpd="sng" algn="ctr">
          <a:solidFill>
            <a:schemeClr val="lt1">
              <a:hueOff val="0"/>
              <a:satOff val="0"/>
              <a:lumOff val="0"/>
              <a:alphaOff val="0"/>
            </a:schemeClr>
          </a:solidFill>
          <a:prstDash val="solid"/>
          <a:miter lim="800000"/>
        </a:ln>
        <a:effectLst/>
      </dgm:spPr>
    </dgm:pt>
    <dgm:pt modelId="{BFF3FF4E-FAF8-4E77-BC80-65FC531325C3}" type="pres">
      <dgm:prSet presAssocID="{985FB6BE-11B3-4036-8C19-98DAA688E171}" presName="EmptyPlaceHolder" presStyleCnt="0"/>
      <dgm:spPr/>
    </dgm:pt>
    <dgm:pt modelId="{195F51E5-32F5-4257-9DF2-0D83EA856518}" type="pres">
      <dgm:prSet presAssocID="{664BE163-EF79-4EC5-8A75-10E4BD107745}" presName="spaceBetweenRectangles" presStyleCnt="0"/>
      <dgm:spPr/>
    </dgm:pt>
    <dgm:pt modelId="{1E54A23E-3C0E-4F0C-9918-EDE0D5047CD8}" type="pres">
      <dgm:prSet presAssocID="{F38A4E36-20A8-4E9E-8F3C-D8A2F1FD7C2A}" presName="composite" presStyleCnt="0"/>
      <dgm:spPr/>
    </dgm:pt>
    <dgm:pt modelId="{A7408E52-74E3-4BB7-AF2A-4E5471FADE8C}" type="pres">
      <dgm:prSet presAssocID="{F38A4E36-20A8-4E9E-8F3C-D8A2F1FD7C2A}" presName="L1TextContainer" presStyleLbl="alignNode1" presStyleIdx="5" presStyleCnt="6">
        <dgm:presLayoutVars>
          <dgm:chMax val="1"/>
          <dgm:chPref val="1"/>
          <dgm:bulletEnabled val="1"/>
        </dgm:presLayoutVars>
      </dgm:prSet>
      <dgm:spPr/>
    </dgm:pt>
    <dgm:pt modelId="{23C617EB-F49D-4AAB-A465-CED0F52F1E5C}" type="pres">
      <dgm:prSet presAssocID="{F38A4E36-20A8-4E9E-8F3C-D8A2F1FD7C2A}" presName="L2TextContainerWrapper" presStyleCnt="0">
        <dgm:presLayoutVars>
          <dgm:bulletEnabled val="1"/>
        </dgm:presLayoutVars>
      </dgm:prSet>
      <dgm:spPr/>
    </dgm:pt>
    <dgm:pt modelId="{14842776-2054-4D69-A6B9-8E5B775F8B8F}" type="pres">
      <dgm:prSet presAssocID="{F38A4E36-20A8-4E9E-8F3C-D8A2F1FD7C2A}" presName="L2TextContainer" presStyleLbl="bgAccFollowNode1" presStyleIdx="5" presStyleCnt="6"/>
      <dgm:spPr/>
    </dgm:pt>
    <dgm:pt modelId="{4CDCAD7B-38D5-48FF-9C90-53C336205F87}" type="pres">
      <dgm:prSet presAssocID="{F38A4E36-20A8-4E9E-8F3C-D8A2F1FD7C2A}" presName="FlexibleEmptyPlaceHolder" presStyleCnt="0"/>
      <dgm:spPr/>
    </dgm:pt>
    <dgm:pt modelId="{D39E8D76-BB72-4E10-93CB-80B1AAF70F04}" type="pres">
      <dgm:prSet presAssocID="{F38A4E36-20A8-4E9E-8F3C-D8A2F1FD7C2A}" presName="ConnectLine" presStyleLbl="sibTrans1D1" presStyleIdx="5" presStyleCnt="6"/>
      <dgm:spPr/>
    </dgm:pt>
    <dgm:pt modelId="{559484EA-8517-4569-A213-81745F795B9F}" type="pres">
      <dgm:prSet presAssocID="{F38A4E36-20A8-4E9E-8F3C-D8A2F1FD7C2A}" presName="ConnectorPoint" presStyleLbl="node1" presStyleIdx="5" presStyleCnt="6"/>
      <dgm:spPr>
        <a:solidFill>
          <a:schemeClr val="accent2">
            <a:hueOff val="6443614"/>
            <a:satOff val="-18493"/>
            <a:lumOff val="-29609"/>
            <a:alphaOff val="0"/>
          </a:schemeClr>
        </a:solidFill>
        <a:ln w="6350" cap="flat" cmpd="sng" algn="ctr">
          <a:solidFill>
            <a:schemeClr val="lt1">
              <a:hueOff val="0"/>
              <a:satOff val="0"/>
              <a:lumOff val="0"/>
              <a:alphaOff val="0"/>
            </a:schemeClr>
          </a:solidFill>
          <a:prstDash val="solid"/>
          <a:miter lim="800000"/>
        </a:ln>
        <a:effectLst/>
      </dgm:spPr>
    </dgm:pt>
    <dgm:pt modelId="{ED493A94-08BF-4258-8D30-135283D2ECE3}" type="pres">
      <dgm:prSet presAssocID="{F38A4E36-20A8-4E9E-8F3C-D8A2F1FD7C2A}" presName="EmptyPlaceHolder" presStyleCnt="0"/>
      <dgm:spPr/>
    </dgm:pt>
  </dgm:ptLst>
  <dgm:cxnLst>
    <dgm:cxn modelId="{90DA1F00-46AC-4496-803A-CDC1D3C08B69}" srcId="{98EE9088-74EA-45A4-83C2-052C752A9660}" destId="{93810A9F-4737-4B3B-8312-2666D412C50C}" srcOrd="0" destOrd="0" parTransId="{32784790-DC1E-4346-8EE7-E22C1D064277}" sibTransId="{7A43237E-372D-4584-82A1-70D9B5B00423}"/>
    <dgm:cxn modelId="{63479F05-3470-447C-8DB8-214B1EB1766C}" srcId="{60F2964D-04FC-4B6E-90FA-1E3592639085}" destId="{C9DF8A8E-D893-4161-871D-523FDB8478B3}" srcOrd="1" destOrd="0" parTransId="{ED7B9CFC-13F2-4E20-9790-69A7686FD6D3}" sibTransId="{899FA1F5-F511-4F90-BF71-1777F4FD4283}"/>
    <dgm:cxn modelId="{87ED1906-A664-41A7-8E43-92650E1DA1E7}" type="presOf" srcId="{0122C00D-5F93-4F45-ACA9-979F9D8D1C3B}" destId="{F1468C7A-03EC-4B8A-859B-BDCDD8788F4E}" srcOrd="0" destOrd="1" presId="urn:microsoft.com/office/officeart/2017/3/layout/HorizontalLabelsTimeline"/>
    <dgm:cxn modelId="{2D2D7D0F-0D19-4037-8F7B-5ED0FC57BF46}" type="presOf" srcId="{E27DC033-004F-45B2-AEFF-6E4FA6525B94}" destId="{00A6492E-A900-4E73-B9EA-DB40343CECC4}" srcOrd="0" destOrd="1" presId="urn:microsoft.com/office/officeart/2017/3/layout/HorizontalLabelsTimeline"/>
    <dgm:cxn modelId="{FDE94915-C09B-47E9-AC79-90DD29125C7E}" type="presOf" srcId="{6C474853-88F3-43B8-A337-E1AFB154CD48}" destId="{05088F65-0C60-47F2-AE9C-C5458B0D7048}" srcOrd="0" destOrd="3" presId="urn:microsoft.com/office/officeart/2017/3/layout/HorizontalLabelsTimeline"/>
    <dgm:cxn modelId="{0B5CCD15-B0DD-4AB5-9B45-926E5860D232}" srcId="{19AF0122-6DC0-418D-890A-C6C20D1D8CAA}" destId="{83B06CF7-2CF6-474A-AB03-7C24F1A2D417}" srcOrd="0" destOrd="0" parTransId="{D7BA4595-6F03-4BBD-BE62-0383112D6DC3}" sibTransId="{9B648387-47DE-463A-A69E-44F1BFAF29D9}"/>
    <dgm:cxn modelId="{59B4FE1B-9CA8-4BEF-9BEE-8287EB389E2F}" srcId="{2D4C0A55-4C08-4A5D-B991-1FC00D851071}" destId="{24ECA2C2-2B53-4DA3-9534-4CECD2615396}" srcOrd="0" destOrd="0" parTransId="{7F9F2CFF-7653-4420-9B36-AA231C5D0C3B}" sibTransId="{EEC9EE7C-281C-4E68-BD31-F03BD0623CC4}"/>
    <dgm:cxn modelId="{CBCDF01F-59B3-4F4F-BC31-F3B4445F1946}" type="presOf" srcId="{2B92B70A-9F50-4998-9EF5-713CC8C29D12}" destId="{00A6492E-A900-4E73-B9EA-DB40343CECC4}" srcOrd="0" destOrd="2" presId="urn:microsoft.com/office/officeart/2017/3/layout/HorizontalLabelsTimeline"/>
    <dgm:cxn modelId="{1FD06320-C0E2-4B35-AD7B-E57CBD738C7F}" srcId="{985FB6BE-11B3-4036-8C19-98DAA688E171}" destId="{98EE9088-74EA-45A4-83C2-052C752A9660}" srcOrd="0" destOrd="0" parTransId="{CB5B250D-FEBB-4F32-95F4-1C9AAE3A98D7}" sibTransId="{5A438E39-9FF1-4439-9C8A-1EFB8DBE1261}"/>
    <dgm:cxn modelId="{C818A521-7189-43DF-A539-73D4320A65D8}" type="presOf" srcId="{F38A4E36-20A8-4E9E-8F3C-D8A2F1FD7C2A}" destId="{A7408E52-74E3-4BB7-AF2A-4E5471FADE8C}" srcOrd="0" destOrd="0" presId="urn:microsoft.com/office/officeart/2017/3/layout/HorizontalLabelsTimeline"/>
    <dgm:cxn modelId="{081BCD21-6101-4AB1-A8F6-0B2E625B3AAD}" srcId="{D6065B06-753E-4DAE-8F92-A5300AF4BA94}" destId="{C576E449-BD71-4CA0-9258-7DE76823353B}" srcOrd="1" destOrd="0" parTransId="{B112A2CA-7455-4FF6-847F-A09AF1CACDB6}" sibTransId="{7DA9780F-9815-4FA1-81CF-A3D7F33967AF}"/>
    <dgm:cxn modelId="{F3917F2B-214A-4ADE-9F58-1C56383D2815}" srcId="{AD86C296-DF56-4C47-B994-D9B8471360EE}" destId="{6B635021-A55F-4016-84D1-C47178F0651F}" srcOrd="0" destOrd="0" parTransId="{AE67E23C-B7FA-4B82-BF58-0B53A2531AFF}" sibTransId="{2BE2A797-5C88-4F53-AA81-13C2AB3880EF}"/>
    <dgm:cxn modelId="{05257D2D-57F3-4FE0-9729-F71A2559A2E0}" type="presOf" srcId="{6B635021-A55F-4016-84D1-C47178F0651F}" destId="{802A0C8A-4A35-4963-B4B1-F5ED9F653112}" srcOrd="0" destOrd="0" presId="urn:microsoft.com/office/officeart/2017/3/layout/HorizontalLabelsTimeline"/>
    <dgm:cxn modelId="{C1EC8C2D-0728-473E-A447-EB701B860621}" srcId="{CC3CF1B1-312D-4DD0-88BC-A0391F1B50E0}" destId="{D6065B06-753E-4DAE-8F92-A5300AF4BA94}" srcOrd="0" destOrd="0" parTransId="{3487EDB0-D355-43F8-8ABB-9E699FF98E76}" sibTransId="{2D4B2AE6-EA54-49D1-96B4-8915EEC13AA5}"/>
    <dgm:cxn modelId="{B57C6932-E59C-433B-B13A-D081AD850D67}" srcId="{60F2964D-04FC-4B6E-90FA-1E3592639085}" destId="{0122C00D-5F93-4F45-ACA9-979F9D8D1C3B}" srcOrd="0" destOrd="0" parTransId="{7F70CBE8-0DF0-4F64-A136-C4E79635626F}" sibTransId="{18482CA7-0512-42A2-873D-67BA5A0427EF}"/>
    <dgm:cxn modelId="{AAE40733-967A-4F9C-8C70-CCDDD04F624D}" type="presOf" srcId="{77CC3EBF-DC77-49CD-8247-07A80CC498B6}" destId="{05088F65-0C60-47F2-AE9C-C5458B0D7048}" srcOrd="0" destOrd="1" presId="urn:microsoft.com/office/officeart/2017/3/layout/HorizontalLabelsTimeline"/>
    <dgm:cxn modelId="{9DF36335-2EA2-41C6-9EDA-D508BC810A0C}" srcId="{57F70C2E-8DEE-4019-B68D-06C8715A2C8A}" destId="{60F2964D-04FC-4B6E-90FA-1E3592639085}" srcOrd="0" destOrd="0" parTransId="{0916983C-DF14-4642-B58A-134F2235EA9D}" sibTransId="{D7CAB945-65DD-4690-B902-162601AFD2CB}"/>
    <dgm:cxn modelId="{83A3F837-E24F-427F-9F06-9297C30ADEFE}" srcId="{6B635021-A55F-4016-84D1-C47178F0651F}" destId="{A2085995-8470-450E-B6A8-C1F91C101113}" srcOrd="0" destOrd="0" parTransId="{465391C6-D463-43DE-8D38-67642DF13AE0}" sibTransId="{9FFBED70-6D20-4A8B-9112-30633D50C263}"/>
    <dgm:cxn modelId="{9AA6385B-F6F0-4CC9-8A29-F5C878443C8F}" srcId="{AD86C296-DF56-4C47-B994-D9B8471360EE}" destId="{57F70C2E-8DEE-4019-B68D-06C8715A2C8A}" srcOrd="2" destOrd="0" parTransId="{5E0DFD12-7FB7-4165-83BA-04648DF9E700}" sibTransId="{09A70FB8-BEAC-43B1-8D7D-1C78E2408CA4}"/>
    <dgm:cxn modelId="{B205565E-BAEA-49D3-AB15-B58407E17236}" srcId="{24ECA2C2-2B53-4DA3-9534-4CECD2615396}" destId="{E27DC033-004F-45B2-AEFF-6E4FA6525B94}" srcOrd="0" destOrd="0" parTransId="{CD67A71E-90AB-4CB5-AAEF-A6ED59863C8F}" sibTransId="{EB10251B-BA63-41D9-A6A0-D68C721791A7}"/>
    <dgm:cxn modelId="{6CF0AC61-39E2-4A20-A917-32F1F01F7688}" type="presOf" srcId="{60F2964D-04FC-4B6E-90FA-1E3592639085}" destId="{F1468C7A-03EC-4B8A-859B-BDCDD8788F4E}" srcOrd="0" destOrd="0" presId="urn:microsoft.com/office/officeart/2017/3/layout/HorizontalLabelsTimeline"/>
    <dgm:cxn modelId="{5E26F841-3A03-4F90-931B-AF24869952BD}" srcId="{19AF0122-6DC0-418D-890A-C6C20D1D8CAA}" destId="{D3E7C728-7648-48F7-BEF9-E553597544B0}" srcOrd="4" destOrd="0" parTransId="{F547A30D-C9E6-4EE2-AAC2-ADF88EDEC7D1}" sibTransId="{E07E0720-0364-4101-B0AE-D8A6DFCB0838}"/>
    <dgm:cxn modelId="{0CEA036D-CC63-4D52-9083-71EA079156A3}" type="presOf" srcId="{93810A9F-4737-4B3B-8312-2666D412C50C}" destId="{3C28CB50-E47A-4CAB-9D70-8C5997F6102E}" srcOrd="0" destOrd="1" presId="urn:microsoft.com/office/officeart/2017/3/layout/HorizontalLabelsTimeline"/>
    <dgm:cxn modelId="{28952A50-217C-4DC6-90AF-2BA76867892C}" type="presOf" srcId="{986487B5-D84B-4F3C-98F6-AF62EDDE5B3B}" destId="{14842776-2054-4D69-A6B9-8E5B775F8B8F}" srcOrd="0" destOrd="4" presId="urn:microsoft.com/office/officeart/2017/3/layout/HorizontalLabelsTimeline"/>
    <dgm:cxn modelId="{D80C1151-4F68-468D-A27F-469A658F0A0C}" srcId="{A2085995-8470-450E-B6A8-C1F91C101113}" destId="{49013905-4C87-4BB1-9BEE-55DB1F102E7D}" srcOrd="1" destOrd="0" parTransId="{12D6FB59-DD32-41A0-A5E0-86C917142BEE}" sibTransId="{1CDD4F65-B4FE-4A87-A776-742889BAD5D5}"/>
    <dgm:cxn modelId="{0B194153-4B59-4F01-ADC1-BACD2B0FF4C6}" srcId="{AD86C296-DF56-4C47-B994-D9B8471360EE}" destId="{2D4C0A55-4C08-4A5D-B991-1FC00D851071}" srcOrd="3" destOrd="0" parTransId="{C669B006-A238-4288-8321-EF1BCD62FDC6}" sibTransId="{7FA5602A-B5FF-4FD8-BD97-94D0A2A07EF2}"/>
    <dgm:cxn modelId="{3ED11F57-B4E8-4C09-B9B0-B4B5F1FFB640}" type="presOf" srcId="{C9DF8A8E-D893-4161-871D-523FDB8478B3}" destId="{F1468C7A-03EC-4B8A-859B-BDCDD8788F4E}" srcOrd="0" destOrd="2" presId="urn:microsoft.com/office/officeart/2017/3/layout/HorizontalLabelsTimeline"/>
    <dgm:cxn modelId="{F6E5367C-CBC0-4A5A-BF41-28F2D6FDAF99}" srcId="{AD86C296-DF56-4C47-B994-D9B8471360EE}" destId="{CC3CF1B1-312D-4DD0-88BC-A0391F1B50E0}" srcOrd="1" destOrd="0" parTransId="{A7B4333B-1EFD-49A4-8016-3FA24F5CC67E}" sibTransId="{DED28691-F0F9-45F8-9271-3B1A7F1D0033}"/>
    <dgm:cxn modelId="{A44B0583-5B1C-47D4-9D08-B0F5F72C9142}" type="presOf" srcId="{3801F1EC-46C4-4DDA-A4D1-8CF51299086A}" destId="{14842776-2054-4D69-A6B9-8E5B775F8B8F}" srcOrd="0" destOrd="3" presId="urn:microsoft.com/office/officeart/2017/3/layout/HorizontalLabelsTimeline"/>
    <dgm:cxn modelId="{A2F83284-F90F-4401-8BAE-231D9A043146}" type="presOf" srcId="{D3E7C728-7648-48F7-BEF9-E553597544B0}" destId="{14842776-2054-4D69-A6B9-8E5B775F8B8F}" srcOrd="0" destOrd="5" presId="urn:microsoft.com/office/officeart/2017/3/layout/HorizontalLabelsTimeline"/>
    <dgm:cxn modelId="{84F8FF86-1851-49C1-9340-6F202192B484}" srcId="{19AF0122-6DC0-418D-890A-C6C20D1D8CAA}" destId="{D4475EE6-50A4-4600-A43A-BDD27998A7F5}" srcOrd="1" destOrd="0" parTransId="{DAD48BF0-3CAC-4783-A865-EE0B52C7B6B4}" sibTransId="{80843EBC-B8C7-436B-9FDD-0CEA26894360}"/>
    <dgm:cxn modelId="{06113F87-3A5D-4E16-A3D4-C967F601EF7C}" srcId="{98EE9088-74EA-45A4-83C2-052C752A9660}" destId="{B36482C3-FDA0-4C13-B6CE-6FAC8AA57A6F}" srcOrd="1" destOrd="0" parTransId="{CECD7995-56AC-41E5-9F25-F455034E5DFD}" sibTransId="{4149B2A5-364E-484B-856D-E8DEE8CFA912}"/>
    <dgm:cxn modelId="{F90D8C87-EF87-4B76-BF9D-01FC2687C46B}" type="presOf" srcId="{B36482C3-FDA0-4C13-B6CE-6FAC8AA57A6F}" destId="{3C28CB50-E47A-4CAB-9D70-8C5997F6102E}" srcOrd="0" destOrd="2" presId="urn:microsoft.com/office/officeart/2017/3/layout/HorizontalLabelsTimeline"/>
    <dgm:cxn modelId="{0A12A987-0E8A-44DF-A359-44AB79026D27}" type="presOf" srcId="{3B3D09CE-2CD9-4928-A34C-23055D7D9726}" destId="{A6CF4211-5CC0-4919-A677-684820176A3C}" srcOrd="0" destOrd="3" presId="urn:microsoft.com/office/officeart/2017/3/layout/HorizontalLabelsTimeline"/>
    <dgm:cxn modelId="{52294792-C8AE-4D0D-B8E3-FC82A51C281A}" type="presOf" srcId="{19AF0122-6DC0-418D-890A-C6C20D1D8CAA}" destId="{14842776-2054-4D69-A6B9-8E5B775F8B8F}" srcOrd="0" destOrd="0" presId="urn:microsoft.com/office/officeart/2017/3/layout/HorizontalLabelsTimeline"/>
    <dgm:cxn modelId="{504D8D98-F7E2-44BE-868E-19D00AE3CA75}" srcId="{A2085995-8470-450E-B6A8-C1F91C101113}" destId="{6C474853-88F3-43B8-A337-E1AFB154CD48}" srcOrd="2" destOrd="0" parTransId="{FB956152-EC4B-4437-8D23-8E4E5072CB11}" sibTransId="{66FBD1E8-3D88-494F-980D-ECA30B31DB17}"/>
    <dgm:cxn modelId="{D526F3A1-5836-4E76-BAAD-58FF5CF7BAF6}" type="presOf" srcId="{AD86C296-DF56-4C47-B994-D9B8471360EE}" destId="{6098FAB1-6A94-4472-8D0F-E01453E67059}" srcOrd="0" destOrd="0" presId="urn:microsoft.com/office/officeart/2017/3/layout/HorizontalLabelsTimeline"/>
    <dgm:cxn modelId="{7EA093A3-290A-489D-AA53-23DFC8EB3892}" srcId="{A2085995-8470-450E-B6A8-C1F91C101113}" destId="{77CC3EBF-DC77-49CD-8247-07A80CC498B6}" srcOrd="0" destOrd="0" parTransId="{53B6D24B-1308-4611-ACC7-D6B749778358}" sibTransId="{FCBE6D34-5E0F-40B9-89F9-D61BDFCE54C7}"/>
    <dgm:cxn modelId="{CE5ABBA3-DB1E-4C9F-B759-7B0384CC7779}" srcId="{AD86C296-DF56-4C47-B994-D9B8471360EE}" destId="{F38A4E36-20A8-4E9E-8F3C-D8A2F1FD7C2A}" srcOrd="5" destOrd="0" parTransId="{F36263D1-E029-4153-B91A-FCCE5FF946F7}" sibTransId="{B1DF586B-F6ED-49AF-AE5F-AA527D985E36}"/>
    <dgm:cxn modelId="{B51F8CA9-550A-4E25-8E63-2A820A2F063E}" type="presOf" srcId="{CC3CF1B1-312D-4DD0-88BC-A0391F1B50E0}" destId="{08B00AD1-DEAB-43F3-AF4F-2275A39D98B7}" srcOrd="0" destOrd="0" presId="urn:microsoft.com/office/officeart/2017/3/layout/HorizontalLabelsTimeline"/>
    <dgm:cxn modelId="{3C1E06AB-7799-4732-A887-98FE6EE5B6D0}" srcId="{D6065B06-753E-4DAE-8F92-A5300AF4BA94}" destId="{3B3D09CE-2CD9-4928-A34C-23055D7D9726}" srcOrd="2" destOrd="0" parTransId="{77776792-2B89-4653-A9FD-71CE5BA6B4BC}" sibTransId="{7E8C98A1-C93E-4591-8A25-90CE4F4590B5}"/>
    <dgm:cxn modelId="{7FBF27B1-83E8-43E6-B6B3-11776E5D3A91}" srcId="{D6065B06-753E-4DAE-8F92-A5300AF4BA94}" destId="{1DF46E03-E0E7-44D5-A5ED-511573F4CDC9}" srcOrd="0" destOrd="0" parTransId="{4EF98C2D-5CBD-4BBD-9095-501E0F2A1375}" sibTransId="{35AF78F3-6B84-46F1-99A9-411023E84A0F}"/>
    <dgm:cxn modelId="{06F97DB1-436E-438D-BC6E-33EE28940230}" type="presOf" srcId="{2D4C0A55-4C08-4A5D-B991-1FC00D851071}" destId="{C622D010-0D69-4232-AA70-2AA85CD50F06}" srcOrd="0" destOrd="0" presId="urn:microsoft.com/office/officeart/2017/3/layout/HorizontalLabelsTimeline"/>
    <dgm:cxn modelId="{953B9DB1-13DA-4D01-B8A7-79DC4B23C778}" type="presOf" srcId="{83B06CF7-2CF6-474A-AB03-7C24F1A2D417}" destId="{14842776-2054-4D69-A6B9-8E5B775F8B8F}" srcOrd="0" destOrd="1" presId="urn:microsoft.com/office/officeart/2017/3/layout/HorizontalLabelsTimeline"/>
    <dgm:cxn modelId="{3B1814C1-C85B-4397-A13A-6CB5C275E204}" srcId="{24ECA2C2-2B53-4DA3-9534-4CECD2615396}" destId="{2B92B70A-9F50-4998-9EF5-713CC8C29D12}" srcOrd="1" destOrd="0" parTransId="{99DB2B3B-C080-4BC7-BB85-F068A40435F8}" sibTransId="{662FD31D-8257-4609-9048-B8B4038649F8}"/>
    <dgm:cxn modelId="{FDDBFFCE-52F1-41EF-B7DD-178511642B76}" type="presOf" srcId="{98EE9088-74EA-45A4-83C2-052C752A9660}" destId="{3C28CB50-E47A-4CAB-9D70-8C5997F6102E}" srcOrd="0" destOrd="0" presId="urn:microsoft.com/office/officeart/2017/3/layout/HorizontalLabelsTimeline"/>
    <dgm:cxn modelId="{16758AD0-6DB3-451D-8CA4-0041CA5A8C73}" srcId="{F38A4E36-20A8-4E9E-8F3C-D8A2F1FD7C2A}" destId="{19AF0122-6DC0-418D-890A-C6C20D1D8CAA}" srcOrd="0" destOrd="0" parTransId="{A943EC00-4B54-4358-A363-DE8350705EC7}" sibTransId="{3494201D-240C-44EE-8482-7FC7A59DF404}"/>
    <dgm:cxn modelId="{7105EBD2-3309-4B39-8250-2A30FCDB03FE}" type="presOf" srcId="{D6065B06-753E-4DAE-8F92-A5300AF4BA94}" destId="{A6CF4211-5CC0-4919-A677-684820176A3C}" srcOrd="0" destOrd="0" presId="urn:microsoft.com/office/officeart/2017/3/layout/HorizontalLabelsTimeline"/>
    <dgm:cxn modelId="{32D9BFD3-8F62-49FA-987F-CEC89CAD7F05}" srcId="{19AF0122-6DC0-418D-890A-C6C20D1D8CAA}" destId="{3801F1EC-46C4-4DDA-A4D1-8CF51299086A}" srcOrd="2" destOrd="0" parTransId="{428A9BBC-600B-4157-B47F-1C3C5DA1EEEE}" sibTransId="{8E43FD49-5D95-4786-A419-C60B80005278}"/>
    <dgm:cxn modelId="{6DDEA8D5-1637-4900-92F6-97BDDEB3DD92}" srcId="{AD86C296-DF56-4C47-B994-D9B8471360EE}" destId="{985FB6BE-11B3-4036-8C19-98DAA688E171}" srcOrd="4" destOrd="0" parTransId="{48BC298F-B22B-459A-81CC-A64F4197C723}" sibTransId="{664BE163-EF79-4EC5-8A75-10E4BD107745}"/>
    <dgm:cxn modelId="{FBF87DD6-72F1-4FFC-995D-D2F1D998EE69}" type="presOf" srcId="{C576E449-BD71-4CA0-9258-7DE76823353B}" destId="{A6CF4211-5CC0-4919-A677-684820176A3C}" srcOrd="0" destOrd="2" presId="urn:microsoft.com/office/officeart/2017/3/layout/HorizontalLabelsTimeline"/>
    <dgm:cxn modelId="{6E746DD9-F65A-47B2-82B5-A311F5EF1156}" srcId="{19AF0122-6DC0-418D-890A-C6C20D1D8CAA}" destId="{986487B5-D84B-4F3C-98F6-AF62EDDE5B3B}" srcOrd="3" destOrd="0" parTransId="{EDAA990E-80D7-4A43-BB03-933520A98F3B}" sibTransId="{FAA9C1CC-79EA-4E56-8038-EDA7B76E8BDC}"/>
    <dgm:cxn modelId="{1DDD2DE4-A737-4F11-8A00-676D109F007A}" type="presOf" srcId="{57F70C2E-8DEE-4019-B68D-06C8715A2C8A}" destId="{F8F17D2E-9829-4F7A-82A4-3B5FACBEC271}" srcOrd="0" destOrd="0" presId="urn:microsoft.com/office/officeart/2017/3/layout/HorizontalLabelsTimeline"/>
    <dgm:cxn modelId="{49A34CE8-70AD-468E-9458-D0D34190E5D1}" type="presOf" srcId="{24ECA2C2-2B53-4DA3-9534-4CECD2615396}" destId="{00A6492E-A900-4E73-B9EA-DB40343CECC4}" srcOrd="0" destOrd="0" presId="urn:microsoft.com/office/officeart/2017/3/layout/HorizontalLabelsTimeline"/>
    <dgm:cxn modelId="{F8BBF1F3-398E-4EF3-907A-1C760DC8CD54}" type="presOf" srcId="{D4475EE6-50A4-4600-A43A-BDD27998A7F5}" destId="{14842776-2054-4D69-A6B9-8E5B775F8B8F}" srcOrd="0" destOrd="2" presId="urn:microsoft.com/office/officeart/2017/3/layout/HorizontalLabelsTimeline"/>
    <dgm:cxn modelId="{1A3DBDF4-F604-4B31-B51A-E01B6341F01E}" type="presOf" srcId="{985FB6BE-11B3-4036-8C19-98DAA688E171}" destId="{12125637-3446-4C02-A7A9-4BF8D1B2F3E4}" srcOrd="0" destOrd="0" presId="urn:microsoft.com/office/officeart/2017/3/layout/HorizontalLabelsTimeline"/>
    <dgm:cxn modelId="{99FF7AF8-9E83-49D7-8457-02A80C15884C}" type="presOf" srcId="{1DF46E03-E0E7-44D5-A5ED-511573F4CDC9}" destId="{A6CF4211-5CC0-4919-A677-684820176A3C}" srcOrd="0" destOrd="1" presId="urn:microsoft.com/office/officeart/2017/3/layout/HorizontalLabelsTimeline"/>
    <dgm:cxn modelId="{0BF160FC-6DFF-4D9D-9A36-7012E846D6F7}" type="presOf" srcId="{A2085995-8470-450E-B6A8-C1F91C101113}" destId="{05088F65-0C60-47F2-AE9C-C5458B0D7048}" srcOrd="0" destOrd="0" presId="urn:microsoft.com/office/officeart/2017/3/layout/HorizontalLabelsTimeline"/>
    <dgm:cxn modelId="{4678E2FC-BE30-47B2-889B-F231A274B63F}" type="presOf" srcId="{49013905-4C87-4BB1-9BEE-55DB1F102E7D}" destId="{05088F65-0C60-47F2-AE9C-C5458B0D7048}" srcOrd="0" destOrd="2" presId="urn:microsoft.com/office/officeart/2017/3/layout/HorizontalLabelsTimeline"/>
    <dgm:cxn modelId="{BA556AFF-4D1D-47A9-8781-AFFC01282F9A}" type="presParOf" srcId="{6098FAB1-6A94-4472-8D0F-E01453E67059}" destId="{5773FB3B-DBAB-4526-AA76-49510014591F}" srcOrd="0" destOrd="0" presId="urn:microsoft.com/office/officeart/2017/3/layout/HorizontalLabelsTimeline"/>
    <dgm:cxn modelId="{72FC2CD7-D1CF-43C1-A25A-94342AD11AF5}" type="presParOf" srcId="{6098FAB1-6A94-4472-8D0F-E01453E67059}" destId="{A04F62D8-C587-43ED-B268-B59F9CA9A35B}" srcOrd="1" destOrd="0" presId="urn:microsoft.com/office/officeart/2017/3/layout/HorizontalLabelsTimeline"/>
    <dgm:cxn modelId="{E0E594A6-7AC2-40D5-97EA-0526AA984408}" type="presParOf" srcId="{A04F62D8-C587-43ED-B268-B59F9CA9A35B}" destId="{119BCC68-C283-4ABE-83F2-C8C076F1CE0C}" srcOrd="0" destOrd="0" presId="urn:microsoft.com/office/officeart/2017/3/layout/HorizontalLabelsTimeline"/>
    <dgm:cxn modelId="{71332483-FD24-4016-AE5A-6D6C9B55AD3E}" type="presParOf" srcId="{119BCC68-C283-4ABE-83F2-C8C076F1CE0C}" destId="{802A0C8A-4A35-4963-B4B1-F5ED9F653112}" srcOrd="0" destOrd="0" presId="urn:microsoft.com/office/officeart/2017/3/layout/HorizontalLabelsTimeline"/>
    <dgm:cxn modelId="{BB494243-6A0A-403C-BFAF-C131F02267DB}" type="presParOf" srcId="{119BCC68-C283-4ABE-83F2-C8C076F1CE0C}" destId="{DAA7B44C-AA3D-4F19-B361-25F9CD6AD4F0}" srcOrd="1" destOrd="0" presId="urn:microsoft.com/office/officeart/2017/3/layout/HorizontalLabelsTimeline"/>
    <dgm:cxn modelId="{319C6083-77BE-4422-8799-CA489B5FC19F}" type="presParOf" srcId="{DAA7B44C-AA3D-4F19-B361-25F9CD6AD4F0}" destId="{05088F65-0C60-47F2-AE9C-C5458B0D7048}" srcOrd="0" destOrd="0" presId="urn:microsoft.com/office/officeart/2017/3/layout/HorizontalLabelsTimeline"/>
    <dgm:cxn modelId="{4583FB8B-D252-4188-BC73-F15F65126273}" type="presParOf" srcId="{DAA7B44C-AA3D-4F19-B361-25F9CD6AD4F0}" destId="{124117B4-7DBB-4257-9D8A-20ED6006DA1D}" srcOrd="1" destOrd="0" presId="urn:microsoft.com/office/officeart/2017/3/layout/HorizontalLabelsTimeline"/>
    <dgm:cxn modelId="{B9705853-2A95-4393-A495-E67D44565324}" type="presParOf" srcId="{119BCC68-C283-4ABE-83F2-C8C076F1CE0C}" destId="{ED456B51-235D-4ADF-A5A6-B463AF2A1179}" srcOrd="2" destOrd="0" presId="urn:microsoft.com/office/officeart/2017/3/layout/HorizontalLabelsTimeline"/>
    <dgm:cxn modelId="{F00CD6CC-A95F-4BC1-ADF0-F78AFB968FBB}" type="presParOf" srcId="{119BCC68-C283-4ABE-83F2-C8C076F1CE0C}" destId="{100C1844-1894-4B90-A12B-6D37CCA84D39}" srcOrd="3" destOrd="0" presId="urn:microsoft.com/office/officeart/2017/3/layout/HorizontalLabelsTimeline"/>
    <dgm:cxn modelId="{85FC3C4B-FC7C-4B4E-BA38-F64FF281D150}" type="presParOf" srcId="{119BCC68-C283-4ABE-83F2-C8C076F1CE0C}" destId="{8DA58809-F8BA-47A2-B8C9-F262BBEE1397}" srcOrd="4" destOrd="0" presId="urn:microsoft.com/office/officeart/2017/3/layout/HorizontalLabelsTimeline"/>
    <dgm:cxn modelId="{25EB5F51-658F-4104-B50E-7FB75E00B91A}" type="presParOf" srcId="{A04F62D8-C587-43ED-B268-B59F9CA9A35B}" destId="{D3631B44-07A0-4977-A841-B5F4B0F442EA}" srcOrd="1" destOrd="0" presId="urn:microsoft.com/office/officeart/2017/3/layout/HorizontalLabelsTimeline"/>
    <dgm:cxn modelId="{102A6781-1CFD-4BC8-BF7E-5D320A17E7CB}" type="presParOf" srcId="{A04F62D8-C587-43ED-B268-B59F9CA9A35B}" destId="{5C88C4DE-C046-43E9-9CCE-21901AA2DAF8}" srcOrd="2" destOrd="0" presId="urn:microsoft.com/office/officeart/2017/3/layout/HorizontalLabelsTimeline"/>
    <dgm:cxn modelId="{E7DF4024-63C9-4DF6-A31E-6FB7DC00D1AA}" type="presParOf" srcId="{5C88C4DE-C046-43E9-9CCE-21901AA2DAF8}" destId="{08B00AD1-DEAB-43F3-AF4F-2275A39D98B7}" srcOrd="0" destOrd="0" presId="urn:microsoft.com/office/officeart/2017/3/layout/HorizontalLabelsTimeline"/>
    <dgm:cxn modelId="{64CA086B-0D02-47A1-A259-89BCC9AFAC35}" type="presParOf" srcId="{5C88C4DE-C046-43E9-9CCE-21901AA2DAF8}" destId="{33C6FCD4-D975-426F-8A75-8CF9C29F865B}" srcOrd="1" destOrd="0" presId="urn:microsoft.com/office/officeart/2017/3/layout/HorizontalLabelsTimeline"/>
    <dgm:cxn modelId="{85C71C51-961C-4356-8FA3-BBDA37240311}" type="presParOf" srcId="{33C6FCD4-D975-426F-8A75-8CF9C29F865B}" destId="{A6CF4211-5CC0-4919-A677-684820176A3C}" srcOrd="0" destOrd="0" presId="urn:microsoft.com/office/officeart/2017/3/layout/HorizontalLabelsTimeline"/>
    <dgm:cxn modelId="{7868AF78-4E3E-4044-A9A9-13D0EDCD0FA2}" type="presParOf" srcId="{33C6FCD4-D975-426F-8A75-8CF9C29F865B}" destId="{AB10AEE1-719F-41DD-BD31-DD41060C6A9D}" srcOrd="1" destOrd="0" presId="urn:microsoft.com/office/officeart/2017/3/layout/HorizontalLabelsTimeline"/>
    <dgm:cxn modelId="{AD6E8861-AC0C-478E-87B1-A9CF95EDDCD8}" type="presParOf" srcId="{5C88C4DE-C046-43E9-9CCE-21901AA2DAF8}" destId="{61C29056-6D09-46DD-A56F-8D6D3671F63F}" srcOrd="2" destOrd="0" presId="urn:microsoft.com/office/officeart/2017/3/layout/HorizontalLabelsTimeline"/>
    <dgm:cxn modelId="{279A8908-7F70-4EA4-84A0-21442AD8E893}" type="presParOf" srcId="{5C88C4DE-C046-43E9-9CCE-21901AA2DAF8}" destId="{A58318B6-9A04-4BFB-8C16-5EA644ED22A6}" srcOrd="3" destOrd="0" presId="urn:microsoft.com/office/officeart/2017/3/layout/HorizontalLabelsTimeline"/>
    <dgm:cxn modelId="{E171D655-D395-44E4-89E7-EBC34AA47C4F}" type="presParOf" srcId="{5C88C4DE-C046-43E9-9CCE-21901AA2DAF8}" destId="{2288319D-D576-46BA-B993-6BBF99FE7B46}" srcOrd="4" destOrd="0" presId="urn:microsoft.com/office/officeart/2017/3/layout/HorizontalLabelsTimeline"/>
    <dgm:cxn modelId="{B3328B22-33AE-4A78-A3EA-D71782A14C1C}" type="presParOf" srcId="{A04F62D8-C587-43ED-B268-B59F9CA9A35B}" destId="{50366BB5-6221-4995-9D91-30D3C0437713}" srcOrd="3" destOrd="0" presId="urn:microsoft.com/office/officeart/2017/3/layout/HorizontalLabelsTimeline"/>
    <dgm:cxn modelId="{5849DE22-1A15-4C46-A3A5-047E73715CD8}" type="presParOf" srcId="{A04F62D8-C587-43ED-B268-B59F9CA9A35B}" destId="{78423D91-A5D0-493A-B372-B035B5E141EF}" srcOrd="4" destOrd="0" presId="urn:microsoft.com/office/officeart/2017/3/layout/HorizontalLabelsTimeline"/>
    <dgm:cxn modelId="{3C31F76C-6742-4DCC-8E8D-D2451B7D6A56}" type="presParOf" srcId="{78423D91-A5D0-493A-B372-B035B5E141EF}" destId="{F8F17D2E-9829-4F7A-82A4-3B5FACBEC271}" srcOrd="0" destOrd="0" presId="urn:microsoft.com/office/officeart/2017/3/layout/HorizontalLabelsTimeline"/>
    <dgm:cxn modelId="{3C16B3EE-4C2A-46EC-987F-819285AC5710}" type="presParOf" srcId="{78423D91-A5D0-493A-B372-B035B5E141EF}" destId="{88E490DF-87F5-4271-9DC2-3C81975C8943}" srcOrd="1" destOrd="0" presId="urn:microsoft.com/office/officeart/2017/3/layout/HorizontalLabelsTimeline"/>
    <dgm:cxn modelId="{2846D0F0-3F68-44E3-96AC-E2FEB22BFF4B}" type="presParOf" srcId="{88E490DF-87F5-4271-9DC2-3C81975C8943}" destId="{F1468C7A-03EC-4B8A-859B-BDCDD8788F4E}" srcOrd="0" destOrd="0" presId="urn:microsoft.com/office/officeart/2017/3/layout/HorizontalLabelsTimeline"/>
    <dgm:cxn modelId="{9A051248-D706-4A3B-8D08-942E8C88569D}" type="presParOf" srcId="{88E490DF-87F5-4271-9DC2-3C81975C8943}" destId="{B90B582B-24EB-4839-AE1B-2A9EDDB4E77D}" srcOrd="1" destOrd="0" presId="urn:microsoft.com/office/officeart/2017/3/layout/HorizontalLabelsTimeline"/>
    <dgm:cxn modelId="{B2DDF0B5-1CEE-4C31-BF33-1EBD2CFB7240}" type="presParOf" srcId="{78423D91-A5D0-493A-B372-B035B5E141EF}" destId="{3194E422-2979-4ED5-B490-DDD0BD660873}" srcOrd="2" destOrd="0" presId="urn:microsoft.com/office/officeart/2017/3/layout/HorizontalLabelsTimeline"/>
    <dgm:cxn modelId="{01BBD9BE-1B53-4B7C-AE52-CEF64A9125FF}" type="presParOf" srcId="{78423D91-A5D0-493A-B372-B035B5E141EF}" destId="{6392E809-1E55-4D6B-9786-A83F084346CA}" srcOrd="3" destOrd="0" presId="urn:microsoft.com/office/officeart/2017/3/layout/HorizontalLabelsTimeline"/>
    <dgm:cxn modelId="{49141291-A2C7-45B9-ABAD-AD579AD2F654}" type="presParOf" srcId="{78423D91-A5D0-493A-B372-B035B5E141EF}" destId="{1AFBCC22-FEE9-44B8-BF72-438443CDE354}" srcOrd="4" destOrd="0" presId="urn:microsoft.com/office/officeart/2017/3/layout/HorizontalLabelsTimeline"/>
    <dgm:cxn modelId="{D044E8BF-9A3D-4F23-B10A-12388868E9AD}" type="presParOf" srcId="{A04F62D8-C587-43ED-B268-B59F9CA9A35B}" destId="{31731EEA-FF7F-4199-A769-52AF049182C3}" srcOrd="5" destOrd="0" presId="urn:microsoft.com/office/officeart/2017/3/layout/HorizontalLabelsTimeline"/>
    <dgm:cxn modelId="{05CEEA23-B5CE-457D-984D-9D322AF48E49}" type="presParOf" srcId="{A04F62D8-C587-43ED-B268-B59F9CA9A35B}" destId="{31F29D81-082E-43F2-8D6A-901F78212B02}" srcOrd="6" destOrd="0" presId="urn:microsoft.com/office/officeart/2017/3/layout/HorizontalLabelsTimeline"/>
    <dgm:cxn modelId="{0CDF2F6F-EAC8-4E13-B825-5BBA996B88F0}" type="presParOf" srcId="{31F29D81-082E-43F2-8D6A-901F78212B02}" destId="{C622D010-0D69-4232-AA70-2AA85CD50F06}" srcOrd="0" destOrd="0" presId="urn:microsoft.com/office/officeart/2017/3/layout/HorizontalLabelsTimeline"/>
    <dgm:cxn modelId="{198BB66A-75B5-4B42-8960-15B1CD57F246}" type="presParOf" srcId="{31F29D81-082E-43F2-8D6A-901F78212B02}" destId="{D4283396-EA7F-43D0-95FF-17390F2D570A}" srcOrd="1" destOrd="0" presId="urn:microsoft.com/office/officeart/2017/3/layout/HorizontalLabelsTimeline"/>
    <dgm:cxn modelId="{A35EA811-FADB-4556-A2F7-84B33E4D2B83}" type="presParOf" srcId="{D4283396-EA7F-43D0-95FF-17390F2D570A}" destId="{00A6492E-A900-4E73-B9EA-DB40343CECC4}" srcOrd="0" destOrd="0" presId="urn:microsoft.com/office/officeart/2017/3/layout/HorizontalLabelsTimeline"/>
    <dgm:cxn modelId="{5FD7B896-ACA7-455C-AC11-A95FF0093FAB}" type="presParOf" srcId="{D4283396-EA7F-43D0-95FF-17390F2D570A}" destId="{B5FF2296-DDC2-43B8-8514-87984D0DD003}" srcOrd="1" destOrd="0" presId="urn:microsoft.com/office/officeart/2017/3/layout/HorizontalLabelsTimeline"/>
    <dgm:cxn modelId="{A6ACFFEA-90CA-4BEC-A847-150658531A38}" type="presParOf" srcId="{31F29D81-082E-43F2-8D6A-901F78212B02}" destId="{E1706467-0C68-4914-A7E3-02B2911948D5}" srcOrd="2" destOrd="0" presId="urn:microsoft.com/office/officeart/2017/3/layout/HorizontalLabelsTimeline"/>
    <dgm:cxn modelId="{E70D26B8-1997-4C89-A313-A8109D4B5EAC}" type="presParOf" srcId="{31F29D81-082E-43F2-8D6A-901F78212B02}" destId="{E3A8DCFB-5A12-4EC2-88F9-36DBCE066AC2}" srcOrd="3" destOrd="0" presId="urn:microsoft.com/office/officeart/2017/3/layout/HorizontalLabelsTimeline"/>
    <dgm:cxn modelId="{B842957D-F0EF-4F03-8662-6AFEAA399484}" type="presParOf" srcId="{31F29D81-082E-43F2-8D6A-901F78212B02}" destId="{2E685694-89B2-429C-A820-61CE61DDA857}" srcOrd="4" destOrd="0" presId="urn:microsoft.com/office/officeart/2017/3/layout/HorizontalLabelsTimeline"/>
    <dgm:cxn modelId="{D7DAD6A6-F656-4920-829D-70225B81EBDE}" type="presParOf" srcId="{A04F62D8-C587-43ED-B268-B59F9CA9A35B}" destId="{A418BD6B-BF82-4E5B-8334-A4E2C2F00547}" srcOrd="7" destOrd="0" presId="urn:microsoft.com/office/officeart/2017/3/layout/HorizontalLabelsTimeline"/>
    <dgm:cxn modelId="{BEE53271-5477-4314-AF52-55886D827F75}" type="presParOf" srcId="{A04F62D8-C587-43ED-B268-B59F9CA9A35B}" destId="{BE6E22BB-C70A-4715-989E-01E5B12580DE}" srcOrd="8" destOrd="0" presId="urn:microsoft.com/office/officeart/2017/3/layout/HorizontalLabelsTimeline"/>
    <dgm:cxn modelId="{B24D266E-5603-4E75-99CB-63C339E96C28}" type="presParOf" srcId="{BE6E22BB-C70A-4715-989E-01E5B12580DE}" destId="{12125637-3446-4C02-A7A9-4BF8D1B2F3E4}" srcOrd="0" destOrd="0" presId="urn:microsoft.com/office/officeart/2017/3/layout/HorizontalLabelsTimeline"/>
    <dgm:cxn modelId="{312266D9-342F-44DB-8D7D-7B7E2C35987E}" type="presParOf" srcId="{BE6E22BB-C70A-4715-989E-01E5B12580DE}" destId="{AD416B7F-8EFD-470D-9479-8903D734A961}" srcOrd="1" destOrd="0" presId="urn:microsoft.com/office/officeart/2017/3/layout/HorizontalLabelsTimeline"/>
    <dgm:cxn modelId="{43F18C81-F7E7-4276-92CC-6FF14FAD27F4}" type="presParOf" srcId="{AD416B7F-8EFD-470D-9479-8903D734A961}" destId="{3C28CB50-E47A-4CAB-9D70-8C5997F6102E}" srcOrd="0" destOrd="0" presId="urn:microsoft.com/office/officeart/2017/3/layout/HorizontalLabelsTimeline"/>
    <dgm:cxn modelId="{46A5521B-6655-4761-BB6B-BF5968218D2A}" type="presParOf" srcId="{AD416B7F-8EFD-470D-9479-8903D734A961}" destId="{45D9461A-8865-4D47-A1BB-15B6E2A04A66}" srcOrd="1" destOrd="0" presId="urn:microsoft.com/office/officeart/2017/3/layout/HorizontalLabelsTimeline"/>
    <dgm:cxn modelId="{A7E660FA-B6A3-4A56-A9A1-A553F88AD31A}" type="presParOf" srcId="{BE6E22BB-C70A-4715-989E-01E5B12580DE}" destId="{E3B301BF-5D80-4C1E-B58F-1BBE3BA57F8A}" srcOrd="2" destOrd="0" presId="urn:microsoft.com/office/officeart/2017/3/layout/HorizontalLabelsTimeline"/>
    <dgm:cxn modelId="{B5B064A6-1324-4710-9D9E-422E7AE83131}" type="presParOf" srcId="{BE6E22BB-C70A-4715-989E-01E5B12580DE}" destId="{9C0D5690-5DC4-4E9B-8DFA-8117CEDBACFA}" srcOrd="3" destOrd="0" presId="urn:microsoft.com/office/officeart/2017/3/layout/HorizontalLabelsTimeline"/>
    <dgm:cxn modelId="{F386D6CE-3505-4A04-87AB-E65AF59017CE}" type="presParOf" srcId="{BE6E22BB-C70A-4715-989E-01E5B12580DE}" destId="{BFF3FF4E-FAF8-4E77-BC80-65FC531325C3}" srcOrd="4" destOrd="0" presId="urn:microsoft.com/office/officeart/2017/3/layout/HorizontalLabelsTimeline"/>
    <dgm:cxn modelId="{2DE02E65-EE54-433C-BEF6-A3435DF5B9EE}" type="presParOf" srcId="{A04F62D8-C587-43ED-B268-B59F9CA9A35B}" destId="{195F51E5-32F5-4257-9DF2-0D83EA856518}" srcOrd="9" destOrd="0" presId="urn:microsoft.com/office/officeart/2017/3/layout/HorizontalLabelsTimeline"/>
    <dgm:cxn modelId="{9610EA94-046E-457A-B5D4-3CA7C592635D}" type="presParOf" srcId="{A04F62D8-C587-43ED-B268-B59F9CA9A35B}" destId="{1E54A23E-3C0E-4F0C-9918-EDE0D5047CD8}" srcOrd="10" destOrd="0" presId="urn:microsoft.com/office/officeart/2017/3/layout/HorizontalLabelsTimeline"/>
    <dgm:cxn modelId="{B102A461-6108-458B-B2BD-FF84FFF27394}" type="presParOf" srcId="{1E54A23E-3C0E-4F0C-9918-EDE0D5047CD8}" destId="{A7408E52-74E3-4BB7-AF2A-4E5471FADE8C}" srcOrd="0" destOrd="0" presId="urn:microsoft.com/office/officeart/2017/3/layout/HorizontalLabelsTimeline"/>
    <dgm:cxn modelId="{C1A6C553-2D68-469D-864B-B9DD1EB7C55A}" type="presParOf" srcId="{1E54A23E-3C0E-4F0C-9918-EDE0D5047CD8}" destId="{23C617EB-F49D-4AAB-A465-CED0F52F1E5C}" srcOrd="1" destOrd="0" presId="urn:microsoft.com/office/officeart/2017/3/layout/HorizontalLabelsTimeline"/>
    <dgm:cxn modelId="{9FEFA1DF-44D0-4F51-93EC-AA7CA0F9C2E9}" type="presParOf" srcId="{23C617EB-F49D-4AAB-A465-CED0F52F1E5C}" destId="{14842776-2054-4D69-A6B9-8E5B775F8B8F}" srcOrd="0" destOrd="0" presId="urn:microsoft.com/office/officeart/2017/3/layout/HorizontalLabelsTimeline"/>
    <dgm:cxn modelId="{29CB9FAF-16FC-49D6-B817-47906CC39DE0}" type="presParOf" srcId="{23C617EB-F49D-4AAB-A465-CED0F52F1E5C}" destId="{4CDCAD7B-38D5-48FF-9C90-53C336205F87}" srcOrd="1" destOrd="0" presId="urn:microsoft.com/office/officeart/2017/3/layout/HorizontalLabelsTimeline"/>
    <dgm:cxn modelId="{CDD016A7-D87B-42E4-BE77-89E9466D88CB}" type="presParOf" srcId="{1E54A23E-3C0E-4F0C-9918-EDE0D5047CD8}" destId="{D39E8D76-BB72-4E10-93CB-80B1AAF70F04}" srcOrd="2" destOrd="0" presId="urn:microsoft.com/office/officeart/2017/3/layout/HorizontalLabelsTimeline"/>
    <dgm:cxn modelId="{5D73BFD9-B541-4A0F-AAEC-B6E66C3C8D15}" type="presParOf" srcId="{1E54A23E-3C0E-4F0C-9918-EDE0D5047CD8}" destId="{559484EA-8517-4569-A213-81745F795B9F}" srcOrd="3" destOrd="0" presId="urn:microsoft.com/office/officeart/2017/3/layout/HorizontalLabelsTimeline"/>
    <dgm:cxn modelId="{45F17AB3-62E0-4F05-8F2C-5B89E12176FB}" type="presParOf" srcId="{1E54A23E-3C0E-4F0C-9918-EDE0D5047CD8}" destId="{ED493A94-08BF-4258-8D30-135283D2ECE3}" srcOrd="4" destOrd="0" presId="urn:microsoft.com/office/officeart/2017/3/layout/HorizontalLabels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13AA79-BB0A-4E8A-8913-1806B9471019}"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en-US"/>
        </a:p>
      </dgm:t>
    </dgm:pt>
    <dgm:pt modelId="{FF0EA4C0-013D-4259-BF2E-32F1230F4EB1}">
      <dgm:prSet/>
      <dgm:spPr/>
      <dgm:t>
        <a:bodyPr/>
        <a:lstStyle/>
        <a:p>
          <a:r>
            <a:rPr lang="en-US" dirty="0"/>
            <a:t>Goal:</a:t>
          </a:r>
        </a:p>
      </dgm:t>
    </dgm:pt>
    <dgm:pt modelId="{FF6DC174-8B93-4A3D-9D5A-377105CB127B}" type="parTrans" cxnId="{830D75BD-9DD2-4899-A95F-C634228D3CC7}">
      <dgm:prSet/>
      <dgm:spPr/>
      <dgm:t>
        <a:bodyPr/>
        <a:lstStyle/>
        <a:p>
          <a:endParaRPr lang="en-US"/>
        </a:p>
      </dgm:t>
    </dgm:pt>
    <dgm:pt modelId="{0C726433-58FB-4F72-917A-CBF8AD1309DD}" type="sibTrans" cxnId="{830D75BD-9DD2-4899-A95F-C634228D3CC7}">
      <dgm:prSet/>
      <dgm:spPr/>
      <dgm:t>
        <a:bodyPr/>
        <a:lstStyle/>
        <a:p>
          <a:endParaRPr lang="en-US"/>
        </a:p>
      </dgm:t>
    </dgm:pt>
    <dgm:pt modelId="{4BE87DEE-F265-4A32-A0A1-7F77C9460623}">
      <dgm:prSet/>
      <dgm:spPr/>
      <dgm:t>
        <a:bodyPr/>
        <a:lstStyle/>
        <a:p>
          <a:r>
            <a:rPr lang="en-US"/>
            <a:t>Models Tested</a:t>
          </a:r>
        </a:p>
      </dgm:t>
    </dgm:pt>
    <dgm:pt modelId="{9F8C04E7-4F47-4ACB-A4B9-E20E16041948}" type="parTrans" cxnId="{346253EC-C299-4533-803B-3F5ED35BE6C3}">
      <dgm:prSet/>
      <dgm:spPr/>
      <dgm:t>
        <a:bodyPr/>
        <a:lstStyle/>
        <a:p>
          <a:endParaRPr lang="en-US"/>
        </a:p>
      </dgm:t>
    </dgm:pt>
    <dgm:pt modelId="{D1604DF7-3D7F-4845-8032-F5BD0E008F85}" type="sibTrans" cxnId="{346253EC-C299-4533-803B-3F5ED35BE6C3}">
      <dgm:prSet/>
      <dgm:spPr/>
      <dgm:t>
        <a:bodyPr/>
        <a:lstStyle/>
        <a:p>
          <a:endParaRPr lang="en-US"/>
        </a:p>
      </dgm:t>
    </dgm:pt>
    <dgm:pt modelId="{2CD0C5FA-E38D-44CB-9416-467E508306A8}">
      <dgm:prSet/>
      <dgm:spPr/>
      <dgm:t>
        <a:bodyPr/>
        <a:lstStyle/>
        <a:p>
          <a:r>
            <a:rPr lang="en-US" dirty="0"/>
            <a:t>Interpretable Models</a:t>
          </a:r>
        </a:p>
      </dgm:t>
    </dgm:pt>
    <dgm:pt modelId="{1120C4A4-3C80-4D17-AC27-9C5384AC004D}" type="parTrans" cxnId="{BD4F3EE9-F398-4064-B7CC-96E99F1125C1}">
      <dgm:prSet/>
      <dgm:spPr/>
      <dgm:t>
        <a:bodyPr/>
        <a:lstStyle/>
        <a:p>
          <a:endParaRPr lang="en-US"/>
        </a:p>
      </dgm:t>
    </dgm:pt>
    <dgm:pt modelId="{B9ECD56B-0D5D-45CB-92E4-D06AD768E4CE}" type="sibTrans" cxnId="{BD4F3EE9-F398-4064-B7CC-96E99F1125C1}">
      <dgm:prSet/>
      <dgm:spPr/>
      <dgm:t>
        <a:bodyPr/>
        <a:lstStyle/>
        <a:p>
          <a:endParaRPr lang="en-US"/>
        </a:p>
      </dgm:t>
    </dgm:pt>
    <dgm:pt modelId="{C887C748-EB96-45F7-952D-0CB4BD040A67}">
      <dgm:prSet/>
      <dgm:spPr/>
      <dgm:t>
        <a:bodyPr/>
        <a:lstStyle/>
        <a:p>
          <a:r>
            <a:rPr lang="en-US" dirty="0"/>
            <a:t>Logistic Regression</a:t>
          </a:r>
        </a:p>
      </dgm:t>
    </dgm:pt>
    <dgm:pt modelId="{91447396-F44A-4D1E-87E8-089E8616AB8B}" type="parTrans" cxnId="{937F6AAB-C152-4A1F-9D21-74B2A392D69B}">
      <dgm:prSet/>
      <dgm:spPr/>
      <dgm:t>
        <a:bodyPr/>
        <a:lstStyle/>
        <a:p>
          <a:endParaRPr lang="en-US"/>
        </a:p>
      </dgm:t>
    </dgm:pt>
    <dgm:pt modelId="{F12B136B-D33E-4D8A-BDE8-FE1654A2FD02}" type="sibTrans" cxnId="{937F6AAB-C152-4A1F-9D21-74B2A392D69B}">
      <dgm:prSet/>
      <dgm:spPr/>
      <dgm:t>
        <a:bodyPr/>
        <a:lstStyle/>
        <a:p>
          <a:endParaRPr lang="en-US"/>
        </a:p>
      </dgm:t>
    </dgm:pt>
    <dgm:pt modelId="{AF0C0DA8-D352-4D7B-8B41-779766CA06AE}">
      <dgm:prSet/>
      <dgm:spPr/>
      <dgm:t>
        <a:bodyPr/>
        <a:lstStyle/>
        <a:p>
          <a:r>
            <a:rPr lang="en-US" dirty="0"/>
            <a:t>Naive Bayes</a:t>
          </a:r>
        </a:p>
      </dgm:t>
    </dgm:pt>
    <dgm:pt modelId="{45A77AAA-8FA0-4C13-9697-EE395CF293F2}" type="parTrans" cxnId="{13A5A364-DE22-44E4-888E-741F9A4BD7BB}">
      <dgm:prSet/>
      <dgm:spPr/>
      <dgm:t>
        <a:bodyPr/>
        <a:lstStyle/>
        <a:p>
          <a:endParaRPr lang="en-US"/>
        </a:p>
      </dgm:t>
    </dgm:pt>
    <dgm:pt modelId="{038892B3-1163-4B9C-BA68-0ED6E232E6C3}" type="sibTrans" cxnId="{13A5A364-DE22-44E4-888E-741F9A4BD7BB}">
      <dgm:prSet/>
      <dgm:spPr/>
      <dgm:t>
        <a:bodyPr/>
        <a:lstStyle/>
        <a:p>
          <a:endParaRPr lang="en-US"/>
        </a:p>
      </dgm:t>
    </dgm:pt>
    <dgm:pt modelId="{00C6BB29-D990-4726-A1CA-8DBB816FFDA8}">
      <dgm:prSet/>
      <dgm:spPr/>
      <dgm:t>
        <a:bodyPr/>
        <a:lstStyle/>
        <a:p>
          <a:r>
            <a:rPr lang="en-US" dirty="0"/>
            <a:t>Distance &amp; Margin‑Based Models</a:t>
          </a:r>
        </a:p>
      </dgm:t>
    </dgm:pt>
    <dgm:pt modelId="{DE379641-71BB-427F-A037-3892374B8B78}" type="parTrans" cxnId="{4D018526-99A0-4C48-9CAB-6F27D8AC98AA}">
      <dgm:prSet/>
      <dgm:spPr/>
      <dgm:t>
        <a:bodyPr/>
        <a:lstStyle/>
        <a:p>
          <a:endParaRPr lang="en-US"/>
        </a:p>
      </dgm:t>
    </dgm:pt>
    <dgm:pt modelId="{8FFFFEE9-97CC-4943-8924-959FFCE4944A}" type="sibTrans" cxnId="{4D018526-99A0-4C48-9CAB-6F27D8AC98AA}">
      <dgm:prSet/>
      <dgm:spPr/>
      <dgm:t>
        <a:bodyPr/>
        <a:lstStyle/>
        <a:p>
          <a:endParaRPr lang="en-US"/>
        </a:p>
      </dgm:t>
    </dgm:pt>
    <dgm:pt modelId="{82D090E8-22F4-4713-8BC4-07345E5E1117}">
      <dgm:prSet/>
      <dgm:spPr/>
      <dgm:t>
        <a:bodyPr/>
        <a:lstStyle/>
        <a:p>
          <a:r>
            <a:rPr lang="en-US"/>
            <a:t>K‑Nearest Neighbors</a:t>
          </a:r>
        </a:p>
      </dgm:t>
    </dgm:pt>
    <dgm:pt modelId="{3A383717-F28F-4ACC-8D36-3DC433D226FC}" type="parTrans" cxnId="{2220B7EB-6C81-4574-8E0C-8DD45E77869B}">
      <dgm:prSet/>
      <dgm:spPr/>
      <dgm:t>
        <a:bodyPr/>
        <a:lstStyle/>
        <a:p>
          <a:endParaRPr lang="en-US"/>
        </a:p>
      </dgm:t>
    </dgm:pt>
    <dgm:pt modelId="{6FC754B7-934C-4F23-A430-699CD596C4AE}" type="sibTrans" cxnId="{2220B7EB-6C81-4574-8E0C-8DD45E77869B}">
      <dgm:prSet/>
      <dgm:spPr/>
      <dgm:t>
        <a:bodyPr/>
        <a:lstStyle/>
        <a:p>
          <a:endParaRPr lang="en-US"/>
        </a:p>
      </dgm:t>
    </dgm:pt>
    <dgm:pt modelId="{B77A0389-7DCF-486B-BB4E-3D7CEAFA3AA7}">
      <dgm:prSet/>
      <dgm:spPr/>
      <dgm:t>
        <a:bodyPr/>
        <a:lstStyle/>
        <a:p>
          <a:r>
            <a:rPr lang="en-US" dirty="0"/>
            <a:t>Support Vector Machines (Linear &amp; RBF)</a:t>
          </a:r>
        </a:p>
      </dgm:t>
    </dgm:pt>
    <dgm:pt modelId="{7E2B7C37-FED9-444B-A7D4-A7D2160125B4}" type="parTrans" cxnId="{C6E3455C-7431-4DED-BE70-C6B91CF1E82F}">
      <dgm:prSet/>
      <dgm:spPr/>
      <dgm:t>
        <a:bodyPr/>
        <a:lstStyle/>
        <a:p>
          <a:endParaRPr lang="en-US"/>
        </a:p>
      </dgm:t>
    </dgm:pt>
    <dgm:pt modelId="{907CDA4E-EDDC-4353-8D17-87A5989E091A}" type="sibTrans" cxnId="{C6E3455C-7431-4DED-BE70-C6B91CF1E82F}">
      <dgm:prSet/>
      <dgm:spPr/>
      <dgm:t>
        <a:bodyPr/>
        <a:lstStyle/>
        <a:p>
          <a:endParaRPr lang="en-US"/>
        </a:p>
      </dgm:t>
    </dgm:pt>
    <dgm:pt modelId="{F85F71B4-4000-4255-A69C-C43CE898AA73}">
      <dgm:prSet/>
      <dgm:spPr/>
      <dgm:t>
        <a:bodyPr/>
        <a:lstStyle/>
        <a:p>
          <a:r>
            <a:rPr lang="en-US"/>
            <a:t>Ensemble Models</a:t>
          </a:r>
        </a:p>
      </dgm:t>
    </dgm:pt>
    <dgm:pt modelId="{AF47D7A7-2954-4458-B885-41B87DE290C4}" type="parTrans" cxnId="{025108B1-9B01-43E1-9450-B77FF87A4114}">
      <dgm:prSet/>
      <dgm:spPr/>
      <dgm:t>
        <a:bodyPr/>
        <a:lstStyle/>
        <a:p>
          <a:endParaRPr lang="en-US"/>
        </a:p>
      </dgm:t>
    </dgm:pt>
    <dgm:pt modelId="{A123AC19-F667-4408-811C-534999887A2F}" type="sibTrans" cxnId="{025108B1-9B01-43E1-9450-B77FF87A4114}">
      <dgm:prSet/>
      <dgm:spPr/>
      <dgm:t>
        <a:bodyPr/>
        <a:lstStyle/>
        <a:p>
          <a:endParaRPr lang="en-US"/>
        </a:p>
      </dgm:t>
    </dgm:pt>
    <dgm:pt modelId="{2930F126-EEAC-4C1E-ADAC-4EB3F098FFCF}">
      <dgm:prSet/>
      <dgm:spPr/>
      <dgm:t>
        <a:bodyPr/>
        <a:lstStyle/>
        <a:p>
          <a:r>
            <a:rPr lang="en-US"/>
            <a:t>Decision Tree</a:t>
          </a:r>
        </a:p>
      </dgm:t>
    </dgm:pt>
    <dgm:pt modelId="{88419B2C-4E0E-4150-AA77-72EF8CA7CB4E}" type="parTrans" cxnId="{77AFEE26-E610-4E33-92C1-689394AAF9C7}">
      <dgm:prSet/>
      <dgm:spPr/>
      <dgm:t>
        <a:bodyPr/>
        <a:lstStyle/>
        <a:p>
          <a:endParaRPr lang="en-US"/>
        </a:p>
      </dgm:t>
    </dgm:pt>
    <dgm:pt modelId="{61DFF561-D5B0-4FCE-A8CE-DCF302CE1E71}" type="sibTrans" cxnId="{77AFEE26-E610-4E33-92C1-689394AAF9C7}">
      <dgm:prSet/>
      <dgm:spPr/>
      <dgm:t>
        <a:bodyPr/>
        <a:lstStyle/>
        <a:p>
          <a:endParaRPr lang="en-US"/>
        </a:p>
      </dgm:t>
    </dgm:pt>
    <dgm:pt modelId="{6F938E4F-9A9C-4532-8CB2-77186C762947}">
      <dgm:prSet/>
      <dgm:spPr/>
      <dgm:t>
        <a:bodyPr/>
        <a:lstStyle/>
        <a:p>
          <a:r>
            <a:rPr lang="en-US"/>
            <a:t>Random Forest</a:t>
          </a:r>
        </a:p>
      </dgm:t>
    </dgm:pt>
    <dgm:pt modelId="{E33D6A95-1C65-42B8-A831-83D839BF3A8D}" type="parTrans" cxnId="{FD0F7DA8-8476-41E7-A8EB-17FBD86DFB36}">
      <dgm:prSet/>
      <dgm:spPr/>
      <dgm:t>
        <a:bodyPr/>
        <a:lstStyle/>
        <a:p>
          <a:endParaRPr lang="en-US"/>
        </a:p>
      </dgm:t>
    </dgm:pt>
    <dgm:pt modelId="{248C57AA-41B9-4BD8-BECA-1230E9C7BF06}" type="sibTrans" cxnId="{FD0F7DA8-8476-41E7-A8EB-17FBD86DFB36}">
      <dgm:prSet/>
      <dgm:spPr/>
      <dgm:t>
        <a:bodyPr/>
        <a:lstStyle/>
        <a:p>
          <a:endParaRPr lang="en-US"/>
        </a:p>
      </dgm:t>
    </dgm:pt>
    <dgm:pt modelId="{B81EEDD1-DD4B-4BDA-8586-D9A84E7945C5}">
      <dgm:prSet/>
      <dgm:spPr/>
      <dgm:t>
        <a:bodyPr/>
        <a:lstStyle/>
        <a:p>
          <a:r>
            <a:rPr lang="en-US"/>
            <a:t>Gradient Boosting</a:t>
          </a:r>
        </a:p>
      </dgm:t>
    </dgm:pt>
    <dgm:pt modelId="{8570238F-F602-4D47-A18B-19D270D33975}" type="parTrans" cxnId="{5F4F875B-9102-4165-81CE-4BCA014A2E77}">
      <dgm:prSet/>
      <dgm:spPr/>
      <dgm:t>
        <a:bodyPr/>
        <a:lstStyle/>
        <a:p>
          <a:endParaRPr lang="en-US"/>
        </a:p>
      </dgm:t>
    </dgm:pt>
    <dgm:pt modelId="{A53D4E25-7A6A-496C-B64D-C7789A723208}" type="sibTrans" cxnId="{5F4F875B-9102-4165-81CE-4BCA014A2E77}">
      <dgm:prSet/>
      <dgm:spPr/>
      <dgm:t>
        <a:bodyPr/>
        <a:lstStyle/>
        <a:p>
          <a:endParaRPr lang="en-US"/>
        </a:p>
      </dgm:t>
    </dgm:pt>
    <dgm:pt modelId="{A9979A63-6D52-43E7-A198-0042D98C6224}">
      <dgm:prSet/>
      <dgm:spPr/>
      <dgm:t>
        <a:bodyPr/>
        <a:lstStyle/>
        <a:p>
          <a:r>
            <a:rPr lang="en-US"/>
            <a:t>AdaBoost</a:t>
          </a:r>
        </a:p>
      </dgm:t>
    </dgm:pt>
    <dgm:pt modelId="{FC2BD15A-C8C1-4A66-8379-120CA2E00F53}" type="parTrans" cxnId="{ACC1F161-CDA0-4D76-A0AB-D004E0A25C19}">
      <dgm:prSet/>
      <dgm:spPr/>
      <dgm:t>
        <a:bodyPr/>
        <a:lstStyle/>
        <a:p>
          <a:endParaRPr lang="en-US"/>
        </a:p>
      </dgm:t>
    </dgm:pt>
    <dgm:pt modelId="{86E3E5FD-2835-404B-9F54-E39E534D6372}" type="sibTrans" cxnId="{ACC1F161-CDA0-4D76-A0AB-D004E0A25C19}">
      <dgm:prSet/>
      <dgm:spPr/>
      <dgm:t>
        <a:bodyPr/>
        <a:lstStyle/>
        <a:p>
          <a:endParaRPr lang="en-US"/>
        </a:p>
      </dgm:t>
    </dgm:pt>
    <dgm:pt modelId="{EC31D20A-AEFE-429C-A712-3C7618FA7CA2}">
      <dgm:prSet/>
      <dgm:spPr/>
      <dgm:t>
        <a:bodyPr/>
        <a:lstStyle/>
        <a:p>
          <a:r>
            <a:rPr lang="en-US"/>
            <a:t>Extra Trees</a:t>
          </a:r>
        </a:p>
      </dgm:t>
    </dgm:pt>
    <dgm:pt modelId="{5134A911-E5B7-4AC4-8807-59009C01BBD5}" type="parTrans" cxnId="{6734772A-9284-4B10-B82E-7CD104E59CC4}">
      <dgm:prSet/>
      <dgm:spPr/>
      <dgm:t>
        <a:bodyPr/>
        <a:lstStyle/>
        <a:p>
          <a:endParaRPr lang="en-US"/>
        </a:p>
      </dgm:t>
    </dgm:pt>
    <dgm:pt modelId="{520C241E-EF89-4540-8067-8782CA0F438C}" type="sibTrans" cxnId="{6734772A-9284-4B10-B82E-7CD104E59CC4}">
      <dgm:prSet/>
      <dgm:spPr/>
      <dgm:t>
        <a:bodyPr/>
        <a:lstStyle/>
        <a:p>
          <a:endParaRPr lang="en-US"/>
        </a:p>
      </dgm:t>
    </dgm:pt>
    <dgm:pt modelId="{9564EEC5-CB44-4BFD-947A-E7BF1C1D8CED}">
      <dgm:prSet/>
      <dgm:spPr/>
      <dgm:t>
        <a:bodyPr/>
        <a:lstStyle/>
        <a:p>
          <a:r>
            <a:rPr lang="en-US"/>
            <a:t>How We Evaluated Performance</a:t>
          </a:r>
        </a:p>
      </dgm:t>
    </dgm:pt>
    <dgm:pt modelId="{73C90A59-70E8-4F4B-8A54-A7341D7D8CF6}" type="parTrans" cxnId="{BC9630FC-FE21-4C56-8B78-2CDBF794AD2C}">
      <dgm:prSet/>
      <dgm:spPr/>
      <dgm:t>
        <a:bodyPr/>
        <a:lstStyle/>
        <a:p>
          <a:endParaRPr lang="en-US"/>
        </a:p>
      </dgm:t>
    </dgm:pt>
    <dgm:pt modelId="{8768E5D3-F82B-483B-BF2B-56380CE57E00}" type="sibTrans" cxnId="{BC9630FC-FE21-4C56-8B78-2CDBF794AD2C}">
      <dgm:prSet/>
      <dgm:spPr/>
      <dgm:t>
        <a:bodyPr/>
        <a:lstStyle/>
        <a:p>
          <a:endParaRPr lang="en-US"/>
        </a:p>
      </dgm:t>
    </dgm:pt>
    <dgm:pt modelId="{C7F76801-ECAF-4DBE-A95D-A2AA989F0A06}">
      <dgm:prSet/>
      <dgm:spPr/>
      <dgm:t>
        <a:bodyPr/>
        <a:lstStyle/>
        <a:p>
          <a:r>
            <a:rPr lang="en-US" dirty="0"/>
            <a:t>Each model was trained on the same data split (70/30) and assessed using:</a:t>
          </a:r>
        </a:p>
      </dgm:t>
    </dgm:pt>
    <dgm:pt modelId="{DCF5C20D-5497-4557-8A7F-195076AC7F43}" type="parTrans" cxnId="{313163BC-FA7F-4945-B16A-4FBCA4E2E9C9}">
      <dgm:prSet/>
      <dgm:spPr/>
      <dgm:t>
        <a:bodyPr/>
        <a:lstStyle/>
        <a:p>
          <a:endParaRPr lang="en-US"/>
        </a:p>
      </dgm:t>
    </dgm:pt>
    <dgm:pt modelId="{473ACE8D-539F-4168-AB4E-0C075D0A23D0}" type="sibTrans" cxnId="{313163BC-FA7F-4945-B16A-4FBCA4E2E9C9}">
      <dgm:prSet/>
      <dgm:spPr/>
      <dgm:t>
        <a:bodyPr/>
        <a:lstStyle/>
        <a:p>
          <a:endParaRPr lang="en-US"/>
        </a:p>
      </dgm:t>
    </dgm:pt>
    <dgm:pt modelId="{23C5A835-C97C-446C-AA90-5AAEA27BC2D5}">
      <dgm:prSet/>
      <dgm:spPr/>
      <dgm:t>
        <a:bodyPr/>
        <a:lstStyle/>
        <a:p>
          <a:r>
            <a:rPr lang="en-US"/>
            <a:t>Accuracy — overall correctness</a:t>
          </a:r>
        </a:p>
      </dgm:t>
    </dgm:pt>
    <dgm:pt modelId="{D9AFC01C-A0FE-406E-82EE-2F8F048F5090}" type="parTrans" cxnId="{49438957-B91D-405E-B0EC-56204FC8DD4A}">
      <dgm:prSet/>
      <dgm:spPr/>
      <dgm:t>
        <a:bodyPr/>
        <a:lstStyle/>
        <a:p>
          <a:endParaRPr lang="en-US"/>
        </a:p>
      </dgm:t>
    </dgm:pt>
    <dgm:pt modelId="{5EFC2C96-EF9C-42E2-A83A-8F68B03F177D}" type="sibTrans" cxnId="{49438957-B91D-405E-B0EC-56204FC8DD4A}">
      <dgm:prSet/>
      <dgm:spPr/>
      <dgm:t>
        <a:bodyPr/>
        <a:lstStyle/>
        <a:p>
          <a:endParaRPr lang="en-US"/>
        </a:p>
      </dgm:t>
    </dgm:pt>
    <dgm:pt modelId="{95ED44EA-2C31-42E0-B71D-A0110A38B5A3}">
      <dgm:prSet/>
      <dgm:spPr/>
      <dgm:t>
        <a:bodyPr/>
        <a:lstStyle/>
        <a:p>
          <a:r>
            <a:rPr lang="en-US"/>
            <a:t>Precision — correctness of above‑median predictions</a:t>
          </a:r>
        </a:p>
      </dgm:t>
    </dgm:pt>
    <dgm:pt modelId="{294C5D07-8924-47DC-913F-12B1DF4AC8EA}" type="parTrans" cxnId="{C54F737F-B15E-4685-9D2F-7D9897534DD9}">
      <dgm:prSet/>
      <dgm:spPr/>
      <dgm:t>
        <a:bodyPr/>
        <a:lstStyle/>
        <a:p>
          <a:endParaRPr lang="en-US"/>
        </a:p>
      </dgm:t>
    </dgm:pt>
    <dgm:pt modelId="{47800EB4-98E3-41F9-86C9-A0111E197D07}" type="sibTrans" cxnId="{C54F737F-B15E-4685-9D2F-7D9897534DD9}">
      <dgm:prSet/>
      <dgm:spPr/>
      <dgm:t>
        <a:bodyPr/>
        <a:lstStyle/>
        <a:p>
          <a:endParaRPr lang="en-US"/>
        </a:p>
      </dgm:t>
    </dgm:pt>
    <dgm:pt modelId="{22A90049-AAE9-4308-A3A8-C8173F1124D5}">
      <dgm:prSet/>
      <dgm:spPr/>
      <dgm:t>
        <a:bodyPr/>
        <a:lstStyle/>
        <a:p>
          <a:r>
            <a:rPr lang="en-US"/>
            <a:t>Recall — ability to find true above‑median earners</a:t>
          </a:r>
        </a:p>
      </dgm:t>
    </dgm:pt>
    <dgm:pt modelId="{94E19432-4A62-45E1-B2DC-F54C2EA12CFE}" type="parTrans" cxnId="{48C29B63-517F-484E-A339-D00E0B6E3002}">
      <dgm:prSet/>
      <dgm:spPr/>
      <dgm:t>
        <a:bodyPr/>
        <a:lstStyle/>
        <a:p>
          <a:endParaRPr lang="en-US"/>
        </a:p>
      </dgm:t>
    </dgm:pt>
    <dgm:pt modelId="{D5C0861D-34A7-479C-810E-5538D12ECDDD}" type="sibTrans" cxnId="{48C29B63-517F-484E-A339-D00E0B6E3002}">
      <dgm:prSet/>
      <dgm:spPr/>
      <dgm:t>
        <a:bodyPr/>
        <a:lstStyle/>
        <a:p>
          <a:endParaRPr lang="en-US"/>
        </a:p>
      </dgm:t>
    </dgm:pt>
    <dgm:pt modelId="{C406E474-AA5C-44FB-B8E8-9E33CAA0099B}">
      <dgm:prSet/>
      <dgm:spPr/>
      <dgm:t>
        <a:bodyPr/>
        <a:lstStyle/>
        <a:p>
          <a:r>
            <a:rPr lang="en-US" dirty="0"/>
            <a:t>F1 Score — balance of precision and recall</a:t>
          </a:r>
        </a:p>
      </dgm:t>
    </dgm:pt>
    <dgm:pt modelId="{F254B962-7911-47BB-ACE2-D6C44ED94576}" type="parTrans" cxnId="{D666C60F-D902-4B99-92B1-59FF9F998D2E}">
      <dgm:prSet/>
      <dgm:spPr/>
      <dgm:t>
        <a:bodyPr/>
        <a:lstStyle/>
        <a:p>
          <a:endParaRPr lang="en-US"/>
        </a:p>
      </dgm:t>
    </dgm:pt>
    <dgm:pt modelId="{293490DB-D293-4C5F-BC78-490FA4EFD772}" type="sibTrans" cxnId="{D666C60F-D902-4B99-92B1-59FF9F998D2E}">
      <dgm:prSet/>
      <dgm:spPr/>
      <dgm:t>
        <a:bodyPr/>
        <a:lstStyle/>
        <a:p>
          <a:endParaRPr lang="en-US"/>
        </a:p>
      </dgm:t>
    </dgm:pt>
    <dgm:pt modelId="{F611B463-759C-43C5-A14B-5FDADD369877}">
      <dgm:prSet/>
      <dgm:spPr/>
      <dgm:t>
        <a:bodyPr/>
        <a:lstStyle/>
        <a:p>
          <a:r>
            <a:rPr lang="en-US"/>
            <a:t>Final Model Variables Used:  </a:t>
          </a:r>
        </a:p>
      </dgm:t>
    </dgm:pt>
    <dgm:pt modelId="{81070157-BC5B-4689-BCC5-580E699D03F2}" type="parTrans" cxnId="{4DA65788-3AF0-4685-984F-0D1DB98F1C05}">
      <dgm:prSet/>
      <dgm:spPr/>
      <dgm:t>
        <a:bodyPr/>
        <a:lstStyle/>
        <a:p>
          <a:endParaRPr lang="en-US"/>
        </a:p>
      </dgm:t>
    </dgm:pt>
    <dgm:pt modelId="{84A9C442-0689-44D8-824C-DF2B85AF00D2}" type="sibTrans" cxnId="{4DA65788-3AF0-4685-984F-0D1DB98F1C05}">
      <dgm:prSet/>
      <dgm:spPr/>
      <dgm:t>
        <a:bodyPr/>
        <a:lstStyle/>
        <a:p>
          <a:endParaRPr lang="en-US"/>
        </a:p>
      </dgm:t>
    </dgm:pt>
    <dgm:pt modelId="{6BCDC112-5ED8-4E88-A40F-E2DD2E8C1ED3}">
      <dgm:prSet/>
      <dgm:spPr/>
      <dgm:t>
        <a:bodyPr/>
        <a:lstStyle/>
        <a:p>
          <a:r>
            <a:rPr lang="en-US" dirty="0"/>
            <a:t>Experience Level</a:t>
          </a:r>
        </a:p>
      </dgm:t>
    </dgm:pt>
    <dgm:pt modelId="{EBF5D876-108D-48FE-95ED-2BF0E114EA9B}" type="parTrans" cxnId="{33794365-3C2E-44FC-B5F4-84163D936EEA}">
      <dgm:prSet/>
      <dgm:spPr/>
      <dgm:t>
        <a:bodyPr/>
        <a:lstStyle/>
        <a:p>
          <a:endParaRPr lang="en-US"/>
        </a:p>
      </dgm:t>
    </dgm:pt>
    <dgm:pt modelId="{883C3E67-66FB-4901-AAA2-7F6DD1006702}" type="sibTrans" cxnId="{33794365-3C2E-44FC-B5F4-84163D936EEA}">
      <dgm:prSet/>
      <dgm:spPr/>
      <dgm:t>
        <a:bodyPr/>
        <a:lstStyle/>
        <a:p>
          <a:endParaRPr lang="en-US"/>
        </a:p>
      </dgm:t>
    </dgm:pt>
    <dgm:pt modelId="{9D557981-C790-4779-9FB9-7EB393565314}">
      <dgm:prSet/>
      <dgm:spPr/>
      <dgm:t>
        <a:bodyPr/>
        <a:lstStyle/>
        <a:p>
          <a:r>
            <a:rPr lang="en-US" dirty="0"/>
            <a:t>Employment Type</a:t>
          </a:r>
        </a:p>
      </dgm:t>
    </dgm:pt>
    <dgm:pt modelId="{E4742966-9C3C-484F-8C47-512B13F52A57}" type="parTrans" cxnId="{D64C849D-9B4F-4BD3-8A0F-49A1BC45613B}">
      <dgm:prSet/>
      <dgm:spPr/>
      <dgm:t>
        <a:bodyPr/>
        <a:lstStyle/>
        <a:p>
          <a:endParaRPr lang="en-US"/>
        </a:p>
      </dgm:t>
    </dgm:pt>
    <dgm:pt modelId="{FE6F8DAE-8890-4309-9615-7D43CCEE5419}" type="sibTrans" cxnId="{D64C849D-9B4F-4BD3-8A0F-49A1BC45613B}">
      <dgm:prSet/>
      <dgm:spPr/>
      <dgm:t>
        <a:bodyPr/>
        <a:lstStyle/>
        <a:p>
          <a:endParaRPr lang="en-US"/>
        </a:p>
      </dgm:t>
    </dgm:pt>
    <dgm:pt modelId="{A0A79A1D-B059-4105-AD93-BE38C49A79F8}">
      <dgm:prSet/>
      <dgm:spPr/>
      <dgm:t>
        <a:bodyPr/>
        <a:lstStyle/>
        <a:p>
          <a:r>
            <a:rPr lang="en-US" dirty="0"/>
            <a:t>Job Title by Group</a:t>
          </a:r>
        </a:p>
      </dgm:t>
    </dgm:pt>
    <dgm:pt modelId="{ADFE1E85-5823-488C-B117-F8D1402E2431}" type="parTrans" cxnId="{60FDC548-F6E2-479E-8725-8CE2785C7021}">
      <dgm:prSet/>
      <dgm:spPr/>
      <dgm:t>
        <a:bodyPr/>
        <a:lstStyle/>
        <a:p>
          <a:endParaRPr lang="en-US"/>
        </a:p>
      </dgm:t>
    </dgm:pt>
    <dgm:pt modelId="{D5BBD126-FD79-4970-8800-ED0A195B115F}" type="sibTrans" cxnId="{60FDC548-F6E2-479E-8725-8CE2785C7021}">
      <dgm:prSet/>
      <dgm:spPr/>
      <dgm:t>
        <a:bodyPr/>
        <a:lstStyle/>
        <a:p>
          <a:endParaRPr lang="en-US"/>
        </a:p>
      </dgm:t>
    </dgm:pt>
    <dgm:pt modelId="{8FC48984-8074-4DD4-8350-EF866C3BC7F1}">
      <dgm:prSet/>
      <dgm:spPr/>
      <dgm:t>
        <a:bodyPr/>
        <a:lstStyle/>
        <a:p>
          <a:r>
            <a:rPr lang="en-US" dirty="0"/>
            <a:t>Employee residence</a:t>
          </a:r>
        </a:p>
      </dgm:t>
    </dgm:pt>
    <dgm:pt modelId="{0AEB3C62-EAAF-4396-9BA1-B8B49B5DB64F}" type="parTrans" cxnId="{E8E51E5A-223C-4C2B-B245-CA7888399F97}">
      <dgm:prSet/>
      <dgm:spPr/>
      <dgm:t>
        <a:bodyPr/>
        <a:lstStyle/>
        <a:p>
          <a:endParaRPr lang="en-US"/>
        </a:p>
      </dgm:t>
    </dgm:pt>
    <dgm:pt modelId="{7313B53F-4E3C-4C44-809E-C5273A39940C}" type="sibTrans" cxnId="{E8E51E5A-223C-4C2B-B245-CA7888399F97}">
      <dgm:prSet/>
      <dgm:spPr/>
      <dgm:t>
        <a:bodyPr/>
        <a:lstStyle/>
        <a:p>
          <a:endParaRPr lang="en-US"/>
        </a:p>
      </dgm:t>
    </dgm:pt>
    <dgm:pt modelId="{65DB39A0-ACEE-4E88-B223-D1001B389B96}">
      <dgm:prSet/>
      <dgm:spPr/>
      <dgm:t>
        <a:bodyPr/>
        <a:lstStyle/>
        <a:p>
          <a:r>
            <a:rPr lang="en-US" dirty="0"/>
            <a:t>Company Size</a:t>
          </a:r>
        </a:p>
      </dgm:t>
    </dgm:pt>
    <dgm:pt modelId="{F28C5A7D-F2B6-42AC-9035-4EB1565F1E8E}" type="parTrans" cxnId="{6D84E7A0-A469-4E6B-BFF3-FF089B211450}">
      <dgm:prSet/>
      <dgm:spPr/>
      <dgm:t>
        <a:bodyPr/>
        <a:lstStyle/>
        <a:p>
          <a:endParaRPr lang="en-US"/>
        </a:p>
      </dgm:t>
    </dgm:pt>
    <dgm:pt modelId="{2CA653FE-49EF-4877-B1D2-9570F5415AD4}" type="sibTrans" cxnId="{6D84E7A0-A469-4E6B-BFF3-FF089B211450}">
      <dgm:prSet/>
      <dgm:spPr/>
      <dgm:t>
        <a:bodyPr/>
        <a:lstStyle/>
        <a:p>
          <a:endParaRPr lang="en-US"/>
        </a:p>
      </dgm:t>
    </dgm:pt>
    <dgm:pt modelId="{2D60967E-2A7F-464D-93A0-4CEAB6696E9F}">
      <dgm:prSet/>
      <dgm:spPr/>
      <dgm:t>
        <a:bodyPr/>
        <a:lstStyle/>
        <a:p>
          <a:r>
            <a:rPr lang="en-US" dirty="0"/>
            <a:t>Work Calendar Year</a:t>
          </a:r>
        </a:p>
      </dgm:t>
    </dgm:pt>
    <dgm:pt modelId="{594A954F-0099-4C4C-B40D-636CB329F339}" type="parTrans" cxnId="{4EB98708-65F5-4DAB-8D9D-616F6068DD80}">
      <dgm:prSet/>
      <dgm:spPr/>
      <dgm:t>
        <a:bodyPr/>
        <a:lstStyle/>
        <a:p>
          <a:endParaRPr lang="en-US"/>
        </a:p>
      </dgm:t>
    </dgm:pt>
    <dgm:pt modelId="{91E05EE5-8995-420D-B6E1-97A670E31059}" type="sibTrans" cxnId="{4EB98708-65F5-4DAB-8D9D-616F6068DD80}">
      <dgm:prSet/>
      <dgm:spPr/>
      <dgm:t>
        <a:bodyPr/>
        <a:lstStyle/>
        <a:p>
          <a:endParaRPr lang="en-US"/>
        </a:p>
      </dgm:t>
    </dgm:pt>
    <dgm:pt modelId="{5C7A049F-EA38-421B-B1AE-BE9578DF1ECF}">
      <dgm:prSet/>
      <dgm:spPr/>
      <dgm:t>
        <a:bodyPr/>
        <a:lstStyle/>
        <a:p>
          <a:r>
            <a:rPr lang="en-US" dirty="0"/>
            <a:t>Employer Remote Type</a:t>
          </a:r>
        </a:p>
      </dgm:t>
    </dgm:pt>
    <dgm:pt modelId="{DDFE6253-E9EE-464A-A09C-F2F5EB8F0CA4}" type="parTrans" cxnId="{D1463F72-EBFE-4048-9769-E9F54A3FC745}">
      <dgm:prSet/>
      <dgm:spPr/>
      <dgm:t>
        <a:bodyPr/>
        <a:lstStyle/>
        <a:p>
          <a:endParaRPr lang="en-US"/>
        </a:p>
      </dgm:t>
    </dgm:pt>
    <dgm:pt modelId="{1476D174-97FF-46BC-969B-0012B92AF363}" type="sibTrans" cxnId="{D1463F72-EBFE-4048-9769-E9F54A3FC745}">
      <dgm:prSet/>
      <dgm:spPr/>
      <dgm:t>
        <a:bodyPr/>
        <a:lstStyle/>
        <a:p>
          <a:endParaRPr lang="en-US"/>
        </a:p>
      </dgm:t>
    </dgm:pt>
    <dgm:pt modelId="{8131C9BC-9AB6-4567-A8B3-A6544C0345CD}">
      <dgm:prSet/>
      <dgm:spPr/>
      <dgm:t>
        <a:bodyPr/>
        <a:lstStyle/>
        <a:p>
          <a:r>
            <a:rPr lang="en-US"/>
            <a:t>Why This Matters</a:t>
          </a:r>
        </a:p>
      </dgm:t>
    </dgm:pt>
    <dgm:pt modelId="{9F737156-6F62-4349-861E-2579D974145C}" type="parTrans" cxnId="{76830D6E-9A6D-4FEB-BB13-4255B3851970}">
      <dgm:prSet/>
      <dgm:spPr/>
      <dgm:t>
        <a:bodyPr/>
        <a:lstStyle/>
        <a:p>
          <a:endParaRPr lang="en-US"/>
        </a:p>
      </dgm:t>
    </dgm:pt>
    <dgm:pt modelId="{1FBA9603-CA61-473E-8B02-82CB2AC79086}" type="sibTrans" cxnId="{76830D6E-9A6D-4FEB-BB13-4255B3851970}">
      <dgm:prSet/>
      <dgm:spPr/>
      <dgm:t>
        <a:bodyPr/>
        <a:lstStyle/>
        <a:p>
          <a:endParaRPr lang="en-US"/>
        </a:p>
      </dgm:t>
    </dgm:pt>
    <dgm:pt modelId="{43412596-D32A-4DFC-87F0-12A357F37160}">
      <dgm:prSet/>
      <dgm:spPr/>
      <dgm:t>
        <a:bodyPr/>
        <a:lstStyle/>
        <a:p>
          <a:r>
            <a:rPr lang="en-US" dirty="0"/>
            <a:t>Testing multiple model families ensures we select the most accurate, stable, and interpretable approach for salary classification — not just the first model that works.</a:t>
          </a:r>
        </a:p>
      </dgm:t>
    </dgm:pt>
    <dgm:pt modelId="{E164F0BA-76B5-4CA6-B424-DBA76255AB2F}" type="parTrans" cxnId="{D3DF7C33-AD5D-47F4-8237-70357B4EBDF8}">
      <dgm:prSet/>
      <dgm:spPr/>
      <dgm:t>
        <a:bodyPr/>
        <a:lstStyle/>
        <a:p>
          <a:endParaRPr lang="en-US"/>
        </a:p>
      </dgm:t>
    </dgm:pt>
    <dgm:pt modelId="{58CE0510-30AB-4EAD-BA42-A0349AEBF005}" type="sibTrans" cxnId="{D3DF7C33-AD5D-47F4-8237-70357B4EBDF8}">
      <dgm:prSet/>
      <dgm:spPr/>
      <dgm:t>
        <a:bodyPr/>
        <a:lstStyle/>
        <a:p>
          <a:endParaRPr lang="en-US"/>
        </a:p>
      </dgm:t>
    </dgm:pt>
    <dgm:pt modelId="{BC4FE50F-0033-4AB0-95B3-BEC5D6E1E7C6}">
      <dgm:prSet/>
      <dgm:spPr/>
      <dgm:t>
        <a:bodyPr/>
        <a:lstStyle/>
        <a:p>
          <a:r>
            <a:rPr lang="en-US" dirty="0"/>
            <a:t>To identify the most reliable salary‑classification model, we evaluated a diverse set of machine‑learning algorithms — from simple interpretable models to advanced nonlinear ensembles.</a:t>
          </a:r>
        </a:p>
      </dgm:t>
    </dgm:pt>
    <dgm:pt modelId="{F3465FDC-38B3-4EC0-8360-66460C96329B}" type="parTrans" cxnId="{DF16E31B-9C98-47A0-9AA3-5673E811823D}">
      <dgm:prSet/>
      <dgm:spPr/>
      <dgm:t>
        <a:bodyPr/>
        <a:lstStyle/>
        <a:p>
          <a:endParaRPr lang="en-US"/>
        </a:p>
      </dgm:t>
    </dgm:pt>
    <dgm:pt modelId="{776647B5-3B89-4A9C-8F38-E820CA48BE5A}" type="sibTrans" cxnId="{DF16E31B-9C98-47A0-9AA3-5673E811823D}">
      <dgm:prSet/>
      <dgm:spPr/>
      <dgm:t>
        <a:bodyPr/>
        <a:lstStyle/>
        <a:p>
          <a:endParaRPr lang="en-US"/>
        </a:p>
      </dgm:t>
    </dgm:pt>
    <dgm:pt modelId="{C8699BD8-8CB1-4074-A3C5-EB1B88657201}">
      <dgm:prSet/>
      <dgm:spPr/>
      <dgm:t>
        <a:bodyPr/>
        <a:lstStyle/>
        <a:p>
          <a:r>
            <a:rPr lang="en-US" dirty="0"/>
            <a:t>Area under the Curve (AUC) — overall ranking ability (most reliable metric)</a:t>
          </a:r>
        </a:p>
      </dgm:t>
    </dgm:pt>
    <dgm:pt modelId="{C0828AF7-F8CA-41D5-B392-8F0B6A48F874}" type="parTrans" cxnId="{04A34770-DCC9-4BD9-BEDD-74E9C5FA3CB3}">
      <dgm:prSet/>
      <dgm:spPr/>
    </dgm:pt>
    <dgm:pt modelId="{A394C1EA-85E4-4DF6-9918-897428F775F0}" type="sibTrans" cxnId="{04A34770-DCC9-4BD9-BEDD-74E9C5FA3CB3}">
      <dgm:prSet/>
      <dgm:spPr/>
    </dgm:pt>
    <dgm:pt modelId="{A81C2076-47D3-4A7A-8738-5E25DC46BD12}" type="pres">
      <dgm:prSet presAssocID="{0313AA79-BB0A-4E8A-8913-1806B9471019}" presName="Name0" presStyleCnt="0">
        <dgm:presLayoutVars>
          <dgm:dir/>
          <dgm:animLvl val="lvl"/>
          <dgm:resizeHandles val="exact"/>
        </dgm:presLayoutVars>
      </dgm:prSet>
      <dgm:spPr/>
    </dgm:pt>
    <dgm:pt modelId="{83AACDB3-7573-4D92-AFF8-3FBF013DA589}" type="pres">
      <dgm:prSet presAssocID="{FF0EA4C0-013D-4259-BF2E-32F1230F4EB1}" presName="composite" presStyleCnt="0"/>
      <dgm:spPr/>
    </dgm:pt>
    <dgm:pt modelId="{DF84AF8E-E784-4B5A-A858-A8DF4E67A20B}" type="pres">
      <dgm:prSet presAssocID="{FF0EA4C0-013D-4259-BF2E-32F1230F4EB1}" presName="parTx" presStyleLbl="alignNode1" presStyleIdx="0" presStyleCnt="5">
        <dgm:presLayoutVars>
          <dgm:chMax val="0"/>
          <dgm:chPref val="0"/>
          <dgm:bulletEnabled val="1"/>
        </dgm:presLayoutVars>
      </dgm:prSet>
      <dgm:spPr/>
    </dgm:pt>
    <dgm:pt modelId="{6071D970-E41B-4E82-877C-98F73299255A}" type="pres">
      <dgm:prSet presAssocID="{FF0EA4C0-013D-4259-BF2E-32F1230F4EB1}" presName="desTx" presStyleLbl="alignAccFollowNode1" presStyleIdx="0" presStyleCnt="5">
        <dgm:presLayoutVars>
          <dgm:bulletEnabled val="1"/>
        </dgm:presLayoutVars>
      </dgm:prSet>
      <dgm:spPr/>
    </dgm:pt>
    <dgm:pt modelId="{02F5438F-F1D7-431C-A9F1-FCB6270967A2}" type="pres">
      <dgm:prSet presAssocID="{0C726433-58FB-4F72-917A-CBF8AD1309DD}" presName="space" presStyleCnt="0"/>
      <dgm:spPr/>
    </dgm:pt>
    <dgm:pt modelId="{FE6F3C61-96E8-4DCE-B16C-D982675D7FCC}" type="pres">
      <dgm:prSet presAssocID="{4BE87DEE-F265-4A32-A0A1-7F77C9460623}" presName="composite" presStyleCnt="0"/>
      <dgm:spPr/>
    </dgm:pt>
    <dgm:pt modelId="{57ED9E97-18CC-4895-8ED0-F6216341549D}" type="pres">
      <dgm:prSet presAssocID="{4BE87DEE-F265-4A32-A0A1-7F77C9460623}" presName="parTx" presStyleLbl="alignNode1" presStyleIdx="1" presStyleCnt="5">
        <dgm:presLayoutVars>
          <dgm:chMax val="0"/>
          <dgm:chPref val="0"/>
          <dgm:bulletEnabled val="1"/>
        </dgm:presLayoutVars>
      </dgm:prSet>
      <dgm:spPr/>
    </dgm:pt>
    <dgm:pt modelId="{F184A28E-8C0B-47A9-B479-DE6F8C3AF102}" type="pres">
      <dgm:prSet presAssocID="{4BE87DEE-F265-4A32-A0A1-7F77C9460623}" presName="desTx" presStyleLbl="alignAccFollowNode1" presStyleIdx="1" presStyleCnt="5">
        <dgm:presLayoutVars>
          <dgm:bulletEnabled val="1"/>
        </dgm:presLayoutVars>
      </dgm:prSet>
      <dgm:spPr/>
    </dgm:pt>
    <dgm:pt modelId="{00FF873D-DB29-44B2-94C1-784838E02E02}" type="pres">
      <dgm:prSet presAssocID="{D1604DF7-3D7F-4845-8032-F5BD0E008F85}" presName="space" presStyleCnt="0"/>
      <dgm:spPr/>
    </dgm:pt>
    <dgm:pt modelId="{2A4A44C8-7B95-4F39-AA18-3F306A3516B6}" type="pres">
      <dgm:prSet presAssocID="{9564EEC5-CB44-4BFD-947A-E7BF1C1D8CED}" presName="composite" presStyleCnt="0"/>
      <dgm:spPr/>
    </dgm:pt>
    <dgm:pt modelId="{A033B8F4-B819-4B84-946A-A3E70DCD87FE}" type="pres">
      <dgm:prSet presAssocID="{9564EEC5-CB44-4BFD-947A-E7BF1C1D8CED}" presName="parTx" presStyleLbl="alignNode1" presStyleIdx="2" presStyleCnt="5">
        <dgm:presLayoutVars>
          <dgm:chMax val="0"/>
          <dgm:chPref val="0"/>
          <dgm:bulletEnabled val="1"/>
        </dgm:presLayoutVars>
      </dgm:prSet>
      <dgm:spPr/>
    </dgm:pt>
    <dgm:pt modelId="{5FC194EE-9719-4771-A058-8F93C6C29DD5}" type="pres">
      <dgm:prSet presAssocID="{9564EEC5-CB44-4BFD-947A-E7BF1C1D8CED}" presName="desTx" presStyleLbl="alignAccFollowNode1" presStyleIdx="2" presStyleCnt="5">
        <dgm:presLayoutVars>
          <dgm:bulletEnabled val="1"/>
        </dgm:presLayoutVars>
      </dgm:prSet>
      <dgm:spPr/>
    </dgm:pt>
    <dgm:pt modelId="{FD8AB7BD-8CDB-4541-A42E-43405BB90FF1}" type="pres">
      <dgm:prSet presAssocID="{8768E5D3-F82B-483B-BF2B-56380CE57E00}" presName="space" presStyleCnt="0"/>
      <dgm:spPr/>
    </dgm:pt>
    <dgm:pt modelId="{4AD36B08-0E97-46EE-B34F-CB0B605F97CC}" type="pres">
      <dgm:prSet presAssocID="{F611B463-759C-43C5-A14B-5FDADD369877}" presName="composite" presStyleCnt="0"/>
      <dgm:spPr/>
    </dgm:pt>
    <dgm:pt modelId="{7AF519C6-C420-4DAD-B3CD-5FD2C9E408D0}" type="pres">
      <dgm:prSet presAssocID="{F611B463-759C-43C5-A14B-5FDADD369877}" presName="parTx" presStyleLbl="alignNode1" presStyleIdx="3" presStyleCnt="5">
        <dgm:presLayoutVars>
          <dgm:chMax val="0"/>
          <dgm:chPref val="0"/>
          <dgm:bulletEnabled val="1"/>
        </dgm:presLayoutVars>
      </dgm:prSet>
      <dgm:spPr/>
    </dgm:pt>
    <dgm:pt modelId="{0C4EE437-868B-45A2-907D-1387EF49957E}" type="pres">
      <dgm:prSet presAssocID="{F611B463-759C-43C5-A14B-5FDADD369877}" presName="desTx" presStyleLbl="alignAccFollowNode1" presStyleIdx="3" presStyleCnt="5">
        <dgm:presLayoutVars>
          <dgm:bulletEnabled val="1"/>
        </dgm:presLayoutVars>
      </dgm:prSet>
      <dgm:spPr/>
    </dgm:pt>
    <dgm:pt modelId="{5A35FD61-4112-497D-879B-51E4EB4EF773}" type="pres">
      <dgm:prSet presAssocID="{84A9C442-0689-44D8-824C-DF2B85AF00D2}" presName="space" presStyleCnt="0"/>
      <dgm:spPr/>
    </dgm:pt>
    <dgm:pt modelId="{84A9F820-833D-4768-8E07-AC3D8E8E5797}" type="pres">
      <dgm:prSet presAssocID="{8131C9BC-9AB6-4567-A8B3-A6544C0345CD}" presName="composite" presStyleCnt="0"/>
      <dgm:spPr/>
    </dgm:pt>
    <dgm:pt modelId="{74FA2D48-0091-4D23-8746-F4C01B8BB5D2}" type="pres">
      <dgm:prSet presAssocID="{8131C9BC-9AB6-4567-A8B3-A6544C0345CD}" presName="parTx" presStyleLbl="alignNode1" presStyleIdx="4" presStyleCnt="5">
        <dgm:presLayoutVars>
          <dgm:chMax val="0"/>
          <dgm:chPref val="0"/>
          <dgm:bulletEnabled val="1"/>
        </dgm:presLayoutVars>
      </dgm:prSet>
      <dgm:spPr/>
    </dgm:pt>
    <dgm:pt modelId="{9B2366A0-4D9C-4A9F-8E3C-83B31EF08935}" type="pres">
      <dgm:prSet presAssocID="{8131C9BC-9AB6-4567-A8B3-A6544C0345CD}" presName="desTx" presStyleLbl="alignAccFollowNode1" presStyleIdx="4" presStyleCnt="5">
        <dgm:presLayoutVars>
          <dgm:bulletEnabled val="1"/>
        </dgm:presLayoutVars>
      </dgm:prSet>
      <dgm:spPr/>
    </dgm:pt>
  </dgm:ptLst>
  <dgm:cxnLst>
    <dgm:cxn modelId="{AE71A404-2020-4FAF-BE59-93C4FD4A7D62}" type="presOf" srcId="{EC31D20A-AEFE-429C-A712-3C7618FA7CA2}" destId="{F184A28E-8C0B-47A9-B479-DE6F8C3AF102}" srcOrd="0" destOrd="11" presId="urn:microsoft.com/office/officeart/2005/8/layout/hList1"/>
    <dgm:cxn modelId="{4EB98708-65F5-4DAB-8D9D-616F6068DD80}" srcId="{F611B463-759C-43C5-A14B-5FDADD369877}" destId="{2D60967E-2A7F-464D-93A0-4CEAB6696E9F}" srcOrd="5" destOrd="0" parTransId="{594A954F-0099-4C4C-B40D-636CB329F339}" sibTransId="{91E05EE5-8995-420D-B6E1-97A670E31059}"/>
    <dgm:cxn modelId="{A444AC0C-7CC9-4C7C-8649-822BE58646D5}" type="presOf" srcId="{C887C748-EB96-45F7-952D-0CB4BD040A67}" destId="{F184A28E-8C0B-47A9-B479-DE6F8C3AF102}" srcOrd="0" destOrd="1" presId="urn:microsoft.com/office/officeart/2005/8/layout/hList1"/>
    <dgm:cxn modelId="{4C8EC80D-31CD-4776-890F-652818E8DC2C}" type="presOf" srcId="{2CD0C5FA-E38D-44CB-9416-467E508306A8}" destId="{F184A28E-8C0B-47A9-B479-DE6F8C3AF102}" srcOrd="0" destOrd="0" presId="urn:microsoft.com/office/officeart/2005/8/layout/hList1"/>
    <dgm:cxn modelId="{D666C60F-D902-4B99-92B1-59FF9F998D2E}" srcId="{9564EEC5-CB44-4BFD-947A-E7BF1C1D8CED}" destId="{C406E474-AA5C-44FB-B8E8-9E33CAA0099B}" srcOrd="4" destOrd="0" parTransId="{F254B962-7911-47BB-ACE2-D6C44ED94576}" sibTransId="{293490DB-D293-4C5F-BC78-490FA4EFD772}"/>
    <dgm:cxn modelId="{DF16E31B-9C98-47A0-9AA3-5673E811823D}" srcId="{FF0EA4C0-013D-4259-BF2E-32F1230F4EB1}" destId="{BC4FE50F-0033-4AB0-95B3-BEC5D6E1E7C6}" srcOrd="0" destOrd="0" parTransId="{F3465FDC-38B3-4EC0-8360-66460C96329B}" sibTransId="{776647B5-3B89-4A9C-8F38-E820CA48BE5A}"/>
    <dgm:cxn modelId="{6DE9B41D-24C0-47F9-8B92-CD97A0A1FFD1}" type="presOf" srcId="{6F938E4F-9A9C-4532-8CB2-77186C762947}" destId="{F184A28E-8C0B-47A9-B479-DE6F8C3AF102}" srcOrd="0" destOrd="8" presId="urn:microsoft.com/office/officeart/2005/8/layout/hList1"/>
    <dgm:cxn modelId="{4D018526-99A0-4C48-9CAB-6F27D8AC98AA}" srcId="{4BE87DEE-F265-4A32-A0A1-7F77C9460623}" destId="{00C6BB29-D990-4726-A1CA-8DBB816FFDA8}" srcOrd="1" destOrd="0" parTransId="{DE379641-71BB-427F-A037-3892374B8B78}" sibTransId="{8FFFFEE9-97CC-4943-8924-959FFCE4944A}"/>
    <dgm:cxn modelId="{77AFEE26-E610-4E33-92C1-689394AAF9C7}" srcId="{F85F71B4-4000-4255-A69C-C43CE898AA73}" destId="{2930F126-EEAC-4C1E-ADAC-4EB3F098FFCF}" srcOrd="0" destOrd="0" parTransId="{88419B2C-4E0E-4150-AA77-72EF8CA7CB4E}" sibTransId="{61DFF561-D5B0-4FCE-A8CE-DCF302CE1E71}"/>
    <dgm:cxn modelId="{6734772A-9284-4B10-B82E-7CD104E59CC4}" srcId="{F85F71B4-4000-4255-A69C-C43CE898AA73}" destId="{EC31D20A-AEFE-429C-A712-3C7618FA7CA2}" srcOrd="4" destOrd="0" parTransId="{5134A911-E5B7-4AC4-8807-59009C01BBD5}" sibTransId="{520C241E-EF89-4540-8067-8782CA0F438C}"/>
    <dgm:cxn modelId="{BED8CD32-7CE2-4EB9-8096-41B95D74B817}" type="presOf" srcId="{2930F126-EEAC-4C1E-ADAC-4EB3F098FFCF}" destId="{F184A28E-8C0B-47A9-B479-DE6F8C3AF102}" srcOrd="0" destOrd="7" presId="urn:microsoft.com/office/officeart/2005/8/layout/hList1"/>
    <dgm:cxn modelId="{71ED2633-AE9E-4753-BE31-5F6D874B36D1}" type="presOf" srcId="{C7F76801-ECAF-4DBE-A95D-A2AA989F0A06}" destId="{5FC194EE-9719-4771-A058-8F93C6C29DD5}" srcOrd="0" destOrd="0" presId="urn:microsoft.com/office/officeart/2005/8/layout/hList1"/>
    <dgm:cxn modelId="{D3DF7C33-AD5D-47F4-8237-70357B4EBDF8}" srcId="{8131C9BC-9AB6-4567-A8B3-A6544C0345CD}" destId="{43412596-D32A-4DFC-87F0-12A357F37160}" srcOrd="0" destOrd="0" parTransId="{E164F0BA-76B5-4CA6-B424-DBA76255AB2F}" sibTransId="{58CE0510-30AB-4EAD-BA42-A0349AEBF005}"/>
    <dgm:cxn modelId="{A9195236-F53E-4F4B-A8E4-E4DC25336E8F}" type="presOf" srcId="{5C7A049F-EA38-421B-B1AE-BE9578DF1ECF}" destId="{0C4EE437-868B-45A2-907D-1387EF49957E}" srcOrd="0" destOrd="6" presId="urn:microsoft.com/office/officeart/2005/8/layout/hList1"/>
    <dgm:cxn modelId="{5F4F875B-9102-4165-81CE-4BCA014A2E77}" srcId="{F85F71B4-4000-4255-A69C-C43CE898AA73}" destId="{B81EEDD1-DD4B-4BDA-8586-D9A84E7945C5}" srcOrd="2" destOrd="0" parTransId="{8570238F-F602-4D47-A18B-19D270D33975}" sibTransId="{A53D4E25-7A6A-496C-B64D-C7789A723208}"/>
    <dgm:cxn modelId="{C6E3455C-7431-4DED-BE70-C6B91CF1E82F}" srcId="{00C6BB29-D990-4726-A1CA-8DBB816FFDA8}" destId="{B77A0389-7DCF-486B-BB4E-3D7CEAFA3AA7}" srcOrd="1" destOrd="0" parTransId="{7E2B7C37-FED9-444B-A7D4-A7D2160125B4}" sibTransId="{907CDA4E-EDDC-4353-8D17-87A5989E091A}"/>
    <dgm:cxn modelId="{ACC1F161-CDA0-4D76-A0AB-D004E0A25C19}" srcId="{F85F71B4-4000-4255-A69C-C43CE898AA73}" destId="{A9979A63-6D52-43E7-A198-0042D98C6224}" srcOrd="3" destOrd="0" parTransId="{FC2BD15A-C8C1-4A66-8379-120CA2E00F53}" sibTransId="{86E3E5FD-2835-404B-9F54-E39E534D6372}"/>
    <dgm:cxn modelId="{8976BE42-E27F-468C-8ABB-B87D9CF12A00}" type="presOf" srcId="{AF0C0DA8-D352-4D7B-8B41-779766CA06AE}" destId="{F184A28E-8C0B-47A9-B479-DE6F8C3AF102}" srcOrd="0" destOrd="2" presId="urn:microsoft.com/office/officeart/2005/8/layout/hList1"/>
    <dgm:cxn modelId="{48C29B63-517F-484E-A339-D00E0B6E3002}" srcId="{9564EEC5-CB44-4BFD-947A-E7BF1C1D8CED}" destId="{22A90049-AAE9-4308-A3A8-C8173F1124D5}" srcOrd="3" destOrd="0" parTransId="{94E19432-4A62-45E1-B2DC-F54C2EA12CFE}" sibTransId="{D5C0861D-34A7-479C-810E-5538D12ECDDD}"/>
    <dgm:cxn modelId="{13A5A364-DE22-44E4-888E-741F9A4BD7BB}" srcId="{2CD0C5FA-E38D-44CB-9416-467E508306A8}" destId="{AF0C0DA8-D352-4D7B-8B41-779766CA06AE}" srcOrd="1" destOrd="0" parTransId="{45A77AAA-8FA0-4C13-9697-EE395CF293F2}" sibTransId="{038892B3-1163-4B9C-BA68-0ED6E232E6C3}"/>
    <dgm:cxn modelId="{7FB0CA64-14FD-4F17-96CA-C3DDCA247A91}" type="presOf" srcId="{F611B463-759C-43C5-A14B-5FDADD369877}" destId="{7AF519C6-C420-4DAD-B3CD-5FD2C9E408D0}" srcOrd="0" destOrd="0" presId="urn:microsoft.com/office/officeart/2005/8/layout/hList1"/>
    <dgm:cxn modelId="{33794365-3C2E-44FC-B5F4-84163D936EEA}" srcId="{F611B463-759C-43C5-A14B-5FDADD369877}" destId="{6BCDC112-5ED8-4E88-A40F-E2DD2E8C1ED3}" srcOrd="0" destOrd="0" parTransId="{EBF5D876-108D-48FE-95ED-2BF0E114EA9B}" sibTransId="{883C3E67-66FB-4901-AAA2-7F6DD1006702}"/>
    <dgm:cxn modelId="{60FDC548-F6E2-479E-8725-8CE2785C7021}" srcId="{F611B463-759C-43C5-A14B-5FDADD369877}" destId="{A0A79A1D-B059-4105-AD93-BE38C49A79F8}" srcOrd="2" destOrd="0" parTransId="{ADFE1E85-5823-488C-B117-F8D1402E2431}" sibTransId="{D5BBD126-FD79-4970-8800-ED0A195B115F}"/>
    <dgm:cxn modelId="{76830D6E-9A6D-4FEB-BB13-4255B3851970}" srcId="{0313AA79-BB0A-4E8A-8913-1806B9471019}" destId="{8131C9BC-9AB6-4567-A8B3-A6544C0345CD}" srcOrd="4" destOrd="0" parTransId="{9F737156-6F62-4349-861E-2579D974145C}" sibTransId="{1FBA9603-CA61-473E-8B02-82CB2AC79086}"/>
    <dgm:cxn modelId="{04A34770-DCC9-4BD9-BEDD-74E9C5FA3CB3}" srcId="{9564EEC5-CB44-4BFD-947A-E7BF1C1D8CED}" destId="{C8699BD8-8CB1-4074-A3C5-EB1B88657201}" srcOrd="5" destOrd="0" parTransId="{C0828AF7-F8CA-41D5-B392-8F0B6A48F874}" sibTransId="{A394C1EA-85E4-4DF6-9918-897428F775F0}"/>
    <dgm:cxn modelId="{F62A8271-C490-4F76-8E70-557C9AD0E9A9}" type="presOf" srcId="{22A90049-AAE9-4308-A3A8-C8173F1124D5}" destId="{5FC194EE-9719-4771-A058-8F93C6C29DD5}" srcOrd="0" destOrd="3" presId="urn:microsoft.com/office/officeart/2005/8/layout/hList1"/>
    <dgm:cxn modelId="{D1463F72-EBFE-4048-9769-E9F54A3FC745}" srcId="{F611B463-759C-43C5-A14B-5FDADD369877}" destId="{5C7A049F-EA38-421B-B1AE-BE9578DF1ECF}" srcOrd="6" destOrd="0" parTransId="{DDFE6253-E9EE-464A-A09C-F2F5EB8F0CA4}" sibTransId="{1476D174-97FF-46BC-969B-0012B92AF363}"/>
    <dgm:cxn modelId="{039C1374-847D-4D33-AA35-7DF02705B6D6}" type="presOf" srcId="{A9979A63-6D52-43E7-A198-0042D98C6224}" destId="{F184A28E-8C0B-47A9-B479-DE6F8C3AF102}" srcOrd="0" destOrd="10" presId="urn:microsoft.com/office/officeart/2005/8/layout/hList1"/>
    <dgm:cxn modelId="{4E6DBE74-C383-4B45-B160-84EF266B3A31}" type="presOf" srcId="{23C5A835-C97C-446C-AA90-5AAEA27BC2D5}" destId="{5FC194EE-9719-4771-A058-8F93C6C29DD5}" srcOrd="0" destOrd="1" presId="urn:microsoft.com/office/officeart/2005/8/layout/hList1"/>
    <dgm:cxn modelId="{3A30D954-28BF-49BE-8F11-60602BE927E8}" type="presOf" srcId="{0313AA79-BB0A-4E8A-8913-1806B9471019}" destId="{A81C2076-47D3-4A7A-8738-5E25DC46BD12}" srcOrd="0" destOrd="0" presId="urn:microsoft.com/office/officeart/2005/8/layout/hList1"/>
    <dgm:cxn modelId="{49438957-B91D-405E-B0EC-56204FC8DD4A}" srcId="{9564EEC5-CB44-4BFD-947A-E7BF1C1D8CED}" destId="{23C5A835-C97C-446C-AA90-5AAEA27BC2D5}" srcOrd="1" destOrd="0" parTransId="{D9AFC01C-A0FE-406E-82EE-2F8F048F5090}" sibTransId="{5EFC2C96-EF9C-42E2-A83A-8F68B03F177D}"/>
    <dgm:cxn modelId="{7072005A-F715-43DB-AA80-8A6A1CDAC440}" type="presOf" srcId="{8131C9BC-9AB6-4567-A8B3-A6544C0345CD}" destId="{74FA2D48-0091-4D23-8746-F4C01B8BB5D2}" srcOrd="0" destOrd="0" presId="urn:microsoft.com/office/officeart/2005/8/layout/hList1"/>
    <dgm:cxn modelId="{E8E51E5A-223C-4C2B-B245-CA7888399F97}" srcId="{F611B463-759C-43C5-A14B-5FDADD369877}" destId="{8FC48984-8074-4DD4-8350-EF866C3BC7F1}" srcOrd="3" destOrd="0" parTransId="{0AEB3C62-EAAF-4396-9BA1-B8B49B5DB64F}" sibTransId="{7313B53F-4E3C-4C44-809E-C5273A39940C}"/>
    <dgm:cxn modelId="{C54F737F-B15E-4685-9D2F-7D9897534DD9}" srcId="{9564EEC5-CB44-4BFD-947A-E7BF1C1D8CED}" destId="{95ED44EA-2C31-42E0-B71D-A0110A38B5A3}" srcOrd="2" destOrd="0" parTransId="{294C5D07-8924-47DC-913F-12B1DF4AC8EA}" sibTransId="{47800EB4-98E3-41F9-86C9-A0111E197D07}"/>
    <dgm:cxn modelId="{A6FBB780-1915-499C-8436-E0C761EC8953}" type="presOf" srcId="{4BE87DEE-F265-4A32-A0A1-7F77C9460623}" destId="{57ED9E97-18CC-4895-8ED0-F6216341549D}" srcOrd="0" destOrd="0" presId="urn:microsoft.com/office/officeart/2005/8/layout/hList1"/>
    <dgm:cxn modelId="{D8303686-04D0-426E-8BE4-FEC174280D08}" type="presOf" srcId="{BC4FE50F-0033-4AB0-95B3-BEC5D6E1E7C6}" destId="{6071D970-E41B-4E82-877C-98F73299255A}" srcOrd="0" destOrd="0" presId="urn:microsoft.com/office/officeart/2005/8/layout/hList1"/>
    <dgm:cxn modelId="{4DA65788-3AF0-4685-984F-0D1DB98F1C05}" srcId="{0313AA79-BB0A-4E8A-8913-1806B9471019}" destId="{F611B463-759C-43C5-A14B-5FDADD369877}" srcOrd="3" destOrd="0" parTransId="{81070157-BC5B-4689-BCC5-580E699D03F2}" sibTransId="{84A9C442-0689-44D8-824C-DF2B85AF00D2}"/>
    <dgm:cxn modelId="{93115689-62B2-43C0-BF81-707C055AB0F1}" type="presOf" srcId="{65DB39A0-ACEE-4E88-B223-D1001B389B96}" destId="{0C4EE437-868B-45A2-907D-1387EF49957E}" srcOrd="0" destOrd="4" presId="urn:microsoft.com/office/officeart/2005/8/layout/hList1"/>
    <dgm:cxn modelId="{446A738F-3B9C-4747-AB14-4361BAB60F32}" type="presOf" srcId="{9564EEC5-CB44-4BFD-947A-E7BF1C1D8CED}" destId="{A033B8F4-B819-4B84-946A-A3E70DCD87FE}" srcOrd="0" destOrd="0" presId="urn:microsoft.com/office/officeart/2005/8/layout/hList1"/>
    <dgm:cxn modelId="{5FD71E90-4868-40B2-A04E-33DBBDC1A677}" type="presOf" srcId="{C8699BD8-8CB1-4074-A3C5-EB1B88657201}" destId="{5FC194EE-9719-4771-A058-8F93C6C29DD5}" srcOrd="0" destOrd="5" presId="urn:microsoft.com/office/officeart/2005/8/layout/hList1"/>
    <dgm:cxn modelId="{80ED0292-89FA-4ED5-B9F0-0448862AEB8A}" type="presOf" srcId="{00C6BB29-D990-4726-A1CA-8DBB816FFDA8}" destId="{F184A28E-8C0B-47A9-B479-DE6F8C3AF102}" srcOrd="0" destOrd="3" presId="urn:microsoft.com/office/officeart/2005/8/layout/hList1"/>
    <dgm:cxn modelId="{B3D84592-4515-4D66-B17A-CD613A82B6CD}" type="presOf" srcId="{B77A0389-7DCF-486B-BB4E-3D7CEAFA3AA7}" destId="{F184A28E-8C0B-47A9-B479-DE6F8C3AF102}" srcOrd="0" destOrd="5" presId="urn:microsoft.com/office/officeart/2005/8/layout/hList1"/>
    <dgm:cxn modelId="{8F94DB99-3883-4D4C-A60C-FE984461F1FA}" type="presOf" srcId="{B81EEDD1-DD4B-4BDA-8586-D9A84E7945C5}" destId="{F184A28E-8C0B-47A9-B479-DE6F8C3AF102}" srcOrd="0" destOrd="9" presId="urn:microsoft.com/office/officeart/2005/8/layout/hList1"/>
    <dgm:cxn modelId="{D64C849D-9B4F-4BD3-8A0F-49A1BC45613B}" srcId="{F611B463-759C-43C5-A14B-5FDADD369877}" destId="{9D557981-C790-4779-9FB9-7EB393565314}" srcOrd="1" destOrd="0" parTransId="{E4742966-9C3C-484F-8C47-512B13F52A57}" sibTransId="{FE6F8DAE-8890-4309-9615-7D43CCEE5419}"/>
    <dgm:cxn modelId="{6D84E7A0-A469-4E6B-BFF3-FF089B211450}" srcId="{F611B463-759C-43C5-A14B-5FDADD369877}" destId="{65DB39A0-ACEE-4E88-B223-D1001B389B96}" srcOrd="4" destOrd="0" parTransId="{F28C5A7D-F2B6-42AC-9035-4EB1565F1E8E}" sibTransId="{2CA653FE-49EF-4877-B1D2-9570F5415AD4}"/>
    <dgm:cxn modelId="{FD0F7DA8-8476-41E7-A8EB-17FBD86DFB36}" srcId="{F85F71B4-4000-4255-A69C-C43CE898AA73}" destId="{6F938E4F-9A9C-4532-8CB2-77186C762947}" srcOrd="1" destOrd="0" parTransId="{E33D6A95-1C65-42B8-A831-83D839BF3A8D}" sibTransId="{248C57AA-41B9-4BD8-BECA-1230E9C7BF06}"/>
    <dgm:cxn modelId="{281E89A9-076A-4D78-8367-D0B6769FF192}" type="presOf" srcId="{8FC48984-8074-4DD4-8350-EF866C3BC7F1}" destId="{0C4EE437-868B-45A2-907D-1387EF49957E}" srcOrd="0" destOrd="3" presId="urn:microsoft.com/office/officeart/2005/8/layout/hList1"/>
    <dgm:cxn modelId="{937F6AAB-C152-4A1F-9D21-74B2A392D69B}" srcId="{2CD0C5FA-E38D-44CB-9416-467E508306A8}" destId="{C887C748-EB96-45F7-952D-0CB4BD040A67}" srcOrd="0" destOrd="0" parTransId="{91447396-F44A-4D1E-87E8-089E8616AB8B}" sibTransId="{F12B136B-D33E-4D8A-BDE8-FE1654A2FD02}"/>
    <dgm:cxn modelId="{81FDDAAC-5B5B-4CDE-8530-65B5DDE0FEA1}" type="presOf" srcId="{C406E474-AA5C-44FB-B8E8-9E33CAA0099B}" destId="{5FC194EE-9719-4771-A058-8F93C6C29DD5}" srcOrd="0" destOrd="4" presId="urn:microsoft.com/office/officeart/2005/8/layout/hList1"/>
    <dgm:cxn modelId="{25140DB0-09B7-439F-ACB9-5EF597BB069C}" type="presOf" srcId="{F85F71B4-4000-4255-A69C-C43CE898AA73}" destId="{F184A28E-8C0B-47A9-B479-DE6F8C3AF102}" srcOrd="0" destOrd="6" presId="urn:microsoft.com/office/officeart/2005/8/layout/hList1"/>
    <dgm:cxn modelId="{025108B1-9B01-43E1-9450-B77FF87A4114}" srcId="{4BE87DEE-F265-4A32-A0A1-7F77C9460623}" destId="{F85F71B4-4000-4255-A69C-C43CE898AA73}" srcOrd="2" destOrd="0" parTransId="{AF47D7A7-2954-4458-B885-41B87DE290C4}" sibTransId="{A123AC19-F667-4408-811C-534999887A2F}"/>
    <dgm:cxn modelId="{AC7D83B4-4117-48EC-A3D1-400CC9D629D7}" type="presOf" srcId="{43412596-D32A-4DFC-87F0-12A357F37160}" destId="{9B2366A0-4D9C-4A9F-8E3C-83B31EF08935}" srcOrd="0" destOrd="0" presId="urn:microsoft.com/office/officeart/2005/8/layout/hList1"/>
    <dgm:cxn modelId="{313163BC-FA7F-4945-B16A-4FBCA4E2E9C9}" srcId="{9564EEC5-CB44-4BFD-947A-E7BF1C1D8CED}" destId="{C7F76801-ECAF-4DBE-A95D-A2AA989F0A06}" srcOrd="0" destOrd="0" parTransId="{DCF5C20D-5497-4557-8A7F-195076AC7F43}" sibTransId="{473ACE8D-539F-4168-AB4E-0C075D0A23D0}"/>
    <dgm:cxn modelId="{830D75BD-9DD2-4899-A95F-C634228D3CC7}" srcId="{0313AA79-BB0A-4E8A-8913-1806B9471019}" destId="{FF0EA4C0-013D-4259-BF2E-32F1230F4EB1}" srcOrd="0" destOrd="0" parTransId="{FF6DC174-8B93-4A3D-9D5A-377105CB127B}" sibTransId="{0C726433-58FB-4F72-917A-CBF8AD1309DD}"/>
    <dgm:cxn modelId="{002735C1-88A1-443D-A907-4A1D6FF55B33}" type="presOf" srcId="{A0A79A1D-B059-4105-AD93-BE38C49A79F8}" destId="{0C4EE437-868B-45A2-907D-1387EF49957E}" srcOrd="0" destOrd="2" presId="urn:microsoft.com/office/officeart/2005/8/layout/hList1"/>
    <dgm:cxn modelId="{2B9060C7-3D0F-48CE-A7FB-222E9701BD40}" type="presOf" srcId="{95ED44EA-2C31-42E0-B71D-A0110A38B5A3}" destId="{5FC194EE-9719-4771-A058-8F93C6C29DD5}" srcOrd="0" destOrd="2" presId="urn:microsoft.com/office/officeart/2005/8/layout/hList1"/>
    <dgm:cxn modelId="{55B066C9-06BE-4544-A686-76D6DC43E146}" type="presOf" srcId="{9D557981-C790-4779-9FB9-7EB393565314}" destId="{0C4EE437-868B-45A2-907D-1387EF49957E}" srcOrd="0" destOrd="1" presId="urn:microsoft.com/office/officeart/2005/8/layout/hList1"/>
    <dgm:cxn modelId="{876128DE-7711-4926-A43A-36162EED746B}" type="presOf" srcId="{6BCDC112-5ED8-4E88-A40F-E2DD2E8C1ED3}" destId="{0C4EE437-868B-45A2-907D-1387EF49957E}" srcOrd="0" destOrd="0" presId="urn:microsoft.com/office/officeart/2005/8/layout/hList1"/>
    <dgm:cxn modelId="{453D42E4-AF2D-4CB5-A356-7B0056B980CF}" type="presOf" srcId="{82D090E8-22F4-4713-8BC4-07345E5E1117}" destId="{F184A28E-8C0B-47A9-B479-DE6F8C3AF102}" srcOrd="0" destOrd="4" presId="urn:microsoft.com/office/officeart/2005/8/layout/hList1"/>
    <dgm:cxn modelId="{7AEC9DE6-50A4-4FFF-A255-243D4F58AEF6}" type="presOf" srcId="{FF0EA4C0-013D-4259-BF2E-32F1230F4EB1}" destId="{DF84AF8E-E784-4B5A-A858-A8DF4E67A20B}" srcOrd="0" destOrd="0" presId="urn:microsoft.com/office/officeart/2005/8/layout/hList1"/>
    <dgm:cxn modelId="{BD4F3EE9-F398-4064-B7CC-96E99F1125C1}" srcId="{4BE87DEE-F265-4A32-A0A1-7F77C9460623}" destId="{2CD0C5FA-E38D-44CB-9416-467E508306A8}" srcOrd="0" destOrd="0" parTransId="{1120C4A4-3C80-4D17-AC27-9C5384AC004D}" sibTransId="{B9ECD56B-0D5D-45CB-92E4-D06AD768E4CE}"/>
    <dgm:cxn modelId="{2220B7EB-6C81-4574-8E0C-8DD45E77869B}" srcId="{00C6BB29-D990-4726-A1CA-8DBB816FFDA8}" destId="{82D090E8-22F4-4713-8BC4-07345E5E1117}" srcOrd="0" destOrd="0" parTransId="{3A383717-F28F-4ACC-8D36-3DC433D226FC}" sibTransId="{6FC754B7-934C-4F23-A430-699CD596C4AE}"/>
    <dgm:cxn modelId="{346253EC-C299-4533-803B-3F5ED35BE6C3}" srcId="{0313AA79-BB0A-4E8A-8913-1806B9471019}" destId="{4BE87DEE-F265-4A32-A0A1-7F77C9460623}" srcOrd="1" destOrd="0" parTransId="{9F8C04E7-4F47-4ACB-A4B9-E20E16041948}" sibTransId="{D1604DF7-3D7F-4845-8032-F5BD0E008F85}"/>
    <dgm:cxn modelId="{BC9630FC-FE21-4C56-8B78-2CDBF794AD2C}" srcId="{0313AA79-BB0A-4E8A-8913-1806B9471019}" destId="{9564EEC5-CB44-4BFD-947A-E7BF1C1D8CED}" srcOrd="2" destOrd="0" parTransId="{73C90A59-70E8-4F4B-8A54-A7341D7D8CF6}" sibTransId="{8768E5D3-F82B-483B-BF2B-56380CE57E00}"/>
    <dgm:cxn modelId="{708DB0FD-76B5-42A6-8364-2E8F1EFB24C2}" type="presOf" srcId="{2D60967E-2A7F-464D-93A0-4CEAB6696E9F}" destId="{0C4EE437-868B-45A2-907D-1387EF49957E}" srcOrd="0" destOrd="5" presId="urn:microsoft.com/office/officeart/2005/8/layout/hList1"/>
    <dgm:cxn modelId="{F72A302A-3C0C-4610-A9E7-39FD9D80AF28}" type="presParOf" srcId="{A81C2076-47D3-4A7A-8738-5E25DC46BD12}" destId="{83AACDB3-7573-4D92-AFF8-3FBF013DA589}" srcOrd="0" destOrd="0" presId="urn:microsoft.com/office/officeart/2005/8/layout/hList1"/>
    <dgm:cxn modelId="{0E07EC63-6B4B-4D68-80A4-973B45CD9F35}" type="presParOf" srcId="{83AACDB3-7573-4D92-AFF8-3FBF013DA589}" destId="{DF84AF8E-E784-4B5A-A858-A8DF4E67A20B}" srcOrd="0" destOrd="0" presId="urn:microsoft.com/office/officeart/2005/8/layout/hList1"/>
    <dgm:cxn modelId="{4DB7DDD0-46C0-4EC1-898C-C7729ECEBA30}" type="presParOf" srcId="{83AACDB3-7573-4D92-AFF8-3FBF013DA589}" destId="{6071D970-E41B-4E82-877C-98F73299255A}" srcOrd="1" destOrd="0" presId="urn:microsoft.com/office/officeart/2005/8/layout/hList1"/>
    <dgm:cxn modelId="{075F237E-DF9B-45F9-82C4-4C74BE7F9489}" type="presParOf" srcId="{A81C2076-47D3-4A7A-8738-5E25DC46BD12}" destId="{02F5438F-F1D7-431C-A9F1-FCB6270967A2}" srcOrd="1" destOrd="0" presId="urn:microsoft.com/office/officeart/2005/8/layout/hList1"/>
    <dgm:cxn modelId="{C7B8B753-3D07-4A73-BCBA-EB9B765DAFD0}" type="presParOf" srcId="{A81C2076-47D3-4A7A-8738-5E25DC46BD12}" destId="{FE6F3C61-96E8-4DCE-B16C-D982675D7FCC}" srcOrd="2" destOrd="0" presId="urn:microsoft.com/office/officeart/2005/8/layout/hList1"/>
    <dgm:cxn modelId="{FB92BE65-863D-47F1-9F93-553154FFBEF6}" type="presParOf" srcId="{FE6F3C61-96E8-4DCE-B16C-D982675D7FCC}" destId="{57ED9E97-18CC-4895-8ED0-F6216341549D}" srcOrd="0" destOrd="0" presId="urn:microsoft.com/office/officeart/2005/8/layout/hList1"/>
    <dgm:cxn modelId="{D7FB3028-AD1E-4D1B-A91B-BEF9522B3B76}" type="presParOf" srcId="{FE6F3C61-96E8-4DCE-B16C-D982675D7FCC}" destId="{F184A28E-8C0B-47A9-B479-DE6F8C3AF102}" srcOrd="1" destOrd="0" presId="urn:microsoft.com/office/officeart/2005/8/layout/hList1"/>
    <dgm:cxn modelId="{8EA29901-667A-4554-AD6E-CAFF7781C657}" type="presParOf" srcId="{A81C2076-47D3-4A7A-8738-5E25DC46BD12}" destId="{00FF873D-DB29-44B2-94C1-784838E02E02}" srcOrd="3" destOrd="0" presId="urn:microsoft.com/office/officeart/2005/8/layout/hList1"/>
    <dgm:cxn modelId="{BE793587-5C36-4D21-9801-A7AD5514FD88}" type="presParOf" srcId="{A81C2076-47D3-4A7A-8738-5E25DC46BD12}" destId="{2A4A44C8-7B95-4F39-AA18-3F306A3516B6}" srcOrd="4" destOrd="0" presId="urn:microsoft.com/office/officeart/2005/8/layout/hList1"/>
    <dgm:cxn modelId="{DAE87D5D-5869-48C0-B6A9-273D6492671E}" type="presParOf" srcId="{2A4A44C8-7B95-4F39-AA18-3F306A3516B6}" destId="{A033B8F4-B819-4B84-946A-A3E70DCD87FE}" srcOrd="0" destOrd="0" presId="urn:microsoft.com/office/officeart/2005/8/layout/hList1"/>
    <dgm:cxn modelId="{1D9E680E-8E8F-4532-ACCB-0281E320B480}" type="presParOf" srcId="{2A4A44C8-7B95-4F39-AA18-3F306A3516B6}" destId="{5FC194EE-9719-4771-A058-8F93C6C29DD5}" srcOrd="1" destOrd="0" presId="urn:microsoft.com/office/officeart/2005/8/layout/hList1"/>
    <dgm:cxn modelId="{0817C5FC-B109-4B65-BB37-4DA98744081E}" type="presParOf" srcId="{A81C2076-47D3-4A7A-8738-5E25DC46BD12}" destId="{FD8AB7BD-8CDB-4541-A42E-43405BB90FF1}" srcOrd="5" destOrd="0" presId="urn:microsoft.com/office/officeart/2005/8/layout/hList1"/>
    <dgm:cxn modelId="{C1B8B0D6-C65A-4568-8880-B06AF0F2C43F}" type="presParOf" srcId="{A81C2076-47D3-4A7A-8738-5E25DC46BD12}" destId="{4AD36B08-0E97-46EE-B34F-CB0B605F97CC}" srcOrd="6" destOrd="0" presId="urn:microsoft.com/office/officeart/2005/8/layout/hList1"/>
    <dgm:cxn modelId="{8409BAB3-3242-45E3-91BD-5E8390BFCA0F}" type="presParOf" srcId="{4AD36B08-0E97-46EE-B34F-CB0B605F97CC}" destId="{7AF519C6-C420-4DAD-B3CD-5FD2C9E408D0}" srcOrd="0" destOrd="0" presId="urn:microsoft.com/office/officeart/2005/8/layout/hList1"/>
    <dgm:cxn modelId="{DC9D5562-3A7D-4C68-B7BC-D9B81B4905FA}" type="presParOf" srcId="{4AD36B08-0E97-46EE-B34F-CB0B605F97CC}" destId="{0C4EE437-868B-45A2-907D-1387EF49957E}" srcOrd="1" destOrd="0" presId="urn:microsoft.com/office/officeart/2005/8/layout/hList1"/>
    <dgm:cxn modelId="{0345D562-B0BA-4A11-B143-95761AA6DF3B}" type="presParOf" srcId="{A81C2076-47D3-4A7A-8738-5E25DC46BD12}" destId="{5A35FD61-4112-497D-879B-51E4EB4EF773}" srcOrd="7" destOrd="0" presId="urn:microsoft.com/office/officeart/2005/8/layout/hList1"/>
    <dgm:cxn modelId="{04C0187A-4281-41A8-816A-A8DCD1AF9868}" type="presParOf" srcId="{A81C2076-47D3-4A7A-8738-5E25DC46BD12}" destId="{84A9F820-833D-4768-8E07-AC3D8E8E5797}" srcOrd="8" destOrd="0" presId="urn:microsoft.com/office/officeart/2005/8/layout/hList1"/>
    <dgm:cxn modelId="{789DAEC7-6B99-46AF-BAA8-C7EDC298D631}" type="presParOf" srcId="{84A9F820-833D-4768-8E07-AC3D8E8E5797}" destId="{74FA2D48-0091-4D23-8746-F4C01B8BB5D2}" srcOrd="0" destOrd="0" presId="urn:microsoft.com/office/officeart/2005/8/layout/hList1"/>
    <dgm:cxn modelId="{9D6C228E-AB3C-4E77-AAC8-F52379BD70AC}" type="presParOf" srcId="{84A9F820-833D-4768-8E07-AC3D8E8E5797}" destId="{9B2366A0-4D9C-4A9F-8E3C-83B31EF0893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B7F524A-9F77-47B8-A883-67CAEC9E3FDC}"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6880F8E6-258C-4AEB-B5A0-FD4422A6D9AA}">
      <dgm:prSet/>
      <dgm:spPr/>
      <dgm:t>
        <a:bodyPr/>
        <a:lstStyle/>
        <a:p>
          <a:r>
            <a:rPr lang="en-US" dirty="0"/>
            <a:t>Accuracy — Overall Correctness</a:t>
          </a:r>
        </a:p>
      </dgm:t>
    </dgm:pt>
    <dgm:pt modelId="{029424CD-7DA1-45BC-A14C-89CE34ACE82A}" type="parTrans" cxnId="{C80859AF-C750-44BE-A034-DF43E83ECF82}">
      <dgm:prSet/>
      <dgm:spPr/>
      <dgm:t>
        <a:bodyPr/>
        <a:lstStyle/>
        <a:p>
          <a:endParaRPr lang="en-US"/>
        </a:p>
      </dgm:t>
    </dgm:pt>
    <dgm:pt modelId="{DE63917F-BBB9-4076-847E-C561ABEE4CB3}" type="sibTrans" cxnId="{C80859AF-C750-44BE-A034-DF43E83ECF82}">
      <dgm:prSet/>
      <dgm:spPr/>
      <dgm:t>
        <a:bodyPr/>
        <a:lstStyle/>
        <a:p>
          <a:endParaRPr lang="en-US"/>
        </a:p>
      </dgm:t>
    </dgm:pt>
    <dgm:pt modelId="{ADE37CA5-AC44-4128-98EA-82E39675C923}">
      <dgm:prSet/>
      <dgm:spPr/>
      <dgm:t>
        <a:bodyPr/>
        <a:lstStyle/>
        <a:p>
          <a:r>
            <a:rPr lang="en-US" dirty="0"/>
            <a:t>What it means: How often the model is right.</a:t>
          </a:r>
        </a:p>
      </dgm:t>
    </dgm:pt>
    <dgm:pt modelId="{18697F1E-BC76-4E04-8865-5003FC0B0BA8}" type="parTrans" cxnId="{C62685BC-DBEE-495B-BCC4-361FECDF2FC1}">
      <dgm:prSet/>
      <dgm:spPr/>
      <dgm:t>
        <a:bodyPr/>
        <a:lstStyle/>
        <a:p>
          <a:endParaRPr lang="en-US"/>
        </a:p>
      </dgm:t>
    </dgm:pt>
    <dgm:pt modelId="{67E9E189-8701-414C-934B-021FCA7CFCEF}" type="sibTrans" cxnId="{C62685BC-DBEE-495B-BCC4-361FECDF2FC1}">
      <dgm:prSet/>
      <dgm:spPr/>
      <dgm:t>
        <a:bodyPr/>
        <a:lstStyle/>
        <a:p>
          <a:endParaRPr lang="en-US"/>
        </a:p>
      </dgm:t>
    </dgm:pt>
    <dgm:pt modelId="{FF688DED-9BFC-4D50-A3FD-692D64FE323C}">
      <dgm:prSet/>
      <dgm:spPr/>
      <dgm:t>
        <a:bodyPr/>
        <a:lstStyle/>
        <a:p>
          <a:r>
            <a:rPr lang="en-US"/>
            <a:t>Precision — Correct High‑Salary Predictions</a:t>
          </a:r>
        </a:p>
      </dgm:t>
    </dgm:pt>
    <dgm:pt modelId="{5622FD15-51BC-4D48-BCED-615E3AE04AEE}" type="parTrans" cxnId="{04A8A2B6-4ADC-4037-B31B-70087F61C5CE}">
      <dgm:prSet/>
      <dgm:spPr/>
      <dgm:t>
        <a:bodyPr/>
        <a:lstStyle/>
        <a:p>
          <a:endParaRPr lang="en-US"/>
        </a:p>
      </dgm:t>
    </dgm:pt>
    <dgm:pt modelId="{1F05BCDA-CA5F-4BC9-8514-4E696551A8AA}" type="sibTrans" cxnId="{04A8A2B6-4ADC-4037-B31B-70087F61C5CE}">
      <dgm:prSet/>
      <dgm:spPr/>
      <dgm:t>
        <a:bodyPr/>
        <a:lstStyle/>
        <a:p>
          <a:endParaRPr lang="en-US"/>
        </a:p>
      </dgm:t>
    </dgm:pt>
    <dgm:pt modelId="{022B8491-1D96-4673-A4EE-CFEC95D26909}">
      <dgm:prSet/>
      <dgm:spPr/>
      <dgm:t>
        <a:bodyPr/>
        <a:lstStyle/>
        <a:p>
          <a:r>
            <a:rPr lang="en-US" dirty="0"/>
            <a:t>What it means: When the model predicts “above median,” how often it’s correct.</a:t>
          </a:r>
        </a:p>
      </dgm:t>
    </dgm:pt>
    <dgm:pt modelId="{4904C33B-1CB3-4BA8-8709-5DE5F2111EE3}" type="parTrans" cxnId="{294CC6F5-53E3-406D-B744-38DCE54F8469}">
      <dgm:prSet/>
      <dgm:spPr/>
      <dgm:t>
        <a:bodyPr/>
        <a:lstStyle/>
        <a:p>
          <a:endParaRPr lang="en-US"/>
        </a:p>
      </dgm:t>
    </dgm:pt>
    <dgm:pt modelId="{2CF81DB6-78BA-4DA6-ABCC-CFE00DEED0DA}" type="sibTrans" cxnId="{294CC6F5-53E3-406D-B744-38DCE54F8469}">
      <dgm:prSet/>
      <dgm:spPr/>
      <dgm:t>
        <a:bodyPr/>
        <a:lstStyle/>
        <a:p>
          <a:endParaRPr lang="en-US"/>
        </a:p>
      </dgm:t>
    </dgm:pt>
    <dgm:pt modelId="{C0F9D54E-CEB6-4347-B3FC-FE5B7CE2606D}">
      <dgm:prSet/>
      <dgm:spPr/>
      <dgm:t>
        <a:bodyPr/>
        <a:lstStyle/>
        <a:p>
          <a:r>
            <a:rPr lang="en-US"/>
            <a:t>Recall — Ability to Find High Earners</a:t>
          </a:r>
        </a:p>
      </dgm:t>
    </dgm:pt>
    <dgm:pt modelId="{178A835F-7D58-4F3E-B117-B82ADAA45D8B}" type="parTrans" cxnId="{33EDB931-A8C3-467D-B5BE-C1CFE2E99DA4}">
      <dgm:prSet/>
      <dgm:spPr/>
      <dgm:t>
        <a:bodyPr/>
        <a:lstStyle/>
        <a:p>
          <a:endParaRPr lang="en-US"/>
        </a:p>
      </dgm:t>
    </dgm:pt>
    <dgm:pt modelId="{E9E60D7C-8449-45A1-84DA-3849AC290DB4}" type="sibTrans" cxnId="{33EDB931-A8C3-467D-B5BE-C1CFE2E99DA4}">
      <dgm:prSet/>
      <dgm:spPr/>
      <dgm:t>
        <a:bodyPr/>
        <a:lstStyle/>
        <a:p>
          <a:endParaRPr lang="en-US"/>
        </a:p>
      </dgm:t>
    </dgm:pt>
    <dgm:pt modelId="{1E179F63-2BD5-4912-9173-B9DD9D845A9D}">
      <dgm:prSet/>
      <dgm:spPr/>
      <dgm:t>
        <a:bodyPr/>
        <a:lstStyle/>
        <a:p>
          <a:r>
            <a:rPr lang="en-US" dirty="0"/>
            <a:t>What it means: How many real above‑median earners the model successfully identifies.</a:t>
          </a:r>
        </a:p>
      </dgm:t>
    </dgm:pt>
    <dgm:pt modelId="{779050EE-EB8D-4754-9527-0F46EAFDF3B8}" type="parTrans" cxnId="{EC507338-50BC-4494-9015-536701E48271}">
      <dgm:prSet/>
      <dgm:spPr/>
      <dgm:t>
        <a:bodyPr/>
        <a:lstStyle/>
        <a:p>
          <a:endParaRPr lang="en-US"/>
        </a:p>
      </dgm:t>
    </dgm:pt>
    <dgm:pt modelId="{CF9E7D8A-EC5F-4F27-8E88-DE6807396A70}" type="sibTrans" cxnId="{EC507338-50BC-4494-9015-536701E48271}">
      <dgm:prSet/>
      <dgm:spPr/>
      <dgm:t>
        <a:bodyPr/>
        <a:lstStyle/>
        <a:p>
          <a:endParaRPr lang="en-US"/>
        </a:p>
      </dgm:t>
    </dgm:pt>
    <dgm:pt modelId="{47EC245A-27DE-440A-B41C-871090767737}">
      <dgm:prSet/>
      <dgm:spPr/>
      <dgm:t>
        <a:bodyPr/>
        <a:lstStyle/>
        <a:p>
          <a:r>
            <a:rPr lang="en-US"/>
            <a:t>F1 Score — Balanced Quality</a:t>
          </a:r>
        </a:p>
      </dgm:t>
    </dgm:pt>
    <dgm:pt modelId="{554DE01E-966A-4014-AD4D-9DA1F5BF2C13}" type="parTrans" cxnId="{19E50B65-6515-4157-9A3E-32C7D03D3079}">
      <dgm:prSet/>
      <dgm:spPr/>
      <dgm:t>
        <a:bodyPr/>
        <a:lstStyle/>
        <a:p>
          <a:endParaRPr lang="en-US"/>
        </a:p>
      </dgm:t>
    </dgm:pt>
    <dgm:pt modelId="{DC5FD8BF-216D-46C1-B432-93329D6544FD}" type="sibTrans" cxnId="{19E50B65-6515-4157-9A3E-32C7D03D3079}">
      <dgm:prSet/>
      <dgm:spPr/>
      <dgm:t>
        <a:bodyPr/>
        <a:lstStyle/>
        <a:p>
          <a:endParaRPr lang="en-US"/>
        </a:p>
      </dgm:t>
    </dgm:pt>
    <dgm:pt modelId="{54BD8791-1DFD-4A46-A429-D72FE71C3BA9}">
      <dgm:prSet/>
      <dgm:spPr/>
      <dgm:t>
        <a:bodyPr/>
        <a:lstStyle/>
        <a:p>
          <a:r>
            <a:rPr lang="en-US" dirty="0"/>
            <a:t>What it means: A balance of precision and recall — useful when classes differ.</a:t>
          </a:r>
        </a:p>
      </dgm:t>
    </dgm:pt>
    <dgm:pt modelId="{E782C3EE-C5C7-4516-8D43-1FB50FA3F0AF}" type="parTrans" cxnId="{FF97DD07-3CFB-41E4-9556-AB7D0097772F}">
      <dgm:prSet/>
      <dgm:spPr/>
      <dgm:t>
        <a:bodyPr/>
        <a:lstStyle/>
        <a:p>
          <a:endParaRPr lang="en-US"/>
        </a:p>
      </dgm:t>
    </dgm:pt>
    <dgm:pt modelId="{AF35D644-F9B5-42DA-8D88-46A7574CFF60}" type="sibTrans" cxnId="{FF97DD07-3CFB-41E4-9556-AB7D0097772F}">
      <dgm:prSet/>
      <dgm:spPr/>
      <dgm:t>
        <a:bodyPr/>
        <a:lstStyle/>
        <a:p>
          <a:endParaRPr lang="en-US"/>
        </a:p>
      </dgm:t>
    </dgm:pt>
    <dgm:pt modelId="{399CA723-A621-4BAF-A7AA-2A7B96B07D66}">
      <dgm:prSet/>
      <dgm:spPr/>
      <dgm:t>
        <a:bodyPr/>
        <a:lstStyle/>
        <a:p>
          <a:r>
            <a:rPr lang="en-US"/>
            <a:t>ROC‑AUC — Separation Strength</a:t>
          </a:r>
        </a:p>
      </dgm:t>
    </dgm:pt>
    <dgm:pt modelId="{BA13D214-1D7B-48B6-B336-F75DAF250763}" type="parTrans" cxnId="{AB804443-7665-471E-8164-14F6AE274B11}">
      <dgm:prSet/>
      <dgm:spPr/>
      <dgm:t>
        <a:bodyPr/>
        <a:lstStyle/>
        <a:p>
          <a:endParaRPr lang="en-US"/>
        </a:p>
      </dgm:t>
    </dgm:pt>
    <dgm:pt modelId="{2D503D78-72CA-498B-AD3F-9BA043CB76D1}" type="sibTrans" cxnId="{AB804443-7665-471E-8164-14F6AE274B11}">
      <dgm:prSet/>
      <dgm:spPr/>
      <dgm:t>
        <a:bodyPr/>
        <a:lstStyle/>
        <a:p>
          <a:endParaRPr lang="en-US"/>
        </a:p>
      </dgm:t>
    </dgm:pt>
    <dgm:pt modelId="{C041760D-DEF7-4077-A045-A9462BFA3B68}">
      <dgm:prSet/>
      <dgm:spPr/>
      <dgm:t>
        <a:bodyPr/>
        <a:lstStyle/>
        <a:p>
          <a:r>
            <a:rPr lang="en-US" dirty="0"/>
            <a:t>What it means: How well the model distinguishes between high and low earners.</a:t>
          </a:r>
        </a:p>
      </dgm:t>
    </dgm:pt>
    <dgm:pt modelId="{F3493DE9-0EDE-4BA2-98BA-271E02D7A631}" type="parTrans" cxnId="{B832EBE9-19BF-4331-9EAF-6BCBD9C77E1F}">
      <dgm:prSet/>
      <dgm:spPr/>
      <dgm:t>
        <a:bodyPr/>
        <a:lstStyle/>
        <a:p>
          <a:endParaRPr lang="en-US"/>
        </a:p>
      </dgm:t>
    </dgm:pt>
    <dgm:pt modelId="{6B793891-C1D9-4422-9E5F-EED5ACB4F048}" type="sibTrans" cxnId="{B832EBE9-19BF-4331-9EAF-6BCBD9C77E1F}">
      <dgm:prSet/>
      <dgm:spPr/>
      <dgm:t>
        <a:bodyPr/>
        <a:lstStyle/>
        <a:p>
          <a:endParaRPr lang="en-US"/>
        </a:p>
      </dgm:t>
    </dgm:pt>
    <dgm:pt modelId="{9B607B15-9702-4FFF-8FC2-8ACA3482370F}">
      <dgm:prSet/>
      <dgm:spPr/>
      <dgm:t>
        <a:bodyPr/>
        <a:lstStyle/>
        <a:p>
          <a:r>
            <a:rPr lang="en-US" dirty="0" err="1"/>
            <a:t>Iinitial</a:t>
          </a:r>
          <a:r>
            <a:rPr lang="en-US" dirty="0"/>
            <a:t> most important metric for this project because it measures how well the model separates above‑median vs. below‑median earners.</a:t>
          </a:r>
        </a:p>
      </dgm:t>
    </dgm:pt>
    <dgm:pt modelId="{69E3447D-6131-4324-BC6E-5A49CE1361D4}" type="parTrans" cxnId="{D5EC0E57-E797-4706-9EAC-AF45FE4918A2}">
      <dgm:prSet/>
      <dgm:spPr/>
      <dgm:t>
        <a:bodyPr/>
        <a:lstStyle/>
        <a:p>
          <a:endParaRPr lang="en-US"/>
        </a:p>
      </dgm:t>
    </dgm:pt>
    <dgm:pt modelId="{F45A669A-93FE-4691-9649-095D88117DFD}" type="sibTrans" cxnId="{D5EC0E57-E797-4706-9EAC-AF45FE4918A2}">
      <dgm:prSet/>
      <dgm:spPr/>
      <dgm:t>
        <a:bodyPr/>
        <a:lstStyle/>
        <a:p>
          <a:endParaRPr lang="en-US"/>
        </a:p>
      </dgm:t>
    </dgm:pt>
    <dgm:pt modelId="{0C246875-05E2-425C-8ED3-DA65DBCE755D}" type="pres">
      <dgm:prSet presAssocID="{5B7F524A-9F77-47B8-A883-67CAEC9E3FDC}" presName="Name0" presStyleCnt="0">
        <dgm:presLayoutVars>
          <dgm:dir/>
          <dgm:animLvl val="lvl"/>
          <dgm:resizeHandles val="exact"/>
        </dgm:presLayoutVars>
      </dgm:prSet>
      <dgm:spPr/>
    </dgm:pt>
    <dgm:pt modelId="{FBCF2780-40A3-4214-926C-5DF872653C29}" type="pres">
      <dgm:prSet presAssocID="{6880F8E6-258C-4AEB-B5A0-FD4422A6D9AA}" presName="linNode" presStyleCnt="0"/>
      <dgm:spPr/>
    </dgm:pt>
    <dgm:pt modelId="{F8C9416E-F109-478C-BF1B-80DCEABD4018}" type="pres">
      <dgm:prSet presAssocID="{6880F8E6-258C-4AEB-B5A0-FD4422A6D9AA}" presName="parentText" presStyleLbl="node1" presStyleIdx="0" presStyleCnt="5">
        <dgm:presLayoutVars>
          <dgm:chMax val="1"/>
          <dgm:bulletEnabled val="1"/>
        </dgm:presLayoutVars>
      </dgm:prSet>
      <dgm:spPr/>
    </dgm:pt>
    <dgm:pt modelId="{349C2FC2-0AE0-4D5F-A9C4-533052DC51D9}" type="pres">
      <dgm:prSet presAssocID="{6880F8E6-258C-4AEB-B5A0-FD4422A6D9AA}" presName="descendantText" presStyleLbl="alignAccFollowNode1" presStyleIdx="0" presStyleCnt="5">
        <dgm:presLayoutVars>
          <dgm:bulletEnabled val="1"/>
        </dgm:presLayoutVars>
      </dgm:prSet>
      <dgm:spPr/>
    </dgm:pt>
    <dgm:pt modelId="{0BE27786-359D-4F5F-BD8D-C91E8F7BCDA2}" type="pres">
      <dgm:prSet presAssocID="{DE63917F-BBB9-4076-847E-C561ABEE4CB3}" presName="sp" presStyleCnt="0"/>
      <dgm:spPr/>
    </dgm:pt>
    <dgm:pt modelId="{375C987B-4E33-4601-B06C-BBBE0129BBC7}" type="pres">
      <dgm:prSet presAssocID="{FF688DED-9BFC-4D50-A3FD-692D64FE323C}" presName="linNode" presStyleCnt="0"/>
      <dgm:spPr/>
    </dgm:pt>
    <dgm:pt modelId="{89A3C0D5-15A2-47DF-9043-EACA5BBBA97F}" type="pres">
      <dgm:prSet presAssocID="{FF688DED-9BFC-4D50-A3FD-692D64FE323C}" presName="parentText" presStyleLbl="node1" presStyleIdx="1" presStyleCnt="5">
        <dgm:presLayoutVars>
          <dgm:chMax val="1"/>
          <dgm:bulletEnabled val="1"/>
        </dgm:presLayoutVars>
      </dgm:prSet>
      <dgm:spPr/>
    </dgm:pt>
    <dgm:pt modelId="{FFD111F6-CD45-4571-84D2-8C252B415022}" type="pres">
      <dgm:prSet presAssocID="{FF688DED-9BFC-4D50-A3FD-692D64FE323C}" presName="descendantText" presStyleLbl="alignAccFollowNode1" presStyleIdx="1" presStyleCnt="5">
        <dgm:presLayoutVars>
          <dgm:bulletEnabled val="1"/>
        </dgm:presLayoutVars>
      </dgm:prSet>
      <dgm:spPr/>
    </dgm:pt>
    <dgm:pt modelId="{7979F95B-F0B8-4DC7-AB6E-03CF683EFFBB}" type="pres">
      <dgm:prSet presAssocID="{1F05BCDA-CA5F-4BC9-8514-4E696551A8AA}" presName="sp" presStyleCnt="0"/>
      <dgm:spPr/>
    </dgm:pt>
    <dgm:pt modelId="{99445B4F-654A-43FB-8DAB-23463C265E76}" type="pres">
      <dgm:prSet presAssocID="{C0F9D54E-CEB6-4347-B3FC-FE5B7CE2606D}" presName="linNode" presStyleCnt="0"/>
      <dgm:spPr/>
    </dgm:pt>
    <dgm:pt modelId="{4F972F32-60DA-4D4F-8653-CBF028FB15A9}" type="pres">
      <dgm:prSet presAssocID="{C0F9D54E-CEB6-4347-B3FC-FE5B7CE2606D}" presName="parentText" presStyleLbl="node1" presStyleIdx="2" presStyleCnt="5">
        <dgm:presLayoutVars>
          <dgm:chMax val="1"/>
          <dgm:bulletEnabled val="1"/>
        </dgm:presLayoutVars>
      </dgm:prSet>
      <dgm:spPr/>
    </dgm:pt>
    <dgm:pt modelId="{EA8E1673-047E-4307-B9F8-68797B0D4437}" type="pres">
      <dgm:prSet presAssocID="{C0F9D54E-CEB6-4347-B3FC-FE5B7CE2606D}" presName="descendantText" presStyleLbl="alignAccFollowNode1" presStyleIdx="2" presStyleCnt="5">
        <dgm:presLayoutVars>
          <dgm:bulletEnabled val="1"/>
        </dgm:presLayoutVars>
      </dgm:prSet>
      <dgm:spPr/>
    </dgm:pt>
    <dgm:pt modelId="{23A50E49-5FB0-4D0E-B516-696273312E93}" type="pres">
      <dgm:prSet presAssocID="{E9E60D7C-8449-45A1-84DA-3849AC290DB4}" presName="sp" presStyleCnt="0"/>
      <dgm:spPr/>
    </dgm:pt>
    <dgm:pt modelId="{11EFF67A-56FA-4F52-A73D-6DCBFAC2D21E}" type="pres">
      <dgm:prSet presAssocID="{47EC245A-27DE-440A-B41C-871090767737}" presName="linNode" presStyleCnt="0"/>
      <dgm:spPr/>
    </dgm:pt>
    <dgm:pt modelId="{D638D3D3-7C34-42F2-9FAE-43B48C722B38}" type="pres">
      <dgm:prSet presAssocID="{47EC245A-27DE-440A-B41C-871090767737}" presName="parentText" presStyleLbl="node1" presStyleIdx="3" presStyleCnt="5">
        <dgm:presLayoutVars>
          <dgm:chMax val="1"/>
          <dgm:bulletEnabled val="1"/>
        </dgm:presLayoutVars>
      </dgm:prSet>
      <dgm:spPr/>
    </dgm:pt>
    <dgm:pt modelId="{69038075-0847-4A52-90CF-CBA5115D640A}" type="pres">
      <dgm:prSet presAssocID="{47EC245A-27DE-440A-B41C-871090767737}" presName="descendantText" presStyleLbl="alignAccFollowNode1" presStyleIdx="3" presStyleCnt="5">
        <dgm:presLayoutVars>
          <dgm:bulletEnabled val="1"/>
        </dgm:presLayoutVars>
      </dgm:prSet>
      <dgm:spPr/>
    </dgm:pt>
    <dgm:pt modelId="{F57CEA57-4560-4A51-84CD-62A09D920DB4}" type="pres">
      <dgm:prSet presAssocID="{DC5FD8BF-216D-46C1-B432-93329D6544FD}" presName="sp" presStyleCnt="0"/>
      <dgm:spPr/>
    </dgm:pt>
    <dgm:pt modelId="{541F7B12-D197-4D06-A771-F2B633BA5F8B}" type="pres">
      <dgm:prSet presAssocID="{399CA723-A621-4BAF-A7AA-2A7B96B07D66}" presName="linNode" presStyleCnt="0"/>
      <dgm:spPr/>
    </dgm:pt>
    <dgm:pt modelId="{F67E16C6-0EB6-473B-805C-65E24BF3186E}" type="pres">
      <dgm:prSet presAssocID="{399CA723-A621-4BAF-A7AA-2A7B96B07D66}" presName="parentText" presStyleLbl="node1" presStyleIdx="4" presStyleCnt="5">
        <dgm:presLayoutVars>
          <dgm:chMax val="1"/>
          <dgm:bulletEnabled val="1"/>
        </dgm:presLayoutVars>
      </dgm:prSet>
      <dgm:spPr/>
    </dgm:pt>
    <dgm:pt modelId="{9DA55583-A496-4164-A29E-156D9D94B3CB}" type="pres">
      <dgm:prSet presAssocID="{399CA723-A621-4BAF-A7AA-2A7B96B07D66}" presName="descendantText" presStyleLbl="alignAccFollowNode1" presStyleIdx="4" presStyleCnt="5">
        <dgm:presLayoutVars>
          <dgm:bulletEnabled val="1"/>
        </dgm:presLayoutVars>
      </dgm:prSet>
      <dgm:spPr/>
    </dgm:pt>
  </dgm:ptLst>
  <dgm:cxnLst>
    <dgm:cxn modelId="{8453A804-0288-42EA-B242-CCC22029174F}" type="presOf" srcId="{47EC245A-27DE-440A-B41C-871090767737}" destId="{D638D3D3-7C34-42F2-9FAE-43B48C722B38}" srcOrd="0" destOrd="0" presId="urn:microsoft.com/office/officeart/2005/8/layout/vList5"/>
    <dgm:cxn modelId="{FF97DD07-3CFB-41E4-9556-AB7D0097772F}" srcId="{47EC245A-27DE-440A-B41C-871090767737}" destId="{54BD8791-1DFD-4A46-A429-D72FE71C3BA9}" srcOrd="0" destOrd="0" parTransId="{E782C3EE-C5C7-4516-8D43-1FB50FA3F0AF}" sibTransId="{AF35D644-F9B5-42DA-8D88-46A7574CFF60}"/>
    <dgm:cxn modelId="{A048D820-5F9C-44A0-9A99-B867E7DE2A3A}" type="presOf" srcId="{399CA723-A621-4BAF-A7AA-2A7B96B07D66}" destId="{F67E16C6-0EB6-473B-805C-65E24BF3186E}" srcOrd="0" destOrd="0" presId="urn:microsoft.com/office/officeart/2005/8/layout/vList5"/>
    <dgm:cxn modelId="{A65A932F-3DA1-4382-A30E-97DEDA14E173}" type="presOf" srcId="{6880F8E6-258C-4AEB-B5A0-FD4422A6D9AA}" destId="{F8C9416E-F109-478C-BF1B-80DCEABD4018}" srcOrd="0" destOrd="0" presId="urn:microsoft.com/office/officeart/2005/8/layout/vList5"/>
    <dgm:cxn modelId="{33EDB931-A8C3-467D-B5BE-C1CFE2E99DA4}" srcId="{5B7F524A-9F77-47B8-A883-67CAEC9E3FDC}" destId="{C0F9D54E-CEB6-4347-B3FC-FE5B7CE2606D}" srcOrd="2" destOrd="0" parTransId="{178A835F-7D58-4F3E-B117-B82ADAA45D8B}" sibTransId="{E9E60D7C-8449-45A1-84DA-3849AC290DB4}"/>
    <dgm:cxn modelId="{EC507338-50BC-4494-9015-536701E48271}" srcId="{C0F9D54E-CEB6-4347-B3FC-FE5B7CE2606D}" destId="{1E179F63-2BD5-4912-9173-B9DD9D845A9D}" srcOrd="0" destOrd="0" parTransId="{779050EE-EB8D-4754-9527-0F46EAFDF3B8}" sibTransId="{CF9E7D8A-EC5F-4F27-8E88-DE6807396A70}"/>
    <dgm:cxn modelId="{78831041-A714-436B-B1BE-DD6E2166065E}" type="presOf" srcId="{C041760D-DEF7-4077-A045-A9462BFA3B68}" destId="{9DA55583-A496-4164-A29E-156D9D94B3CB}" srcOrd="0" destOrd="0" presId="urn:microsoft.com/office/officeart/2005/8/layout/vList5"/>
    <dgm:cxn modelId="{AB804443-7665-471E-8164-14F6AE274B11}" srcId="{5B7F524A-9F77-47B8-A883-67CAEC9E3FDC}" destId="{399CA723-A621-4BAF-A7AA-2A7B96B07D66}" srcOrd="4" destOrd="0" parTransId="{BA13D214-1D7B-48B6-B336-F75DAF250763}" sibTransId="{2D503D78-72CA-498B-AD3F-9BA043CB76D1}"/>
    <dgm:cxn modelId="{F903D964-7691-4C16-932F-E57E76236AF5}" type="presOf" srcId="{5B7F524A-9F77-47B8-A883-67CAEC9E3FDC}" destId="{0C246875-05E2-425C-8ED3-DA65DBCE755D}" srcOrd="0" destOrd="0" presId="urn:microsoft.com/office/officeart/2005/8/layout/vList5"/>
    <dgm:cxn modelId="{19E50B65-6515-4157-9A3E-32C7D03D3079}" srcId="{5B7F524A-9F77-47B8-A883-67CAEC9E3FDC}" destId="{47EC245A-27DE-440A-B41C-871090767737}" srcOrd="3" destOrd="0" parTransId="{554DE01E-966A-4014-AD4D-9DA1F5BF2C13}" sibTransId="{DC5FD8BF-216D-46C1-B432-93329D6544FD}"/>
    <dgm:cxn modelId="{D5EC0E57-E797-4706-9EAC-AF45FE4918A2}" srcId="{399CA723-A621-4BAF-A7AA-2A7B96B07D66}" destId="{9B607B15-9702-4FFF-8FC2-8ACA3482370F}" srcOrd="1" destOrd="0" parTransId="{69E3447D-6131-4324-BC6E-5A49CE1361D4}" sibTransId="{F45A669A-93FE-4691-9649-095D88117DFD}"/>
    <dgm:cxn modelId="{76291A7C-F168-480D-9D90-93A5FDA21576}" type="presOf" srcId="{1E179F63-2BD5-4912-9173-B9DD9D845A9D}" destId="{EA8E1673-047E-4307-B9F8-68797B0D4437}" srcOrd="0" destOrd="0" presId="urn:microsoft.com/office/officeart/2005/8/layout/vList5"/>
    <dgm:cxn modelId="{DD436886-E4E8-4E1E-A25F-D3E9DA11C856}" type="presOf" srcId="{54BD8791-1DFD-4A46-A429-D72FE71C3BA9}" destId="{69038075-0847-4A52-90CF-CBA5115D640A}" srcOrd="0" destOrd="0" presId="urn:microsoft.com/office/officeart/2005/8/layout/vList5"/>
    <dgm:cxn modelId="{D34FDC89-261B-49D1-9807-A2294B61B2E2}" type="presOf" srcId="{ADE37CA5-AC44-4128-98EA-82E39675C923}" destId="{349C2FC2-0AE0-4D5F-A9C4-533052DC51D9}" srcOrd="0" destOrd="0" presId="urn:microsoft.com/office/officeart/2005/8/layout/vList5"/>
    <dgm:cxn modelId="{052988A6-5FC1-4C4F-8854-6C0067EF07BE}" type="presOf" srcId="{022B8491-1D96-4673-A4EE-CFEC95D26909}" destId="{FFD111F6-CD45-4571-84D2-8C252B415022}" srcOrd="0" destOrd="0" presId="urn:microsoft.com/office/officeart/2005/8/layout/vList5"/>
    <dgm:cxn modelId="{C80859AF-C750-44BE-A034-DF43E83ECF82}" srcId="{5B7F524A-9F77-47B8-A883-67CAEC9E3FDC}" destId="{6880F8E6-258C-4AEB-B5A0-FD4422A6D9AA}" srcOrd="0" destOrd="0" parTransId="{029424CD-7DA1-45BC-A14C-89CE34ACE82A}" sibTransId="{DE63917F-BBB9-4076-847E-C561ABEE4CB3}"/>
    <dgm:cxn modelId="{04A8A2B6-4ADC-4037-B31B-70087F61C5CE}" srcId="{5B7F524A-9F77-47B8-A883-67CAEC9E3FDC}" destId="{FF688DED-9BFC-4D50-A3FD-692D64FE323C}" srcOrd="1" destOrd="0" parTransId="{5622FD15-51BC-4D48-BCED-615E3AE04AEE}" sibTransId="{1F05BCDA-CA5F-4BC9-8514-4E696551A8AA}"/>
    <dgm:cxn modelId="{C62685BC-DBEE-495B-BCC4-361FECDF2FC1}" srcId="{6880F8E6-258C-4AEB-B5A0-FD4422A6D9AA}" destId="{ADE37CA5-AC44-4128-98EA-82E39675C923}" srcOrd="0" destOrd="0" parTransId="{18697F1E-BC76-4E04-8865-5003FC0B0BA8}" sibTransId="{67E9E189-8701-414C-934B-021FCA7CFCEF}"/>
    <dgm:cxn modelId="{2C1338E8-37C2-402F-928B-6D91D08DA556}" type="presOf" srcId="{FF688DED-9BFC-4D50-A3FD-692D64FE323C}" destId="{89A3C0D5-15A2-47DF-9043-EACA5BBBA97F}" srcOrd="0" destOrd="0" presId="urn:microsoft.com/office/officeart/2005/8/layout/vList5"/>
    <dgm:cxn modelId="{B832EBE9-19BF-4331-9EAF-6BCBD9C77E1F}" srcId="{399CA723-A621-4BAF-A7AA-2A7B96B07D66}" destId="{C041760D-DEF7-4077-A045-A9462BFA3B68}" srcOrd="0" destOrd="0" parTransId="{F3493DE9-0EDE-4BA2-98BA-271E02D7A631}" sibTransId="{6B793891-C1D9-4422-9E5F-EED5ACB4F048}"/>
    <dgm:cxn modelId="{67CD7AEB-894A-4ED9-AE80-BF5FEF1493DD}" type="presOf" srcId="{C0F9D54E-CEB6-4347-B3FC-FE5B7CE2606D}" destId="{4F972F32-60DA-4D4F-8653-CBF028FB15A9}" srcOrd="0" destOrd="0" presId="urn:microsoft.com/office/officeart/2005/8/layout/vList5"/>
    <dgm:cxn modelId="{02267EEF-AACD-489A-9962-D036F0070A7F}" type="presOf" srcId="{9B607B15-9702-4FFF-8FC2-8ACA3482370F}" destId="{9DA55583-A496-4164-A29E-156D9D94B3CB}" srcOrd="0" destOrd="1" presId="urn:microsoft.com/office/officeart/2005/8/layout/vList5"/>
    <dgm:cxn modelId="{294CC6F5-53E3-406D-B744-38DCE54F8469}" srcId="{FF688DED-9BFC-4D50-A3FD-692D64FE323C}" destId="{022B8491-1D96-4673-A4EE-CFEC95D26909}" srcOrd="0" destOrd="0" parTransId="{4904C33B-1CB3-4BA8-8709-5DE5F2111EE3}" sibTransId="{2CF81DB6-78BA-4DA6-ABCC-CFE00DEED0DA}"/>
    <dgm:cxn modelId="{0A9DAF0D-E770-4302-9FD8-CB100923C3CA}" type="presParOf" srcId="{0C246875-05E2-425C-8ED3-DA65DBCE755D}" destId="{FBCF2780-40A3-4214-926C-5DF872653C29}" srcOrd="0" destOrd="0" presId="urn:microsoft.com/office/officeart/2005/8/layout/vList5"/>
    <dgm:cxn modelId="{8A9A1C72-A706-4596-B185-E99A5088818A}" type="presParOf" srcId="{FBCF2780-40A3-4214-926C-5DF872653C29}" destId="{F8C9416E-F109-478C-BF1B-80DCEABD4018}" srcOrd="0" destOrd="0" presId="urn:microsoft.com/office/officeart/2005/8/layout/vList5"/>
    <dgm:cxn modelId="{848E1618-DF76-4134-846D-E802B3DCD13F}" type="presParOf" srcId="{FBCF2780-40A3-4214-926C-5DF872653C29}" destId="{349C2FC2-0AE0-4D5F-A9C4-533052DC51D9}" srcOrd="1" destOrd="0" presId="urn:microsoft.com/office/officeart/2005/8/layout/vList5"/>
    <dgm:cxn modelId="{D5B14E07-72D4-45A6-8E56-131964EA4FA4}" type="presParOf" srcId="{0C246875-05E2-425C-8ED3-DA65DBCE755D}" destId="{0BE27786-359D-4F5F-BD8D-C91E8F7BCDA2}" srcOrd="1" destOrd="0" presId="urn:microsoft.com/office/officeart/2005/8/layout/vList5"/>
    <dgm:cxn modelId="{D3E7DBD3-9E01-4D9C-B8D7-648890CAF9FD}" type="presParOf" srcId="{0C246875-05E2-425C-8ED3-DA65DBCE755D}" destId="{375C987B-4E33-4601-B06C-BBBE0129BBC7}" srcOrd="2" destOrd="0" presId="urn:microsoft.com/office/officeart/2005/8/layout/vList5"/>
    <dgm:cxn modelId="{E2601131-D34F-4209-BA0B-43DBC7985177}" type="presParOf" srcId="{375C987B-4E33-4601-B06C-BBBE0129BBC7}" destId="{89A3C0D5-15A2-47DF-9043-EACA5BBBA97F}" srcOrd="0" destOrd="0" presId="urn:microsoft.com/office/officeart/2005/8/layout/vList5"/>
    <dgm:cxn modelId="{39751A6E-91B6-4D1C-9DFF-C2634DC8DF2D}" type="presParOf" srcId="{375C987B-4E33-4601-B06C-BBBE0129BBC7}" destId="{FFD111F6-CD45-4571-84D2-8C252B415022}" srcOrd="1" destOrd="0" presId="urn:microsoft.com/office/officeart/2005/8/layout/vList5"/>
    <dgm:cxn modelId="{52E9218E-A4EC-485C-8150-F2CEF2F1401F}" type="presParOf" srcId="{0C246875-05E2-425C-8ED3-DA65DBCE755D}" destId="{7979F95B-F0B8-4DC7-AB6E-03CF683EFFBB}" srcOrd="3" destOrd="0" presId="urn:microsoft.com/office/officeart/2005/8/layout/vList5"/>
    <dgm:cxn modelId="{E8008471-1C08-4B71-8358-45361D95A832}" type="presParOf" srcId="{0C246875-05E2-425C-8ED3-DA65DBCE755D}" destId="{99445B4F-654A-43FB-8DAB-23463C265E76}" srcOrd="4" destOrd="0" presId="urn:microsoft.com/office/officeart/2005/8/layout/vList5"/>
    <dgm:cxn modelId="{8E99DAB0-703A-4614-9CF6-0ECA378BA4FA}" type="presParOf" srcId="{99445B4F-654A-43FB-8DAB-23463C265E76}" destId="{4F972F32-60DA-4D4F-8653-CBF028FB15A9}" srcOrd="0" destOrd="0" presId="urn:microsoft.com/office/officeart/2005/8/layout/vList5"/>
    <dgm:cxn modelId="{38CEFA17-CB8C-4300-9DC1-441C61C28E5D}" type="presParOf" srcId="{99445B4F-654A-43FB-8DAB-23463C265E76}" destId="{EA8E1673-047E-4307-B9F8-68797B0D4437}" srcOrd="1" destOrd="0" presId="urn:microsoft.com/office/officeart/2005/8/layout/vList5"/>
    <dgm:cxn modelId="{E4E0BB06-ACB6-4CA7-8A22-4386A3B296DE}" type="presParOf" srcId="{0C246875-05E2-425C-8ED3-DA65DBCE755D}" destId="{23A50E49-5FB0-4D0E-B516-696273312E93}" srcOrd="5" destOrd="0" presId="urn:microsoft.com/office/officeart/2005/8/layout/vList5"/>
    <dgm:cxn modelId="{A8D71536-551C-427C-88C8-C1D59CCE18B7}" type="presParOf" srcId="{0C246875-05E2-425C-8ED3-DA65DBCE755D}" destId="{11EFF67A-56FA-4F52-A73D-6DCBFAC2D21E}" srcOrd="6" destOrd="0" presId="urn:microsoft.com/office/officeart/2005/8/layout/vList5"/>
    <dgm:cxn modelId="{F531CD18-71E5-454E-8474-C4FA7F99BA3D}" type="presParOf" srcId="{11EFF67A-56FA-4F52-A73D-6DCBFAC2D21E}" destId="{D638D3D3-7C34-42F2-9FAE-43B48C722B38}" srcOrd="0" destOrd="0" presId="urn:microsoft.com/office/officeart/2005/8/layout/vList5"/>
    <dgm:cxn modelId="{9928608F-F5D5-450B-B154-7AC4773C3AB2}" type="presParOf" srcId="{11EFF67A-56FA-4F52-A73D-6DCBFAC2D21E}" destId="{69038075-0847-4A52-90CF-CBA5115D640A}" srcOrd="1" destOrd="0" presId="urn:microsoft.com/office/officeart/2005/8/layout/vList5"/>
    <dgm:cxn modelId="{B46F9A58-9463-4668-9E56-FCA20BC3BDC0}" type="presParOf" srcId="{0C246875-05E2-425C-8ED3-DA65DBCE755D}" destId="{F57CEA57-4560-4A51-84CD-62A09D920DB4}" srcOrd="7" destOrd="0" presId="urn:microsoft.com/office/officeart/2005/8/layout/vList5"/>
    <dgm:cxn modelId="{9DC0A4E3-646C-42AB-9AE5-B299130184FE}" type="presParOf" srcId="{0C246875-05E2-425C-8ED3-DA65DBCE755D}" destId="{541F7B12-D197-4D06-A771-F2B633BA5F8B}" srcOrd="8" destOrd="0" presId="urn:microsoft.com/office/officeart/2005/8/layout/vList5"/>
    <dgm:cxn modelId="{BAA75D9F-BB5C-44CC-8605-EBBECF065AD2}" type="presParOf" srcId="{541F7B12-D197-4D06-A771-F2B633BA5F8B}" destId="{F67E16C6-0EB6-473B-805C-65E24BF3186E}" srcOrd="0" destOrd="0" presId="urn:microsoft.com/office/officeart/2005/8/layout/vList5"/>
    <dgm:cxn modelId="{A393B2EF-CD07-4267-B781-195F6082DBA0}" type="presParOf" srcId="{541F7B12-D197-4D06-A771-F2B633BA5F8B}" destId="{9DA55583-A496-4164-A29E-156D9D94B3C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Provides a clear baseline for comparison</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Logistic Regression gives us a clean, interpretable view of salary drivers — essential for compensation strategy and pay‑equity analysis.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Helps identify which features push salary up or down</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A simple, interpretable model that predicts whether salary is above or below the median</a:t>
          </a:r>
        </a:p>
      </dgm:t>
    </dgm:pt>
    <dgm:pt modelId="{F35E0757-319C-496E-AC6A-90C0E359C793}" type="parTrans" cxnId="{47709316-ADBA-4081-A00F-9C7EBB3C3A86}">
      <dgm:prSet/>
      <dgm:spPr/>
    </dgm:pt>
    <dgm:pt modelId="{FFF5B358-E4D9-4784-ABBB-2DA7D0C639F7}" type="sibTrans" cxnId="{47709316-ADBA-4081-A00F-9C7EBB3C3A86}">
      <dgm:prSet/>
      <dgm:spPr/>
    </dgm:pt>
    <dgm:pt modelId="{4455D773-590C-4FD4-83E2-620FFA35FFAB}">
      <dgm:prSet/>
      <dgm:spPr/>
      <dgm:t>
        <a:bodyPr/>
        <a:lstStyle/>
        <a:p>
          <a:r>
            <a:rPr lang="en-US"/>
            <a:t>Shows how well linear patterns explain salary outcomes</a:t>
          </a:r>
        </a:p>
      </dgm:t>
    </dgm:pt>
    <dgm:pt modelId="{6BDDADEF-568F-4C19-B7A7-EA978BD3B511}" type="parTrans" cxnId="{E6F34F38-4E96-47B1-93D0-D243046AAF40}">
      <dgm:prSet/>
      <dgm:spPr/>
      <dgm:t>
        <a:bodyPr/>
        <a:lstStyle/>
        <a:p>
          <a:endParaRPr lang="en-US"/>
        </a:p>
      </dgm:t>
    </dgm:pt>
    <dgm:pt modelId="{7091DA14-8B84-4622-BAED-4886A2550453}" type="sibTrans" cxnId="{E6F34F38-4E96-47B1-93D0-D243046AAF40}">
      <dgm:prSet/>
      <dgm:spPr/>
      <dgm:t>
        <a:bodyPr/>
        <a:lstStyle/>
        <a:p>
          <a:endParaRPr lang="en-US"/>
        </a:p>
      </dgm:t>
    </dgm:pt>
    <dgm:pt modelId="{1D06A899-06DA-4D3D-84F6-4F737D6C90EC}">
      <dgm:prSet/>
      <dgm:spPr/>
      <dgm:t>
        <a:bodyPr/>
        <a:lstStyle/>
        <a:p>
          <a:r>
            <a:rPr lang="en-US" dirty="0"/>
            <a:t>Produces interpretable coefficients (direction + strength of influence)</a:t>
          </a:r>
        </a:p>
      </dgm:t>
    </dgm:pt>
    <dgm:pt modelId="{50776668-9A93-4F93-8610-61E0696F298F}" type="parTrans" cxnId="{01A44FFB-E8AB-47CC-B3C8-F987FC4EB4A9}">
      <dgm:prSet/>
      <dgm:spPr/>
      <dgm:t>
        <a:bodyPr/>
        <a:lstStyle/>
        <a:p>
          <a:endParaRPr lang="en-US"/>
        </a:p>
      </dgm:t>
    </dgm:pt>
    <dgm:pt modelId="{DEAA4983-038A-4862-9AD1-611BA7F9E494}" type="sibTrans" cxnId="{01A44FFB-E8AB-47CC-B3C8-F987FC4EB4A9}">
      <dgm:prSet/>
      <dgm:spPr/>
      <dgm:t>
        <a:bodyPr/>
        <a:lstStyle/>
        <a:p>
          <a:endParaRPr lang="en-US"/>
        </a:p>
      </dgm:t>
    </dgm:pt>
    <dgm:pt modelId="{01F4D33D-23C4-4926-BD97-24DF9528499E}">
      <dgm:prSet/>
      <dgm:spPr/>
      <dgm:t>
        <a:bodyPr/>
        <a:lstStyle/>
        <a:p>
          <a:r>
            <a:rPr lang="en-US"/>
            <a:t>Supports transparent, policy‑driven decisions (HR, compensation, pay equity)</a:t>
          </a:r>
          <a:endParaRPr lang="en-US" dirty="0"/>
        </a:p>
      </dgm:t>
    </dgm:pt>
    <dgm:pt modelId="{3170BD16-7266-4911-9218-951E504B7008}" type="parTrans" cxnId="{8B417414-EBF8-4E99-B2A4-A6CF12FECD08}">
      <dgm:prSet/>
      <dgm:spPr/>
      <dgm:t>
        <a:bodyPr/>
        <a:lstStyle/>
        <a:p>
          <a:endParaRPr lang="en-US"/>
        </a:p>
      </dgm:t>
    </dgm:pt>
    <dgm:pt modelId="{049DCC71-9051-477D-A537-DB3BEF236142}" type="sibTrans" cxnId="{8B417414-EBF8-4E99-B2A4-A6CF12FECD08}">
      <dgm:prSet/>
      <dgm:spPr/>
      <dgm:t>
        <a:bodyPr/>
        <a:lstStyle/>
        <a:p>
          <a:endParaRPr lang="en-US"/>
        </a:p>
      </dgm:t>
    </dgm:pt>
    <dgm:pt modelId="{D55C2EE3-3189-4D5E-ABB8-B63F02BF69E1}">
      <dgm:prSet/>
      <dgm:spPr/>
      <dgm:t>
        <a:bodyPr/>
        <a:lstStyle/>
        <a:p>
          <a:r>
            <a:rPr lang="en-US" dirty="0"/>
            <a:t>Serves as the foundation for the reduced GLM model used later</a:t>
          </a:r>
        </a:p>
      </dgm:t>
    </dgm:pt>
    <dgm:pt modelId="{D8988C2F-D6F3-4BDE-AF49-C0639318970C}" type="parTrans" cxnId="{5C6E014F-434A-475F-B3F4-F4145855BA17}">
      <dgm:prSet/>
      <dgm:spPr/>
      <dgm:t>
        <a:bodyPr/>
        <a:lstStyle/>
        <a:p>
          <a:endParaRPr lang="en-US"/>
        </a:p>
      </dgm:t>
    </dgm:pt>
    <dgm:pt modelId="{169F1D23-9BEB-49F7-8237-BA83C6CE66F0}" type="sibTrans" cxnId="{5C6E014F-434A-475F-B3F4-F4145855BA17}">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8B417414-EBF8-4E99-B2A4-A6CF12FECD08}" srcId="{C524CB13-8BE5-477B-AC10-AFF4B6835945}" destId="{01F4D33D-23C4-4926-BD97-24DF9528499E}" srcOrd="1" destOrd="0" parTransId="{3170BD16-7266-4911-9218-951E504B7008}" sibTransId="{049DCC71-9051-477D-A537-DB3BEF236142}"/>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6F34F38-4E96-47B1-93D0-D243046AAF40}" srcId="{72EFA449-DE0F-4C78-8DB0-26D84BA841D9}" destId="{4455D773-590C-4FD4-83E2-620FFA35FFAB}" srcOrd="1" destOrd="0" parTransId="{6BDDADEF-568F-4C19-B7A7-EA978BD3B511}" sibTransId="{7091DA14-8B84-4622-BAED-4886A2550453}"/>
    <dgm:cxn modelId="{E9465D3D-5D4F-4B6D-A22E-21FC51F722CB}" type="presOf" srcId="{1F391B93-8792-4359-8795-95FB4CC4E185}" destId="{9C562FED-2BD2-4549-8928-97ECCEA6AAC2}" srcOrd="0" destOrd="0" presId="urn:microsoft.com/office/officeart/2005/8/layout/vList2"/>
    <dgm:cxn modelId="{A552355D-2E66-43A8-AE08-DD5002433F3F}" type="presOf" srcId="{A116674C-95D0-4009-B41A-019827E4E5FD}" destId="{27E56ABA-57EA-4829-B58F-7EF2C9D69ED6}" srcOrd="0" destOrd="0" presId="urn:microsoft.com/office/officeart/2005/8/layout/vList2"/>
    <dgm:cxn modelId="{50423267-6170-4D9C-B295-1EE87E551243}" type="presOf" srcId="{ECC2A3D1-77DD-4C14-B0D5-066744AC8214}" destId="{336ACB36-61B0-4AA2-9FFD-FB082D80EFC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5C6E014F-434A-475F-B3F4-F4145855BA17}" srcId="{C524CB13-8BE5-477B-AC10-AFF4B6835945}" destId="{D55C2EE3-3189-4D5E-ABB8-B63F02BF69E1}" srcOrd="2" destOrd="0" parTransId="{D8988C2F-D6F3-4BDE-AF49-C0639318970C}" sibTransId="{169F1D23-9BEB-49F7-8237-BA83C6CE66F0}"/>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C4C25E80-CBA8-411D-9AE5-04A3C8C88EC7}" type="presOf" srcId="{01F4D33D-23C4-4926-BD97-24DF9528499E}" destId="{94B9AB2B-E3A2-4D49-90DF-FAD7F840A1A8}" srcOrd="0" destOrd="1" presId="urn:microsoft.com/office/officeart/2005/8/layout/vList2"/>
    <dgm:cxn modelId="{E735E380-B194-405A-ADB9-AE8F5E4946F7}" srcId="{D56B47F1-CBAA-4710-9265-0EBF55E947A2}" destId="{C524CB13-8BE5-477B-AC10-AFF4B6835945}" srcOrd="3" destOrd="0" parTransId="{F8205DB5-4106-4E5A-A5C8-63A68A6EF71C}" sibTransId="{E27E7B7C-0126-467A-BF9A-22B1A1BFF3D6}"/>
    <dgm:cxn modelId="{23F2D289-2674-4070-B5C9-5B061CAF0B6D}" type="presOf" srcId="{4455D773-590C-4FD4-83E2-620FFA35FFAB}" destId="{9C562FED-2BD2-4549-8928-97ECCEA6AAC2}" srcOrd="0" destOrd="1" presId="urn:microsoft.com/office/officeart/2005/8/layout/vList2"/>
    <dgm:cxn modelId="{B452138A-0192-4DE7-985C-E0390597B65D}" type="presOf" srcId="{D55C2EE3-3189-4D5E-ABB8-B63F02BF69E1}" destId="{94B9AB2B-E3A2-4D49-90DF-FAD7F840A1A8}" srcOrd="0" destOrd="2" presId="urn:microsoft.com/office/officeart/2005/8/layout/vList2"/>
    <dgm:cxn modelId="{A5DF3D8D-5263-48F4-8655-558484C50DB1}" type="presOf" srcId="{1D06A899-06DA-4D3D-84F6-4F737D6C90EC}" destId="{9C562FED-2BD2-4549-8928-97ECCEA6AAC2}" srcOrd="0" destOrd="2" presId="urn:microsoft.com/office/officeart/2005/8/layout/vList2"/>
    <dgm:cxn modelId="{8BC6C5B8-E8F4-4AB6-84C4-1F39D02D142A}" type="presOf" srcId="{CDFD7CB8-933A-4711-A369-BCB72313CF9F}" destId="{69453D6A-4C08-458C-BA87-B2A437496B42}" srcOrd="0" destOrd="0"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01A44FFB-E8AB-47CC-B3C8-F987FC4EB4A9}" srcId="{72EFA449-DE0F-4C78-8DB0-26D84BA841D9}" destId="{1D06A899-06DA-4D3D-84F6-4F737D6C90EC}" srcOrd="2" destOrd="0" parTransId="{50776668-9A93-4F93-8610-61E0696F298F}" sibTransId="{DEAA4983-038A-4862-9AD1-611BA7F9E494}"/>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endParaRPr lang="en-US" dirty="0"/>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Extremely quick to train</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a:t>Key Takeaway</a:t>
          </a:r>
          <a:endParaRPr lang="en-US"/>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b="0" dirty="0"/>
            <a:t>Naive Bayes provides a fast, simple benchmark but struggles with correlated features — making it less accurate than Logistic Regression and tree‑based models.</a:t>
          </a:r>
          <a:endParaRPr lang="en-US" dirty="0"/>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Confirms that salary patterns are not purely independent</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A fast, simple model that makes predictions based on probability patterns in the data.</a:t>
          </a:r>
        </a:p>
      </dgm:t>
    </dgm:pt>
    <dgm:pt modelId="{F35E0757-319C-496E-AC6A-90C0E359C793}" type="parTrans" cxnId="{47709316-ADBA-4081-A00F-9C7EBB3C3A86}">
      <dgm:prSet/>
      <dgm:spPr/>
    </dgm:pt>
    <dgm:pt modelId="{FFF5B358-E4D9-4784-ABBB-2DA7D0C639F7}" type="sibTrans" cxnId="{47709316-ADBA-4081-A00F-9C7EBB3C3A86}">
      <dgm:prSet/>
      <dgm:spPr/>
    </dgm:pt>
    <dgm:pt modelId="{9A1E0666-1E27-4A75-9417-30EE04C3E52D}">
      <dgm:prSet/>
      <dgm:spPr/>
      <dgm:t>
        <a:bodyPr/>
        <a:lstStyle/>
        <a:p>
          <a:r>
            <a:rPr lang="en-US"/>
            <a:t>Provides a lightweight benchmark</a:t>
          </a:r>
          <a:endParaRPr lang="en-US" dirty="0"/>
        </a:p>
      </dgm:t>
    </dgm:pt>
    <dgm:pt modelId="{84716DF1-63D4-4B62-8284-F0CE1C4806B7}" type="parTrans" cxnId="{9CB8E67B-1EDC-49C4-97B1-C9DC14398980}">
      <dgm:prSet/>
      <dgm:spPr/>
      <dgm:t>
        <a:bodyPr/>
        <a:lstStyle/>
        <a:p>
          <a:endParaRPr lang="en-US"/>
        </a:p>
      </dgm:t>
    </dgm:pt>
    <dgm:pt modelId="{8CD4D4DA-B4AA-48CC-A624-CF3AD8261CCA}" type="sibTrans" cxnId="{9CB8E67B-1EDC-49C4-97B1-C9DC14398980}">
      <dgm:prSet/>
      <dgm:spPr/>
      <dgm:t>
        <a:bodyPr/>
        <a:lstStyle/>
        <a:p>
          <a:endParaRPr lang="en-US"/>
        </a:p>
      </dgm:t>
    </dgm:pt>
    <dgm:pt modelId="{CA444937-E825-43AE-B22E-7D63B48D1466}">
      <dgm:prSet/>
      <dgm:spPr/>
      <dgm:t>
        <a:bodyPr/>
        <a:lstStyle/>
        <a:p>
          <a:r>
            <a:rPr lang="en-US"/>
            <a:t>Helps confirm whether simple statistical patterns can separate above‑ vs. below‑median salaries</a:t>
          </a:r>
        </a:p>
      </dgm:t>
    </dgm:pt>
    <dgm:pt modelId="{2FAD41D1-9C7E-44E9-8654-9517291BEF1F}" type="parTrans" cxnId="{EDA854AF-B87D-41F0-A635-9AAA6ED151A3}">
      <dgm:prSet/>
      <dgm:spPr/>
      <dgm:t>
        <a:bodyPr/>
        <a:lstStyle/>
        <a:p>
          <a:endParaRPr lang="en-US"/>
        </a:p>
      </dgm:t>
    </dgm:pt>
    <dgm:pt modelId="{9644D1FC-9CCB-4DD2-A2A9-56EB0628E67F}" type="sibTrans" cxnId="{EDA854AF-B87D-41F0-A635-9AAA6ED151A3}">
      <dgm:prSet/>
      <dgm:spPr/>
      <dgm:t>
        <a:bodyPr/>
        <a:lstStyle/>
        <a:p>
          <a:endParaRPr lang="en-US"/>
        </a:p>
      </dgm:t>
    </dgm:pt>
    <dgm:pt modelId="{D426D9BA-2EEA-4439-A50B-B4843EAE5D65}">
      <dgm:prSet/>
      <dgm:spPr/>
      <dgm:t>
        <a:bodyPr/>
        <a:lstStyle/>
        <a:p>
          <a:r>
            <a:rPr lang="en-US" dirty="0"/>
            <a:t>Useful for comparison against more complex models</a:t>
          </a:r>
        </a:p>
      </dgm:t>
    </dgm:pt>
    <dgm:pt modelId="{F1F5A466-C5EE-40AC-A167-5345375A526B}" type="parTrans" cxnId="{E71DD813-3639-42F8-80DE-0C2ECB203749}">
      <dgm:prSet/>
      <dgm:spPr/>
      <dgm:t>
        <a:bodyPr/>
        <a:lstStyle/>
        <a:p>
          <a:endParaRPr lang="en-US"/>
        </a:p>
      </dgm:t>
    </dgm:pt>
    <dgm:pt modelId="{B66DD110-1E58-49DE-ADF6-12EC1D4747B1}" type="sibTrans" cxnId="{E71DD813-3639-42F8-80DE-0C2ECB203749}">
      <dgm:prSet/>
      <dgm:spPr/>
      <dgm:t>
        <a:bodyPr/>
        <a:lstStyle/>
        <a:p>
          <a:endParaRPr lang="en-US"/>
        </a:p>
      </dgm:t>
    </dgm:pt>
    <dgm:pt modelId="{D3123F53-436A-47ED-8C95-4CFA7469F581}">
      <dgm:prSet/>
      <dgm:spPr/>
      <dgm:t>
        <a:bodyPr/>
        <a:lstStyle/>
        <a:p>
          <a:r>
            <a:rPr lang="en-US"/>
            <a:t>Reinforces the need for more flexible models</a:t>
          </a:r>
        </a:p>
      </dgm:t>
    </dgm:pt>
    <dgm:pt modelId="{BF4D1BD4-8279-47A3-AA38-9FC4DD330D60}" type="parTrans" cxnId="{8D548135-8B71-4ABA-AEB9-B1B60046283A}">
      <dgm:prSet/>
      <dgm:spPr/>
      <dgm:t>
        <a:bodyPr/>
        <a:lstStyle/>
        <a:p>
          <a:endParaRPr lang="en-US"/>
        </a:p>
      </dgm:t>
    </dgm:pt>
    <dgm:pt modelId="{BFAD8DE6-B9EC-42AC-944F-EF588D9894F7}" type="sibTrans" cxnId="{8D548135-8B71-4ABA-AEB9-B1B60046283A}">
      <dgm:prSet/>
      <dgm:spPr/>
      <dgm:t>
        <a:bodyPr/>
        <a:lstStyle/>
        <a:p>
          <a:endParaRPr lang="en-US"/>
        </a:p>
      </dgm:t>
    </dgm:pt>
    <dgm:pt modelId="{E86C6654-764C-4E5B-B64C-B2DE3BBF86BD}">
      <dgm:prSet/>
      <dgm:spPr/>
      <dgm:t>
        <a:bodyPr/>
        <a:lstStyle/>
        <a:p>
          <a:r>
            <a:rPr lang="en-US" dirty="0"/>
            <a:t>Helps validate that improvements in later models are meaningful</a:t>
          </a:r>
        </a:p>
      </dgm:t>
    </dgm:pt>
    <dgm:pt modelId="{04A9A2B8-1139-4F7A-A48A-30DE774920BA}" type="parTrans" cxnId="{4063986E-6B03-444F-B958-08A325E8F841}">
      <dgm:prSet/>
      <dgm:spPr/>
      <dgm:t>
        <a:bodyPr/>
        <a:lstStyle/>
        <a:p>
          <a:endParaRPr lang="en-US"/>
        </a:p>
      </dgm:t>
    </dgm:pt>
    <dgm:pt modelId="{CAF0C81B-03D7-4C29-8B8E-E156D67B4469}" type="sibTrans" cxnId="{4063986E-6B03-444F-B958-08A325E8F841}">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E71DD813-3639-42F8-80DE-0C2ECB203749}" srcId="{72EFA449-DE0F-4C78-8DB0-26D84BA841D9}" destId="{D426D9BA-2EEA-4439-A50B-B4843EAE5D65}" srcOrd="3" destOrd="0" parTransId="{F1F5A466-C5EE-40AC-A167-5345375A526B}" sibTransId="{B66DD110-1E58-49DE-ADF6-12EC1D4747B1}"/>
    <dgm:cxn modelId="{47709316-ADBA-4081-A00F-9C7EBB3C3A86}" srcId="{ECC2A3D1-77DD-4C14-B0D5-066744AC8214}" destId="{A116674C-95D0-4009-B41A-019827E4E5FD}" srcOrd="0" destOrd="0" parTransId="{F35E0757-319C-496E-AC6A-90C0E359C793}" sibTransId="{FFF5B358-E4D9-4784-ABBB-2DA7D0C639F7}"/>
    <dgm:cxn modelId="{012DFC1F-2B98-4F82-8DBE-17CB990EB04C}" srcId="{D56B47F1-CBAA-4710-9265-0EBF55E947A2}" destId="{ECC2A3D1-77DD-4C14-B0D5-066744AC8214}" srcOrd="0" destOrd="0" parTransId="{70EA8EAC-1E9C-4797-AB5D-8BB72FD47267}" sibTransId="{CDA84AB6-39C9-4281-A989-3E37A7E52F72}"/>
    <dgm:cxn modelId="{6E8B8729-0B1F-44EA-9232-A197060967DD}" type="presOf" srcId="{ECC2A3D1-77DD-4C14-B0D5-066744AC8214}" destId="{336ACB36-61B0-4AA2-9FFD-FB082D80EFC0}" srcOrd="0" destOrd="0" presId="urn:microsoft.com/office/officeart/2005/8/layout/vList2"/>
    <dgm:cxn modelId="{8D548135-8B71-4ABA-AEB9-B1B60046283A}" srcId="{C524CB13-8BE5-477B-AC10-AFF4B6835945}" destId="{D3123F53-436A-47ED-8C95-4CFA7469F581}" srcOrd="1" destOrd="0" parTransId="{BF4D1BD4-8279-47A3-AA38-9FC4DD330D60}" sibTransId="{BFAD8DE6-B9EC-42AC-944F-EF588D9894F7}"/>
    <dgm:cxn modelId="{D55AF235-4259-484C-A16D-114EBA576ED9}" type="presOf" srcId="{1F391B93-8792-4359-8795-95FB4CC4E185}" destId="{9C562FED-2BD2-4549-8928-97ECCEA6AAC2}" srcOrd="0" destOrd="0" presId="urn:microsoft.com/office/officeart/2005/8/layout/vList2"/>
    <dgm:cxn modelId="{FD90975C-A47C-417A-ACE7-47D70E7F042E}" type="presOf" srcId="{D426D9BA-2EEA-4439-A50B-B4843EAE5D65}" destId="{9C562FED-2BD2-4549-8928-97ECCEA6AAC2}" srcOrd="0" destOrd="3" presId="urn:microsoft.com/office/officeart/2005/8/layout/vList2"/>
    <dgm:cxn modelId="{5D7A5841-E61D-488C-92DC-1AFEC6607FDA}" type="presOf" srcId="{A116674C-95D0-4009-B41A-019827E4E5FD}" destId="{27E56ABA-57EA-4829-B58F-7EF2C9D69ED6}" srcOrd="0" destOrd="0" presId="urn:microsoft.com/office/officeart/2005/8/layout/vList2"/>
    <dgm:cxn modelId="{C5DDEB44-498C-46CA-95A1-90CEE1F34B16}" type="presOf" srcId="{72B0D4B8-12A0-4C74-A7F9-B8DCB6CDF802}" destId="{94B9AB2B-E3A2-4D49-90DF-FAD7F840A1A8}" srcOrd="0" destOrd="0" presId="urn:microsoft.com/office/officeart/2005/8/layout/vList2"/>
    <dgm:cxn modelId="{BDC8D267-2847-49A4-8FE2-44CB7B343B6D}" type="presOf" srcId="{CDFD7CB8-933A-4711-A369-BCB72313CF9F}" destId="{69453D6A-4C08-458C-BA87-B2A437496B42}" srcOrd="0" destOrd="0" presId="urn:microsoft.com/office/officeart/2005/8/layout/vList2"/>
    <dgm:cxn modelId="{E217F949-D4AC-4073-BC33-500A4DBEF69B}" type="presOf" srcId="{D3F16C7E-6C89-4C58-B7AE-350FA71878FA}" destId="{5F8F4BD2-CF4E-4F69-BCE3-6E9ECE7250B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D901594E-C3D9-469B-87EC-A6DA44DEBDAE}" type="presOf" srcId="{CA444937-E825-43AE-B22E-7D63B48D1466}" destId="{9C562FED-2BD2-4549-8928-97ECCEA6AAC2}" srcOrd="0" destOrd="2" presId="urn:microsoft.com/office/officeart/2005/8/layout/vList2"/>
    <dgm:cxn modelId="{4063986E-6B03-444F-B958-08A325E8F841}" srcId="{C524CB13-8BE5-477B-AC10-AFF4B6835945}" destId="{E86C6654-764C-4E5B-B64C-B2DE3BBF86BD}" srcOrd="2" destOrd="0" parTransId="{04A9A2B8-1139-4F7A-A48A-30DE774920BA}" sibTransId="{CAF0C81B-03D7-4C29-8B8E-E156D67B4469}"/>
    <dgm:cxn modelId="{99C7714F-2552-4933-9AFD-8B0DD86A137B}" type="presOf" srcId="{C524CB13-8BE5-477B-AC10-AFF4B6835945}" destId="{285F6CF5-41C2-482E-98E1-9CCBE2D30E86}" srcOrd="0" destOrd="0" presId="urn:microsoft.com/office/officeart/2005/8/layout/vList2"/>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9CB8E67B-1EDC-49C4-97B1-C9DC14398980}" srcId="{72EFA449-DE0F-4C78-8DB0-26D84BA841D9}" destId="{9A1E0666-1E27-4A75-9417-30EE04C3E52D}" srcOrd="1" destOrd="0" parTransId="{84716DF1-63D4-4B62-8284-F0CE1C4806B7}" sibTransId="{8CD4D4DA-B4AA-48CC-A624-CF3AD8261CCA}"/>
    <dgm:cxn modelId="{E735E380-B194-405A-ADB9-AE8F5E4946F7}" srcId="{D56B47F1-CBAA-4710-9265-0EBF55E947A2}" destId="{C524CB13-8BE5-477B-AC10-AFF4B6835945}" srcOrd="3" destOrd="0" parTransId="{F8205DB5-4106-4E5A-A5C8-63A68A6EF71C}" sibTransId="{E27E7B7C-0126-467A-BF9A-22B1A1BFF3D6}"/>
    <dgm:cxn modelId="{5FFECD9F-F48C-4F62-946B-9B6BB5F0AE05}" type="presOf" srcId="{E86C6654-764C-4E5B-B64C-B2DE3BBF86BD}" destId="{94B9AB2B-E3A2-4D49-90DF-FAD7F840A1A8}" srcOrd="0" destOrd="2" presId="urn:microsoft.com/office/officeart/2005/8/layout/vList2"/>
    <dgm:cxn modelId="{EDA854AF-B87D-41F0-A635-9AAA6ED151A3}" srcId="{72EFA449-DE0F-4C78-8DB0-26D84BA841D9}" destId="{CA444937-E825-43AE-B22E-7D63B48D1466}" srcOrd="2" destOrd="0" parTransId="{2FAD41D1-9C7E-44E9-8654-9517291BEF1F}" sibTransId="{9644D1FC-9CCB-4DD2-A2A9-56EB0628E67F}"/>
    <dgm:cxn modelId="{D704AFB6-3190-450A-938E-EA10C8593E3A}" type="presOf" srcId="{D3123F53-436A-47ED-8C95-4CFA7469F581}" destId="{94B9AB2B-E3A2-4D49-90DF-FAD7F840A1A8}" srcOrd="0" destOrd="1" presId="urn:microsoft.com/office/officeart/2005/8/layout/vList2"/>
    <dgm:cxn modelId="{79A97BBA-E2EF-41AE-9A1C-4D9D7CB599AC}" type="presOf" srcId="{72EFA449-DE0F-4C78-8DB0-26D84BA841D9}" destId="{BB43A5AA-EDBB-4D04-8D81-E67BF613AE06}" srcOrd="0" destOrd="0"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D986DED4-3FDC-4DB3-B16C-D28D9CABC563}" type="presOf" srcId="{9A1E0666-1E27-4A75-9417-30EE04C3E52D}" destId="{9C562FED-2BD2-4549-8928-97ECCEA6AAC2}" srcOrd="0" destOrd="1"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9BB70CA9-2946-4606-BC7F-BB3E8135C5C9}" type="presParOf" srcId="{6D10311E-16EF-421C-A623-00057DAB7188}" destId="{336ACB36-61B0-4AA2-9FFD-FB082D80EFC0}" srcOrd="0" destOrd="0" presId="urn:microsoft.com/office/officeart/2005/8/layout/vList2"/>
    <dgm:cxn modelId="{1528E183-0A94-41A4-AC53-409E215CAA34}" type="presParOf" srcId="{6D10311E-16EF-421C-A623-00057DAB7188}" destId="{27E56ABA-57EA-4829-B58F-7EF2C9D69ED6}" srcOrd="1" destOrd="0" presId="urn:microsoft.com/office/officeart/2005/8/layout/vList2"/>
    <dgm:cxn modelId="{64FE89A4-3FAB-42CD-86A6-214EE21D0FDA}" type="presParOf" srcId="{6D10311E-16EF-421C-A623-00057DAB7188}" destId="{BB43A5AA-EDBB-4D04-8D81-E67BF613AE06}" srcOrd="2" destOrd="0" presId="urn:microsoft.com/office/officeart/2005/8/layout/vList2"/>
    <dgm:cxn modelId="{1DC4FA04-77B4-4E63-940B-BCD20CB3B37B}" type="presParOf" srcId="{6D10311E-16EF-421C-A623-00057DAB7188}" destId="{9C562FED-2BD2-4549-8928-97ECCEA6AAC2}" srcOrd="3" destOrd="0" presId="urn:microsoft.com/office/officeart/2005/8/layout/vList2"/>
    <dgm:cxn modelId="{461FD42F-E033-4AE7-8BC2-E10E77287333}" type="presParOf" srcId="{6D10311E-16EF-421C-A623-00057DAB7188}" destId="{69453D6A-4C08-458C-BA87-B2A437496B42}" srcOrd="4" destOrd="0" presId="urn:microsoft.com/office/officeart/2005/8/layout/vList2"/>
    <dgm:cxn modelId="{E885AAA4-E306-449B-86CA-4724C2B9F4EB}" type="presParOf" srcId="{6D10311E-16EF-421C-A623-00057DAB7188}" destId="{5F8F4BD2-CF4E-4F69-BCE3-6E9ECE7250B0}" srcOrd="5" destOrd="0" presId="urn:microsoft.com/office/officeart/2005/8/layout/vList2"/>
    <dgm:cxn modelId="{82F62082-4382-439C-B38A-6C0054ADB24C}" type="presParOf" srcId="{6D10311E-16EF-421C-A623-00057DAB7188}" destId="{285F6CF5-41C2-482E-98E1-9CCBE2D30E86}" srcOrd="6" destOrd="0" presId="urn:microsoft.com/office/officeart/2005/8/layout/vList2"/>
    <dgm:cxn modelId="{8F5BC5A2-D0C6-4F28-B2BA-4B59AADEC890}"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endParaRPr lang="en-US" dirty="0"/>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b="0" dirty="0"/>
            <a:t>Captures nonlinear patterns in salary data</a:t>
          </a:r>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2FE89400-0237-4087-8F54-B6915C78EE08}">
      <dgm:prSet/>
      <dgm:spPr/>
      <dgm:t>
        <a:bodyPr/>
        <a:lstStyle/>
        <a:p>
          <a:r>
            <a:rPr lang="en-US" b="0" dirty="0"/>
            <a:t>Compares each job record to its closest neighbors</a:t>
          </a:r>
        </a:p>
      </dgm:t>
    </dgm:pt>
    <dgm:pt modelId="{6C029158-C925-458D-9E0B-42F7EE407C57}" type="parTrans" cxnId="{7C36B9E7-22E3-4F4F-82E8-CC07188E77B8}">
      <dgm:prSet/>
      <dgm:spPr/>
      <dgm:t>
        <a:bodyPr/>
        <a:lstStyle/>
        <a:p>
          <a:endParaRPr lang="en-US"/>
        </a:p>
      </dgm:t>
    </dgm:pt>
    <dgm:pt modelId="{38A7E852-E596-46BC-9298-1B58E8D7CD4C}" type="sibTrans" cxnId="{7C36B9E7-22E3-4F4F-82E8-CC07188E77B8}">
      <dgm:prSet/>
      <dgm:spPr/>
      <dgm:t>
        <a:bodyPr/>
        <a:lstStyle/>
        <a:p>
          <a:endParaRPr lang="en-US"/>
        </a:p>
      </dgm:t>
    </dgm:pt>
    <dgm:pt modelId="{795F60FB-9D01-4414-96B6-A5B39B59B31A}">
      <dgm:prSet/>
      <dgm:spPr/>
      <dgm:t>
        <a:bodyPr/>
        <a:lstStyle/>
        <a:p>
          <a:r>
            <a:rPr lang="en-US" b="0" dirty="0"/>
            <a:t>Provides contrast to linear models (Logistic Regression)</a:t>
          </a:r>
        </a:p>
      </dgm:t>
    </dgm:pt>
    <dgm:pt modelId="{F74A2B1C-0C24-49DC-A6AC-B80FC2AEF387}" type="parTrans" cxnId="{85959F16-B0D5-4725-8F50-DCE2B8FB3CEA}">
      <dgm:prSet/>
      <dgm:spPr/>
      <dgm:t>
        <a:bodyPr/>
        <a:lstStyle/>
        <a:p>
          <a:endParaRPr lang="en-US"/>
        </a:p>
      </dgm:t>
    </dgm:pt>
    <dgm:pt modelId="{35962BF4-26FD-4527-B391-9D4ED5B193E7}" type="sibTrans" cxnId="{85959F16-B0D5-4725-8F50-DCE2B8FB3CEA}">
      <dgm:prSet/>
      <dgm:spPr/>
      <dgm:t>
        <a:bodyPr/>
        <a:lstStyle/>
        <a:p>
          <a:endParaRPr lang="en-US"/>
        </a:p>
      </dgm:t>
    </dgm:pt>
    <dgm:pt modelId="{5A62A65B-456E-4A6B-A69D-BF15E7559C61}">
      <dgm:prSet/>
      <dgm:spPr/>
      <dgm:t>
        <a:bodyPr/>
        <a:lstStyle/>
        <a:p>
          <a:r>
            <a:rPr lang="en-US" b="0" dirty="0"/>
            <a:t>Helps test whether local similarity predicts salary category</a:t>
          </a:r>
        </a:p>
      </dgm:t>
    </dgm:pt>
    <dgm:pt modelId="{AF378F39-36CE-4BA6-80FE-BC0C6D3692BF}" type="parTrans" cxnId="{2119715E-9245-4805-9E1A-D1C8F8DEF1EE}">
      <dgm:prSet/>
      <dgm:spPr/>
      <dgm:t>
        <a:bodyPr/>
        <a:lstStyle/>
        <a:p>
          <a:endParaRPr lang="en-US"/>
        </a:p>
      </dgm:t>
    </dgm:pt>
    <dgm:pt modelId="{05A8248E-09B2-4F90-A8DC-9D4FD0AC700E}" type="sibTrans" cxnId="{2119715E-9245-4805-9E1A-D1C8F8DEF1EE}">
      <dgm:prSet/>
      <dgm:spPr/>
      <dgm:t>
        <a:bodyPr/>
        <a:lstStyle/>
        <a:p>
          <a:endParaRPr lang="en-US"/>
        </a:p>
      </dgm:t>
    </dgm:pt>
    <dgm:pt modelId="{CDFD7CB8-933A-4711-A369-BCB72313CF9F}">
      <dgm:prSet/>
      <dgm:spPr/>
      <dgm:t>
        <a:bodyPr/>
        <a:lstStyle/>
        <a:p>
          <a:r>
            <a:rPr lang="en-US" b="1"/>
            <a:t>Key Takeaway</a:t>
          </a:r>
          <a:endParaRPr lang="en-US"/>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a:t>KNN identifies some nonlinear salary patterns but is sensitive to scaling and noise, resulting in moderate performance compared to ensemble models.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Shows salary patterns are </a:t>
          </a:r>
          <a:r>
            <a:rPr lang="en-US" b="1"/>
            <a:t>not purely linear</a:t>
          </a:r>
          <a:endParaRPr lang="en-US"/>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ED370A7-4790-4C0B-B5BB-034FD1A7F037}">
      <dgm:prSet/>
      <dgm:spPr/>
      <dgm:t>
        <a:bodyPr/>
        <a:lstStyle/>
        <a:p>
          <a:r>
            <a:rPr lang="en-US"/>
            <a:t>Confirms that </a:t>
          </a:r>
          <a:r>
            <a:rPr lang="en-US" b="1"/>
            <a:t>local role similarity</a:t>
          </a:r>
          <a:r>
            <a:rPr lang="en-US"/>
            <a:t> helps but isn’t enough</a:t>
          </a:r>
        </a:p>
      </dgm:t>
    </dgm:pt>
    <dgm:pt modelId="{287ADF80-F943-411D-9BFB-A91F1AA2AC85}" type="parTrans" cxnId="{A01BEFC7-E550-43A1-A47E-7DB84E228ACD}">
      <dgm:prSet/>
      <dgm:spPr/>
      <dgm:t>
        <a:bodyPr/>
        <a:lstStyle/>
        <a:p>
          <a:endParaRPr lang="en-US"/>
        </a:p>
      </dgm:t>
    </dgm:pt>
    <dgm:pt modelId="{4F433863-FF39-42C3-8F31-3E7B6B0689F4}" type="sibTrans" cxnId="{A01BEFC7-E550-43A1-A47E-7DB84E228ACD}">
      <dgm:prSet/>
      <dgm:spPr/>
      <dgm:t>
        <a:bodyPr/>
        <a:lstStyle/>
        <a:p>
          <a:endParaRPr lang="en-US"/>
        </a:p>
      </dgm:t>
    </dgm:pt>
    <dgm:pt modelId="{07F26F86-39FA-4838-94B1-7EE14FB4D488}">
      <dgm:prSet/>
      <dgm:spPr/>
      <dgm:t>
        <a:bodyPr/>
        <a:lstStyle/>
        <a:p>
          <a:r>
            <a:rPr lang="en-US"/>
            <a:t>Sets the stage for more powerful nonlinear models (SVM, ensembles)</a:t>
          </a:r>
        </a:p>
      </dgm:t>
    </dgm:pt>
    <dgm:pt modelId="{A10BAD35-64D3-49D3-9F56-D700D8C2E111}" type="parTrans" cxnId="{DD080445-8BB5-47AD-9E57-8BF44CD674BA}">
      <dgm:prSet/>
      <dgm:spPr/>
      <dgm:t>
        <a:bodyPr/>
        <a:lstStyle/>
        <a:p>
          <a:endParaRPr lang="en-US"/>
        </a:p>
      </dgm:t>
    </dgm:pt>
    <dgm:pt modelId="{E335B577-2133-4A5D-81E6-4D52479F0CF0}" type="sibTrans" cxnId="{DD080445-8BB5-47AD-9E57-8BF44CD674BA}">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KNN predicts salary category by looking at the most similar past cases and choosing the salary group that those neighbors belong to.</a:t>
          </a:r>
        </a:p>
      </dgm:t>
    </dgm:pt>
    <dgm:pt modelId="{F35E0757-319C-496E-AC6A-90C0E359C793}" type="parTrans" cxnId="{47709316-ADBA-4081-A00F-9C7EBB3C3A86}">
      <dgm:prSet/>
      <dgm:spPr/>
    </dgm:pt>
    <dgm:pt modelId="{FFF5B358-E4D9-4784-ABBB-2DA7D0C639F7}" type="sibTrans" cxnId="{47709316-ADBA-4081-A00F-9C7EBB3C3A86}">
      <dgm:prSet/>
      <dgm:spPr/>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47709316-ADBA-4081-A00F-9C7EBB3C3A86}" srcId="{ECC2A3D1-77DD-4C14-B0D5-066744AC8214}" destId="{A116674C-95D0-4009-B41A-019827E4E5FD}" srcOrd="0" destOrd="0" parTransId="{F35E0757-319C-496E-AC6A-90C0E359C793}" sibTransId="{FFF5B358-E4D9-4784-ABBB-2DA7D0C639F7}"/>
    <dgm:cxn modelId="{85959F16-B0D5-4725-8F50-DCE2B8FB3CEA}" srcId="{72EFA449-DE0F-4C78-8DB0-26D84BA841D9}" destId="{795F60FB-9D01-4414-96B6-A5B39B59B31A}" srcOrd="2" destOrd="0" parTransId="{F74A2B1C-0C24-49DC-A6AC-B80FC2AEF387}" sibTransId="{35962BF4-26FD-4527-B391-9D4ED5B193E7}"/>
    <dgm:cxn modelId="{012DFC1F-2B98-4F82-8DBE-17CB990EB04C}" srcId="{D56B47F1-CBAA-4710-9265-0EBF55E947A2}" destId="{ECC2A3D1-77DD-4C14-B0D5-066744AC8214}" srcOrd="0" destOrd="0" parTransId="{70EA8EAC-1E9C-4797-AB5D-8BB72FD47267}" sibTransId="{CDA84AB6-39C9-4281-A989-3E37A7E52F72}"/>
    <dgm:cxn modelId="{EA7D6724-CF91-417A-B19C-042C4B22308B}" type="presOf" srcId="{07F26F86-39FA-4838-94B1-7EE14FB4D488}" destId="{94B9AB2B-E3A2-4D49-90DF-FAD7F840A1A8}" srcOrd="0" destOrd="2" presId="urn:microsoft.com/office/officeart/2005/8/layout/vList2"/>
    <dgm:cxn modelId="{6E8B8729-0B1F-44EA-9232-A197060967DD}" type="presOf" srcId="{ECC2A3D1-77DD-4C14-B0D5-066744AC8214}" destId="{336ACB36-61B0-4AA2-9FFD-FB082D80EFC0}" srcOrd="0" destOrd="0" presId="urn:microsoft.com/office/officeart/2005/8/layout/vList2"/>
    <dgm:cxn modelId="{D55AF235-4259-484C-A16D-114EBA576ED9}" type="presOf" srcId="{1F391B93-8792-4359-8795-95FB4CC4E185}" destId="{9C562FED-2BD2-4549-8928-97ECCEA6AAC2}" srcOrd="0" destOrd="0" presId="urn:microsoft.com/office/officeart/2005/8/layout/vList2"/>
    <dgm:cxn modelId="{2119715E-9245-4805-9E1A-D1C8F8DEF1EE}" srcId="{72EFA449-DE0F-4C78-8DB0-26D84BA841D9}" destId="{5A62A65B-456E-4A6B-A69D-BF15E7559C61}" srcOrd="3" destOrd="0" parTransId="{AF378F39-36CE-4BA6-80FE-BC0C6D3692BF}" sibTransId="{05A8248E-09B2-4F90-A8DC-9D4FD0AC700E}"/>
    <dgm:cxn modelId="{5D7A5841-E61D-488C-92DC-1AFEC6607FDA}" type="presOf" srcId="{A116674C-95D0-4009-B41A-019827E4E5FD}" destId="{27E56ABA-57EA-4829-B58F-7EF2C9D69ED6}" srcOrd="0" destOrd="0" presId="urn:microsoft.com/office/officeart/2005/8/layout/vList2"/>
    <dgm:cxn modelId="{C5DDEB44-498C-46CA-95A1-90CEE1F34B16}" type="presOf" srcId="{72B0D4B8-12A0-4C74-A7F9-B8DCB6CDF802}" destId="{94B9AB2B-E3A2-4D49-90DF-FAD7F840A1A8}" srcOrd="0" destOrd="0" presId="urn:microsoft.com/office/officeart/2005/8/layout/vList2"/>
    <dgm:cxn modelId="{DD080445-8BB5-47AD-9E57-8BF44CD674BA}" srcId="{C524CB13-8BE5-477B-AC10-AFF4B6835945}" destId="{07F26F86-39FA-4838-94B1-7EE14FB4D488}" srcOrd="2" destOrd="0" parTransId="{A10BAD35-64D3-49D3-9F56-D700D8C2E111}" sibTransId="{E335B577-2133-4A5D-81E6-4D52479F0CF0}"/>
    <dgm:cxn modelId="{BDC8D267-2847-49A4-8FE2-44CB7B343B6D}" type="presOf" srcId="{CDFD7CB8-933A-4711-A369-BCB72313CF9F}" destId="{69453D6A-4C08-458C-BA87-B2A437496B42}" srcOrd="0" destOrd="0" presId="urn:microsoft.com/office/officeart/2005/8/layout/vList2"/>
    <dgm:cxn modelId="{E217F949-D4AC-4073-BC33-500A4DBEF69B}" type="presOf" srcId="{D3F16C7E-6C89-4C58-B7AE-350FA71878FA}" destId="{5F8F4BD2-CF4E-4F69-BCE3-6E9ECE7250B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99C7714F-2552-4933-9AFD-8B0DD86A137B}" type="presOf" srcId="{C524CB13-8BE5-477B-AC10-AFF4B6835945}" destId="{285F6CF5-41C2-482E-98E1-9CCBE2D30E86}" srcOrd="0" destOrd="0" presId="urn:microsoft.com/office/officeart/2005/8/layout/vList2"/>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E735E380-B194-405A-ADB9-AE8F5E4946F7}" srcId="{D56B47F1-CBAA-4710-9265-0EBF55E947A2}" destId="{C524CB13-8BE5-477B-AC10-AFF4B6835945}" srcOrd="3" destOrd="0" parTransId="{F8205DB5-4106-4E5A-A5C8-63A68A6EF71C}" sibTransId="{E27E7B7C-0126-467A-BF9A-22B1A1BFF3D6}"/>
    <dgm:cxn modelId="{FB1BDFB0-B858-43C7-85FA-4D626AD423E0}" type="presOf" srcId="{795F60FB-9D01-4414-96B6-A5B39B59B31A}" destId="{9C562FED-2BD2-4549-8928-97ECCEA6AAC2}" srcOrd="0" destOrd="2" presId="urn:microsoft.com/office/officeart/2005/8/layout/vList2"/>
    <dgm:cxn modelId="{79A97BBA-E2EF-41AE-9A1C-4D9D7CB599AC}" type="presOf" srcId="{72EFA449-DE0F-4C78-8DB0-26D84BA841D9}" destId="{BB43A5AA-EDBB-4D04-8D81-E67BF613AE06}" srcOrd="0" destOrd="0" presId="urn:microsoft.com/office/officeart/2005/8/layout/vList2"/>
    <dgm:cxn modelId="{B1C889BC-3DA8-4C8B-9C45-2FDBC159D9F1}" type="presOf" srcId="{EED370A7-4790-4C0B-B5BB-034FD1A7F037}" destId="{94B9AB2B-E3A2-4D49-90DF-FAD7F840A1A8}" srcOrd="0" destOrd="1" presId="urn:microsoft.com/office/officeart/2005/8/layout/vList2"/>
    <dgm:cxn modelId="{A01BEFC7-E550-43A1-A47E-7DB84E228ACD}" srcId="{C524CB13-8BE5-477B-AC10-AFF4B6835945}" destId="{EED370A7-4790-4C0B-B5BB-034FD1A7F037}" srcOrd="1" destOrd="0" parTransId="{287ADF80-F943-411D-9BFB-A91F1AA2AC85}" sibTransId="{4F433863-FF39-42C3-8F31-3E7B6B0689F4}"/>
    <dgm:cxn modelId="{2B2667CD-E40C-4EC4-9729-50C6B6F9EE73}" srcId="{D56B47F1-CBAA-4710-9265-0EBF55E947A2}" destId="{CDFD7CB8-933A-4711-A369-BCB72313CF9F}" srcOrd="2" destOrd="0" parTransId="{82668E59-282F-4FE7-8942-50F74964FFFE}" sibTransId="{FD38606D-B8FC-41C0-8EEB-96F8CAB9F362}"/>
    <dgm:cxn modelId="{A176BBE1-7293-4F00-A55C-955FA96A3D7F}" type="presOf" srcId="{5A62A65B-456E-4A6B-A69D-BF15E7559C61}" destId="{9C562FED-2BD2-4549-8928-97ECCEA6AAC2}" srcOrd="0" destOrd="3" presId="urn:microsoft.com/office/officeart/2005/8/layout/vList2"/>
    <dgm:cxn modelId="{7C36B9E7-22E3-4F4F-82E8-CC07188E77B8}" srcId="{72EFA449-DE0F-4C78-8DB0-26D84BA841D9}" destId="{2FE89400-0237-4087-8F54-B6915C78EE08}" srcOrd="1" destOrd="0" parTransId="{6C029158-C925-458D-9E0B-42F7EE407C57}" sibTransId="{38A7E852-E596-46BC-9298-1B58E8D7CD4C}"/>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4DB5F2F2-4960-4333-A282-311B50655BB5}" type="presOf" srcId="{2FE89400-0237-4087-8F54-B6915C78EE08}" destId="{9C562FED-2BD2-4549-8928-97ECCEA6AAC2}" srcOrd="0" destOrd="1" presId="urn:microsoft.com/office/officeart/2005/8/layout/vList2"/>
    <dgm:cxn modelId="{9BB70CA9-2946-4606-BC7F-BB3E8135C5C9}" type="presParOf" srcId="{6D10311E-16EF-421C-A623-00057DAB7188}" destId="{336ACB36-61B0-4AA2-9FFD-FB082D80EFC0}" srcOrd="0" destOrd="0" presId="urn:microsoft.com/office/officeart/2005/8/layout/vList2"/>
    <dgm:cxn modelId="{1528E183-0A94-41A4-AC53-409E215CAA34}" type="presParOf" srcId="{6D10311E-16EF-421C-A623-00057DAB7188}" destId="{27E56ABA-57EA-4829-B58F-7EF2C9D69ED6}" srcOrd="1" destOrd="0" presId="urn:microsoft.com/office/officeart/2005/8/layout/vList2"/>
    <dgm:cxn modelId="{64FE89A4-3FAB-42CD-86A6-214EE21D0FDA}" type="presParOf" srcId="{6D10311E-16EF-421C-A623-00057DAB7188}" destId="{BB43A5AA-EDBB-4D04-8D81-E67BF613AE06}" srcOrd="2" destOrd="0" presId="urn:microsoft.com/office/officeart/2005/8/layout/vList2"/>
    <dgm:cxn modelId="{1DC4FA04-77B4-4E63-940B-BCD20CB3B37B}" type="presParOf" srcId="{6D10311E-16EF-421C-A623-00057DAB7188}" destId="{9C562FED-2BD2-4549-8928-97ECCEA6AAC2}" srcOrd="3" destOrd="0" presId="urn:microsoft.com/office/officeart/2005/8/layout/vList2"/>
    <dgm:cxn modelId="{461FD42F-E033-4AE7-8BC2-E10E77287333}" type="presParOf" srcId="{6D10311E-16EF-421C-A623-00057DAB7188}" destId="{69453D6A-4C08-458C-BA87-B2A437496B42}" srcOrd="4" destOrd="0" presId="urn:microsoft.com/office/officeart/2005/8/layout/vList2"/>
    <dgm:cxn modelId="{E885AAA4-E306-449B-86CA-4724C2B9F4EB}" type="presParOf" srcId="{6D10311E-16EF-421C-A623-00057DAB7188}" destId="{5F8F4BD2-CF4E-4F69-BCE3-6E9ECE7250B0}" srcOrd="5" destOrd="0" presId="urn:microsoft.com/office/officeart/2005/8/layout/vList2"/>
    <dgm:cxn modelId="{82F62082-4382-439C-B38A-6C0054ADB24C}" type="presParOf" srcId="{6D10311E-16EF-421C-A623-00057DAB7188}" destId="{285F6CF5-41C2-482E-98E1-9CCBE2D30E86}" srcOrd="6" destOrd="0" presId="urn:microsoft.com/office/officeart/2005/8/layout/vList2"/>
    <dgm:cxn modelId="{8F5BC5A2-D0C6-4F28-B2BA-4B59AADEC890}"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F7DADD9-6AB8-4BB8-86E5-408BF2190A6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AA13DAAE-6674-469F-B54A-07A5BB0FA268}">
      <dgm:prSet/>
      <dgm:spPr/>
      <dgm:t>
        <a:bodyPr/>
        <a:lstStyle/>
        <a:p>
          <a:r>
            <a:rPr lang="en-US" b="1" dirty="0"/>
            <a:t>Why It’s Useful</a:t>
          </a:r>
          <a:endParaRPr lang="en-US" dirty="0"/>
        </a:p>
      </dgm:t>
    </dgm:pt>
    <dgm:pt modelId="{CABD236F-C2E7-41E8-8D5C-BFDC7B4DCB33}" type="parTrans" cxnId="{AE83363B-D6DE-4501-9425-1606ECCD8BDC}">
      <dgm:prSet/>
      <dgm:spPr/>
      <dgm:t>
        <a:bodyPr/>
        <a:lstStyle/>
        <a:p>
          <a:endParaRPr lang="en-US"/>
        </a:p>
      </dgm:t>
    </dgm:pt>
    <dgm:pt modelId="{DFBCDE63-A1D4-4A01-AD4E-1C839C05A3C8}" type="sibTrans" cxnId="{AE83363B-D6DE-4501-9425-1606ECCD8BDC}">
      <dgm:prSet/>
      <dgm:spPr/>
      <dgm:t>
        <a:bodyPr/>
        <a:lstStyle/>
        <a:p>
          <a:endParaRPr lang="en-US"/>
        </a:p>
      </dgm:t>
    </dgm:pt>
    <dgm:pt modelId="{946D66C2-B3DE-4885-B79F-BC29283C0017}">
      <dgm:prSet/>
      <dgm:spPr/>
      <dgm:t>
        <a:bodyPr/>
        <a:lstStyle/>
        <a:p>
          <a:r>
            <a:rPr lang="en-US"/>
            <a:t>SVMs are powerful when salary patterns aren’t perfectly linear.</a:t>
          </a:r>
          <a:endParaRPr lang="en-US" b="0" dirty="0"/>
        </a:p>
      </dgm:t>
    </dgm:pt>
    <dgm:pt modelId="{409BD229-FF44-4047-A649-D24A1A54DAC2}" type="parTrans" cxnId="{7D66BF7C-7D44-4818-8D81-DBF724B8C6A1}">
      <dgm:prSet/>
      <dgm:spPr/>
      <dgm:t>
        <a:bodyPr/>
        <a:lstStyle/>
        <a:p>
          <a:endParaRPr lang="en-US"/>
        </a:p>
      </dgm:t>
    </dgm:pt>
    <dgm:pt modelId="{4231B22E-0F1A-482E-B90A-3748382F53D3}" type="sibTrans" cxnId="{7D66BF7C-7D44-4818-8D81-DBF724B8C6A1}">
      <dgm:prSet/>
      <dgm:spPr/>
      <dgm:t>
        <a:bodyPr/>
        <a:lstStyle/>
        <a:p>
          <a:endParaRPr lang="en-US"/>
        </a:p>
      </dgm:t>
    </dgm:pt>
    <dgm:pt modelId="{2C290374-704D-4657-89D5-FD1BA89E6FB4}">
      <dgm:prSet/>
      <dgm:spPr/>
      <dgm:t>
        <a:bodyPr/>
        <a:lstStyle/>
        <a:p>
          <a:r>
            <a:rPr lang="en-US" b="1"/>
            <a:t>Key Takeaway</a:t>
          </a:r>
          <a:endParaRPr lang="en-US"/>
        </a:p>
      </dgm:t>
    </dgm:pt>
    <dgm:pt modelId="{BFF30DDA-D2FD-4CCF-9135-25AA6B080B44}" type="parTrans" cxnId="{5DE1C1E1-7F21-48FE-A944-645716BBE8A6}">
      <dgm:prSet/>
      <dgm:spPr/>
      <dgm:t>
        <a:bodyPr/>
        <a:lstStyle/>
        <a:p>
          <a:endParaRPr lang="en-US"/>
        </a:p>
      </dgm:t>
    </dgm:pt>
    <dgm:pt modelId="{B0121AD6-173B-48AF-9B92-9FCED96D651D}" type="sibTrans" cxnId="{5DE1C1E1-7F21-48FE-A944-645716BBE8A6}">
      <dgm:prSet/>
      <dgm:spPr/>
      <dgm:t>
        <a:bodyPr/>
        <a:lstStyle/>
        <a:p>
          <a:endParaRPr lang="en-US"/>
        </a:p>
      </dgm:t>
    </dgm:pt>
    <dgm:pt modelId="{98FD444D-CE51-4557-81B9-43FD6EBE6BCA}">
      <dgm:prSet/>
      <dgm:spPr/>
      <dgm:t>
        <a:bodyPr/>
        <a:lstStyle/>
        <a:p>
          <a:r>
            <a:rPr lang="en-US" dirty="0"/>
            <a:t>Polynomial SVM adds flexibility by modeling </a:t>
          </a:r>
          <a:r>
            <a:rPr lang="en-US" b="1" dirty="0"/>
            <a:t>feature interactions</a:t>
          </a:r>
          <a:r>
            <a:rPr lang="en-US" dirty="0"/>
            <a:t>, making it more expressive than Linear SVM and sometimes more stable than RBF SVM when patterns follow structured curves.</a:t>
          </a:r>
          <a:endParaRPr lang="en-US" b="0" dirty="0"/>
        </a:p>
      </dgm:t>
    </dgm:pt>
    <dgm:pt modelId="{78B31D96-6CC7-4525-AAC0-DF244D0C5A48}" type="parTrans" cxnId="{F7507BA8-EEB5-4E24-B85B-C37CBEE7586B}">
      <dgm:prSet/>
      <dgm:spPr/>
      <dgm:t>
        <a:bodyPr/>
        <a:lstStyle/>
        <a:p>
          <a:endParaRPr lang="en-US"/>
        </a:p>
      </dgm:t>
    </dgm:pt>
    <dgm:pt modelId="{288E5369-D8B7-48D4-97F9-3E1BB9E09953}" type="sibTrans" cxnId="{F7507BA8-EEB5-4E24-B85B-C37CBEE7586B}">
      <dgm:prSet/>
      <dgm:spPr/>
      <dgm:t>
        <a:bodyPr/>
        <a:lstStyle/>
        <a:p>
          <a:endParaRPr lang="en-US"/>
        </a:p>
      </dgm:t>
    </dgm:pt>
    <dgm:pt modelId="{FC7BA64F-ABA3-403A-BC39-435A3E2667E9}">
      <dgm:prSet/>
      <dgm:spPr/>
      <dgm:t>
        <a:bodyPr/>
        <a:lstStyle/>
        <a:p>
          <a:r>
            <a:rPr lang="en-US" b="1"/>
            <a:t>Why This Matters</a:t>
          </a:r>
          <a:endParaRPr lang="en-US"/>
        </a:p>
      </dgm:t>
    </dgm:pt>
    <dgm:pt modelId="{82747D63-606C-4C7A-8124-F9FBE3D88E9B}" type="parTrans" cxnId="{68461572-4FDF-45E7-B8E8-9EC447F35A95}">
      <dgm:prSet/>
      <dgm:spPr/>
      <dgm:t>
        <a:bodyPr/>
        <a:lstStyle/>
        <a:p>
          <a:endParaRPr lang="en-US"/>
        </a:p>
      </dgm:t>
    </dgm:pt>
    <dgm:pt modelId="{804E7C7C-11DB-4A2C-AFAD-1549DC532DED}" type="sibTrans" cxnId="{68461572-4FDF-45E7-B8E8-9EC447F35A95}">
      <dgm:prSet/>
      <dgm:spPr/>
      <dgm:t>
        <a:bodyPr/>
        <a:lstStyle/>
        <a:p>
          <a:endParaRPr lang="en-US"/>
        </a:p>
      </dgm:t>
    </dgm:pt>
    <dgm:pt modelId="{D6297E2C-E48D-40E0-A157-465CB942E583}">
      <dgm:prSet/>
      <dgm:spPr/>
      <dgm:t>
        <a:bodyPr/>
        <a:lstStyle/>
        <a:p>
          <a:r>
            <a:rPr lang="en-US" dirty="0"/>
            <a:t>Including Polynomial SVM shows how salary classification changes when the model considers </a:t>
          </a:r>
          <a:r>
            <a:rPr lang="en-US" b="1" dirty="0"/>
            <a:t>combined effects</a:t>
          </a:r>
          <a:r>
            <a:rPr lang="en-US" dirty="0"/>
            <a:t> of features — not just individual contributions. This helps reveal deeper salary patterns that simpler boundaries might miss.</a:t>
          </a:r>
        </a:p>
      </dgm:t>
    </dgm:pt>
    <dgm:pt modelId="{FADACC2F-02C1-4223-808F-3CDF089EBACF}" type="parTrans" cxnId="{B8334DC9-683E-480D-B318-B3803E831AA9}">
      <dgm:prSet/>
      <dgm:spPr/>
      <dgm:t>
        <a:bodyPr/>
        <a:lstStyle/>
        <a:p>
          <a:endParaRPr lang="en-US"/>
        </a:p>
      </dgm:t>
    </dgm:pt>
    <dgm:pt modelId="{A8D09317-E83E-443E-B170-19972F9E0512}" type="sibTrans" cxnId="{B8334DC9-683E-480D-B318-B3803E831AA9}">
      <dgm:prSet/>
      <dgm:spPr/>
      <dgm:t>
        <a:bodyPr/>
        <a:lstStyle/>
        <a:p>
          <a:endParaRPr lang="en-US"/>
        </a:p>
      </dgm:t>
    </dgm:pt>
    <dgm:pt modelId="{C6D44D31-C6DE-43C4-A245-9B57C5442290}">
      <dgm:prSet phldrT="[Text]" phldr="0"/>
      <dgm:spPr/>
      <dgm:t>
        <a:bodyPr/>
        <a:lstStyle/>
        <a:p>
          <a:r>
            <a:rPr lang="en-US" b="1" dirty="0"/>
            <a:t>What is it?</a:t>
          </a:r>
        </a:p>
      </dgm:t>
    </dgm:pt>
    <dgm:pt modelId="{0DFCD15A-D126-4ECB-A96B-EF4968195E07}" type="parTrans" cxnId="{77D66DA6-FF17-4E92-9764-EB3546976CB4}">
      <dgm:prSet/>
      <dgm:spPr/>
      <dgm:t>
        <a:bodyPr/>
        <a:lstStyle/>
        <a:p>
          <a:endParaRPr lang="en-US"/>
        </a:p>
      </dgm:t>
    </dgm:pt>
    <dgm:pt modelId="{F7DB7F08-1E32-4F84-8243-8FE2D08E16CE}" type="sibTrans" cxnId="{77D66DA6-FF17-4E92-9764-EB3546976CB4}">
      <dgm:prSet/>
      <dgm:spPr/>
      <dgm:t>
        <a:bodyPr/>
        <a:lstStyle/>
        <a:p>
          <a:endParaRPr lang="en-US"/>
        </a:p>
      </dgm:t>
    </dgm:pt>
    <dgm:pt modelId="{31852D7E-D1F3-4512-9650-006559311F37}">
      <dgm:prSet/>
      <dgm:spPr/>
      <dgm:t>
        <a:bodyPr/>
        <a:lstStyle/>
        <a:p>
          <a:pPr>
            <a:buNone/>
          </a:pPr>
          <a:r>
            <a:rPr lang="en-US"/>
            <a:t>Support Vector Machines classify salary groups by finding the best boundary that separates higher‑salary and lower‑salary cases.</a:t>
          </a:r>
          <a:endParaRPr lang="en-US" b="0" dirty="0"/>
        </a:p>
      </dgm:t>
    </dgm:pt>
    <dgm:pt modelId="{FF1771F1-BFEB-418E-9AC1-4DCE0D33FB35}" type="parTrans" cxnId="{2F2C476F-1D4E-4959-8AEF-826C658E174E}">
      <dgm:prSet/>
      <dgm:spPr/>
      <dgm:t>
        <a:bodyPr/>
        <a:lstStyle/>
        <a:p>
          <a:endParaRPr lang="en-US"/>
        </a:p>
      </dgm:t>
    </dgm:pt>
    <dgm:pt modelId="{997C468B-C41E-4E2A-8908-B02C160BB6F2}" type="sibTrans" cxnId="{2F2C476F-1D4E-4959-8AEF-826C658E174E}">
      <dgm:prSet/>
      <dgm:spPr/>
      <dgm:t>
        <a:bodyPr/>
        <a:lstStyle/>
        <a:p>
          <a:endParaRPr lang="en-US"/>
        </a:p>
      </dgm:t>
    </dgm:pt>
    <dgm:pt modelId="{4D80558A-9D3E-46B4-9863-52CA73D6621A}">
      <dgm:prSet/>
      <dgm:spPr/>
      <dgm:t>
        <a:bodyPr/>
        <a:lstStyle/>
        <a:p>
          <a:pPr>
            <a:buFont typeface="Arial" panose="020B0604020202020204" pitchFamily="34" charset="0"/>
            <a:buChar char="•"/>
          </a:pPr>
          <a:r>
            <a:rPr lang="en-US" b="1"/>
            <a:t>Linear SVM</a:t>
          </a:r>
          <a:r>
            <a:rPr lang="en-US"/>
            <a:t> works well when features separate cleanly.</a:t>
          </a:r>
        </a:p>
      </dgm:t>
    </dgm:pt>
    <dgm:pt modelId="{7C142CD0-E859-4C81-A461-C70E4C315216}" type="parTrans" cxnId="{535899F1-D8BE-47AD-A862-DE67BF322F06}">
      <dgm:prSet/>
      <dgm:spPr/>
      <dgm:t>
        <a:bodyPr/>
        <a:lstStyle/>
        <a:p>
          <a:endParaRPr lang="en-US"/>
        </a:p>
      </dgm:t>
    </dgm:pt>
    <dgm:pt modelId="{26144C02-6410-424B-A5E4-C39D65040787}" type="sibTrans" cxnId="{535899F1-D8BE-47AD-A862-DE67BF322F06}">
      <dgm:prSet/>
      <dgm:spPr/>
      <dgm:t>
        <a:bodyPr/>
        <a:lstStyle/>
        <a:p>
          <a:endParaRPr lang="en-US"/>
        </a:p>
      </dgm:t>
    </dgm:pt>
    <dgm:pt modelId="{4048E9E0-C763-4D71-AD57-B30B18F673C7}">
      <dgm:prSet/>
      <dgm:spPr/>
      <dgm:t>
        <a:bodyPr/>
        <a:lstStyle/>
        <a:p>
          <a:pPr>
            <a:buFont typeface="Arial" panose="020B0604020202020204" pitchFamily="34" charset="0"/>
            <a:buChar char="•"/>
          </a:pPr>
          <a:r>
            <a:rPr lang="en-US" b="1" dirty="0"/>
            <a:t>RBF SVM</a:t>
          </a:r>
          <a:r>
            <a:rPr lang="en-US" dirty="0"/>
            <a:t> handles nonlinear relationships and subtle patterns.</a:t>
          </a:r>
        </a:p>
      </dgm:t>
    </dgm:pt>
    <dgm:pt modelId="{F7EB09FA-3EF5-4530-9F58-AC5725362540}" type="parTrans" cxnId="{63C04707-220C-4DA7-A8AD-7D963CF3D4E6}">
      <dgm:prSet/>
      <dgm:spPr/>
      <dgm:t>
        <a:bodyPr/>
        <a:lstStyle/>
        <a:p>
          <a:endParaRPr lang="en-US"/>
        </a:p>
      </dgm:t>
    </dgm:pt>
    <dgm:pt modelId="{D57309BC-178E-4F64-A939-2239C3A97AEC}" type="sibTrans" cxnId="{63C04707-220C-4DA7-A8AD-7D963CF3D4E6}">
      <dgm:prSet/>
      <dgm:spPr/>
      <dgm:t>
        <a:bodyPr/>
        <a:lstStyle/>
        <a:p>
          <a:endParaRPr lang="en-US"/>
        </a:p>
      </dgm:t>
    </dgm:pt>
    <dgm:pt modelId="{31D57407-3E11-42A2-AEB6-A3B9858BFA5C}">
      <dgm:prSet/>
      <dgm:spPr/>
      <dgm:t>
        <a:bodyPr/>
        <a:lstStyle/>
        <a:p>
          <a:pPr>
            <a:buFont typeface="Arial" panose="020B0604020202020204" pitchFamily="34" charset="0"/>
            <a:buChar char="•"/>
          </a:pPr>
          <a:r>
            <a:rPr lang="en-US" b="1" dirty="0"/>
            <a:t>Polynomial SVM</a:t>
          </a:r>
          <a:r>
            <a:rPr lang="en-US" dirty="0"/>
            <a:t> captures interactions between features (e.g., job title × experience) that influence salary together.</a:t>
          </a:r>
        </a:p>
      </dgm:t>
    </dgm:pt>
    <dgm:pt modelId="{EBA5670D-4763-4AD4-8688-E5695F0855DA}" type="parTrans" cxnId="{90A534C4-EB1E-4B5B-8288-9E77ECE5DFF0}">
      <dgm:prSet/>
      <dgm:spPr/>
      <dgm:t>
        <a:bodyPr/>
        <a:lstStyle/>
        <a:p>
          <a:endParaRPr lang="en-US"/>
        </a:p>
      </dgm:t>
    </dgm:pt>
    <dgm:pt modelId="{4CB7842A-0D14-400E-AC0A-98704CA29A47}" type="sibTrans" cxnId="{90A534C4-EB1E-4B5B-8288-9E77ECE5DFF0}">
      <dgm:prSet/>
      <dgm:spPr/>
      <dgm:t>
        <a:bodyPr/>
        <a:lstStyle/>
        <a:p>
          <a:endParaRPr lang="en-US"/>
        </a:p>
      </dgm:t>
    </dgm:pt>
    <dgm:pt modelId="{2E31F10E-753A-444D-97AC-0699B06CF690}">
      <dgm:prSet/>
      <dgm:spPr/>
      <dgm:t>
        <a:bodyPr/>
        <a:lstStyle/>
        <a:p>
          <a:pPr>
            <a:buFont typeface="Arial" panose="020B0604020202020204" pitchFamily="34" charset="0"/>
            <a:buChar char="•"/>
          </a:pPr>
          <a:r>
            <a:rPr lang="en-US" b="1"/>
            <a:t>Linear SVM</a:t>
          </a:r>
          <a:r>
            <a:rPr lang="en-US"/>
            <a:t> uses a straight-line boundary.</a:t>
          </a:r>
        </a:p>
      </dgm:t>
    </dgm:pt>
    <dgm:pt modelId="{09190354-4C05-4EC5-9DBD-6BC283B21FBD}" type="parTrans" cxnId="{83CB5A3A-7844-4ED6-906E-B737914233AE}">
      <dgm:prSet/>
      <dgm:spPr/>
      <dgm:t>
        <a:bodyPr/>
        <a:lstStyle/>
        <a:p>
          <a:endParaRPr lang="en-US"/>
        </a:p>
      </dgm:t>
    </dgm:pt>
    <dgm:pt modelId="{D3BD5E23-26E1-4D6A-9579-233EAAF0D208}" type="sibTrans" cxnId="{83CB5A3A-7844-4ED6-906E-B737914233AE}">
      <dgm:prSet/>
      <dgm:spPr/>
      <dgm:t>
        <a:bodyPr/>
        <a:lstStyle/>
        <a:p>
          <a:endParaRPr lang="en-US"/>
        </a:p>
      </dgm:t>
    </dgm:pt>
    <dgm:pt modelId="{C111927C-17E3-41AD-AE5D-703BDBA145B7}">
      <dgm:prSet/>
      <dgm:spPr/>
      <dgm:t>
        <a:bodyPr/>
        <a:lstStyle/>
        <a:p>
          <a:pPr>
            <a:buFont typeface="Arial" panose="020B0604020202020204" pitchFamily="34" charset="0"/>
            <a:buChar char="•"/>
          </a:pPr>
          <a:r>
            <a:rPr lang="en-US" b="1"/>
            <a:t>RBF SVM</a:t>
          </a:r>
          <a:r>
            <a:rPr lang="en-US"/>
            <a:t> uses a curved boundary that adapts to complex patterns.</a:t>
          </a:r>
        </a:p>
      </dgm:t>
    </dgm:pt>
    <dgm:pt modelId="{D38EE061-17A6-47D2-81C1-63929F9468D1}" type="parTrans" cxnId="{F01835E2-BCBE-4E26-A6EF-9D4A4CEDD76D}">
      <dgm:prSet/>
      <dgm:spPr/>
      <dgm:t>
        <a:bodyPr/>
        <a:lstStyle/>
        <a:p>
          <a:endParaRPr lang="en-US"/>
        </a:p>
      </dgm:t>
    </dgm:pt>
    <dgm:pt modelId="{AA064717-2681-4E0A-898F-466186A9D633}" type="sibTrans" cxnId="{F01835E2-BCBE-4E26-A6EF-9D4A4CEDD76D}">
      <dgm:prSet/>
      <dgm:spPr/>
      <dgm:t>
        <a:bodyPr/>
        <a:lstStyle/>
        <a:p>
          <a:endParaRPr lang="en-US"/>
        </a:p>
      </dgm:t>
    </dgm:pt>
    <dgm:pt modelId="{7E742301-1616-4683-8E68-17BB4EF7D61C}">
      <dgm:prSet/>
      <dgm:spPr/>
      <dgm:t>
        <a:bodyPr/>
        <a:lstStyle/>
        <a:p>
          <a:pPr>
            <a:buFont typeface="Arial" panose="020B0604020202020204" pitchFamily="34" charset="0"/>
            <a:buChar char="•"/>
          </a:pPr>
          <a:r>
            <a:rPr lang="en-US" b="1" dirty="0"/>
            <a:t>Polynomial SVM</a:t>
          </a:r>
          <a:r>
            <a:rPr lang="en-US" dirty="0"/>
            <a:t> uses a curved boundary shaped by polynomial interactions between features.</a:t>
          </a:r>
        </a:p>
      </dgm:t>
    </dgm:pt>
    <dgm:pt modelId="{F77AA8DC-BC01-47A3-8EF7-8219F14C5B87}" type="parTrans" cxnId="{8386AC67-787A-4FAF-9858-6F007F98CB92}">
      <dgm:prSet/>
      <dgm:spPr/>
      <dgm:t>
        <a:bodyPr/>
        <a:lstStyle/>
        <a:p>
          <a:endParaRPr lang="en-US"/>
        </a:p>
      </dgm:t>
    </dgm:pt>
    <dgm:pt modelId="{8B698E27-DE5D-48C1-93A9-8D830242A4EB}" type="sibTrans" cxnId="{8386AC67-787A-4FAF-9858-6F007F98CB92}">
      <dgm:prSet/>
      <dgm:spPr/>
      <dgm:t>
        <a:bodyPr/>
        <a:lstStyle/>
        <a:p>
          <a:endParaRPr lang="en-US"/>
        </a:p>
      </dgm:t>
    </dgm:pt>
    <dgm:pt modelId="{5E11EA86-A8B9-4AAF-A4C6-BCBECBEBD3F6}" type="pres">
      <dgm:prSet presAssocID="{3F7DADD9-6AB8-4BB8-86E5-408BF2190A62}" presName="linear" presStyleCnt="0">
        <dgm:presLayoutVars>
          <dgm:animLvl val="lvl"/>
          <dgm:resizeHandles val="exact"/>
        </dgm:presLayoutVars>
      </dgm:prSet>
      <dgm:spPr/>
    </dgm:pt>
    <dgm:pt modelId="{4888D0B7-3005-49C7-B72A-71F23BFDE9C9}" type="pres">
      <dgm:prSet presAssocID="{C6D44D31-C6DE-43C4-A245-9B57C5442290}" presName="parentText" presStyleLbl="node1" presStyleIdx="0" presStyleCnt="4">
        <dgm:presLayoutVars>
          <dgm:chMax val="0"/>
          <dgm:bulletEnabled val="1"/>
        </dgm:presLayoutVars>
      </dgm:prSet>
      <dgm:spPr/>
    </dgm:pt>
    <dgm:pt modelId="{7EC58E8B-3C71-4EB1-A06C-C3A7561484D4}" type="pres">
      <dgm:prSet presAssocID="{C6D44D31-C6DE-43C4-A245-9B57C5442290}" presName="childText" presStyleLbl="revTx" presStyleIdx="0" presStyleCnt="4">
        <dgm:presLayoutVars>
          <dgm:bulletEnabled val="1"/>
        </dgm:presLayoutVars>
      </dgm:prSet>
      <dgm:spPr/>
    </dgm:pt>
    <dgm:pt modelId="{02527B4E-EF55-4AF3-ACE5-7FCFC5406B17}" type="pres">
      <dgm:prSet presAssocID="{AA13DAAE-6674-469F-B54A-07A5BB0FA268}" presName="parentText" presStyleLbl="node1" presStyleIdx="1" presStyleCnt="4">
        <dgm:presLayoutVars>
          <dgm:chMax val="0"/>
          <dgm:bulletEnabled val="1"/>
        </dgm:presLayoutVars>
      </dgm:prSet>
      <dgm:spPr/>
    </dgm:pt>
    <dgm:pt modelId="{8328D837-2E45-4A89-9A5A-CCACC14B5F95}" type="pres">
      <dgm:prSet presAssocID="{AA13DAAE-6674-469F-B54A-07A5BB0FA268}" presName="childText" presStyleLbl="revTx" presStyleIdx="1" presStyleCnt="4">
        <dgm:presLayoutVars>
          <dgm:bulletEnabled val="1"/>
        </dgm:presLayoutVars>
      </dgm:prSet>
      <dgm:spPr/>
    </dgm:pt>
    <dgm:pt modelId="{9D892083-2125-4245-93BD-7B42A60DAD3A}" type="pres">
      <dgm:prSet presAssocID="{2C290374-704D-4657-89D5-FD1BA89E6FB4}" presName="parentText" presStyleLbl="node1" presStyleIdx="2" presStyleCnt="4">
        <dgm:presLayoutVars>
          <dgm:chMax val="0"/>
          <dgm:bulletEnabled val="1"/>
        </dgm:presLayoutVars>
      </dgm:prSet>
      <dgm:spPr/>
    </dgm:pt>
    <dgm:pt modelId="{822C921D-F893-4EE6-A491-2E85DFFE5193}" type="pres">
      <dgm:prSet presAssocID="{2C290374-704D-4657-89D5-FD1BA89E6FB4}" presName="childText" presStyleLbl="revTx" presStyleIdx="2" presStyleCnt="4">
        <dgm:presLayoutVars>
          <dgm:bulletEnabled val="1"/>
        </dgm:presLayoutVars>
      </dgm:prSet>
      <dgm:spPr/>
    </dgm:pt>
    <dgm:pt modelId="{2D7BADB5-5A67-4754-B9C2-B581983CF4D8}" type="pres">
      <dgm:prSet presAssocID="{FC7BA64F-ABA3-403A-BC39-435A3E2667E9}" presName="parentText" presStyleLbl="node1" presStyleIdx="3" presStyleCnt="4">
        <dgm:presLayoutVars>
          <dgm:chMax val="0"/>
          <dgm:bulletEnabled val="1"/>
        </dgm:presLayoutVars>
      </dgm:prSet>
      <dgm:spPr/>
    </dgm:pt>
    <dgm:pt modelId="{0F020807-BF35-40F2-A5C9-74F630F9B1F0}" type="pres">
      <dgm:prSet presAssocID="{FC7BA64F-ABA3-403A-BC39-435A3E2667E9}" presName="childText" presStyleLbl="revTx" presStyleIdx="3" presStyleCnt="4">
        <dgm:presLayoutVars>
          <dgm:bulletEnabled val="1"/>
        </dgm:presLayoutVars>
      </dgm:prSet>
      <dgm:spPr/>
    </dgm:pt>
  </dgm:ptLst>
  <dgm:cxnLst>
    <dgm:cxn modelId="{63C04707-220C-4DA7-A8AD-7D963CF3D4E6}" srcId="{946D66C2-B3DE-4885-B79F-BC29283C0017}" destId="{4048E9E0-C763-4D71-AD57-B30B18F673C7}" srcOrd="1" destOrd="0" parTransId="{F7EB09FA-3EF5-4530-9F58-AC5725362540}" sibTransId="{D57309BC-178E-4F64-A939-2239C3A97AEC}"/>
    <dgm:cxn modelId="{83CB5A3A-7844-4ED6-906E-B737914233AE}" srcId="{31852D7E-D1F3-4512-9650-006559311F37}" destId="{2E31F10E-753A-444D-97AC-0699B06CF690}" srcOrd="0" destOrd="0" parTransId="{09190354-4C05-4EC5-9DBD-6BC283B21FBD}" sibTransId="{D3BD5E23-26E1-4D6A-9579-233EAAF0D208}"/>
    <dgm:cxn modelId="{AE83363B-D6DE-4501-9425-1606ECCD8BDC}" srcId="{3F7DADD9-6AB8-4BB8-86E5-408BF2190A62}" destId="{AA13DAAE-6674-469F-B54A-07A5BB0FA268}" srcOrd="1" destOrd="0" parTransId="{CABD236F-C2E7-41E8-8D5C-BFDC7B4DCB33}" sibTransId="{DFBCDE63-A1D4-4A01-AD4E-1C839C05A3C8}"/>
    <dgm:cxn modelId="{51CE1260-1B24-43EC-9CE6-A31B1381C510}" type="presOf" srcId="{4D80558A-9D3E-46B4-9863-52CA73D6621A}" destId="{8328D837-2E45-4A89-9A5A-CCACC14B5F95}" srcOrd="0" destOrd="1" presId="urn:microsoft.com/office/officeart/2005/8/layout/vList2"/>
    <dgm:cxn modelId="{8386AC67-787A-4FAF-9858-6F007F98CB92}" srcId="{31852D7E-D1F3-4512-9650-006559311F37}" destId="{7E742301-1616-4683-8E68-17BB4EF7D61C}" srcOrd="2" destOrd="0" parTransId="{F77AA8DC-BC01-47A3-8EF7-8219F14C5B87}" sibTransId="{8B698E27-DE5D-48C1-93A9-8D830242A4EB}"/>
    <dgm:cxn modelId="{F3B6D16D-6FB7-4D1A-B658-ABCBBB5178EC}" type="presOf" srcId="{FC7BA64F-ABA3-403A-BC39-435A3E2667E9}" destId="{2D7BADB5-5A67-4754-B9C2-B581983CF4D8}" srcOrd="0" destOrd="0" presId="urn:microsoft.com/office/officeart/2005/8/layout/vList2"/>
    <dgm:cxn modelId="{1BB7FC6D-1C9B-49B2-8FA4-AD160BCF528C}" type="presOf" srcId="{7E742301-1616-4683-8E68-17BB4EF7D61C}" destId="{7EC58E8B-3C71-4EB1-A06C-C3A7561484D4}" srcOrd="0" destOrd="3" presId="urn:microsoft.com/office/officeart/2005/8/layout/vList2"/>
    <dgm:cxn modelId="{2F2C476F-1D4E-4959-8AEF-826C658E174E}" srcId="{C6D44D31-C6DE-43C4-A245-9B57C5442290}" destId="{31852D7E-D1F3-4512-9650-006559311F37}" srcOrd="0" destOrd="0" parTransId="{FF1771F1-BFEB-418E-9AC1-4DCE0D33FB35}" sibTransId="{997C468B-C41E-4E2A-8908-B02C160BB6F2}"/>
    <dgm:cxn modelId="{68461572-4FDF-45E7-B8E8-9EC447F35A95}" srcId="{3F7DADD9-6AB8-4BB8-86E5-408BF2190A62}" destId="{FC7BA64F-ABA3-403A-BC39-435A3E2667E9}" srcOrd="3" destOrd="0" parTransId="{82747D63-606C-4C7A-8124-F9FBE3D88E9B}" sibTransId="{804E7C7C-11DB-4A2C-AFAD-1549DC532DED}"/>
    <dgm:cxn modelId="{1EE0A158-0FB8-45EA-BDE5-78E74CB0373B}" type="presOf" srcId="{C6D44D31-C6DE-43C4-A245-9B57C5442290}" destId="{4888D0B7-3005-49C7-B72A-71F23BFDE9C9}" srcOrd="0" destOrd="0" presId="urn:microsoft.com/office/officeart/2005/8/layout/vList2"/>
    <dgm:cxn modelId="{7D66BF7C-7D44-4818-8D81-DBF724B8C6A1}" srcId="{AA13DAAE-6674-469F-B54A-07A5BB0FA268}" destId="{946D66C2-B3DE-4885-B79F-BC29283C0017}" srcOrd="0" destOrd="0" parTransId="{409BD229-FF44-4047-A649-D24A1A54DAC2}" sibTransId="{4231B22E-0F1A-482E-B90A-3748382F53D3}"/>
    <dgm:cxn modelId="{651AA28A-FBCD-4089-A21A-A66C373661EE}" type="presOf" srcId="{2C290374-704D-4657-89D5-FD1BA89E6FB4}" destId="{9D892083-2125-4245-93BD-7B42A60DAD3A}" srcOrd="0" destOrd="0" presId="urn:microsoft.com/office/officeart/2005/8/layout/vList2"/>
    <dgm:cxn modelId="{C92B0D8C-CECC-4DE1-BE71-1D926589F7E7}" type="presOf" srcId="{2E31F10E-753A-444D-97AC-0699B06CF690}" destId="{7EC58E8B-3C71-4EB1-A06C-C3A7561484D4}" srcOrd="0" destOrd="1" presId="urn:microsoft.com/office/officeart/2005/8/layout/vList2"/>
    <dgm:cxn modelId="{CE54FB90-C678-442E-9BC2-ABDAF939BAD6}" type="presOf" srcId="{31852D7E-D1F3-4512-9650-006559311F37}" destId="{7EC58E8B-3C71-4EB1-A06C-C3A7561484D4}" srcOrd="0" destOrd="0" presId="urn:microsoft.com/office/officeart/2005/8/layout/vList2"/>
    <dgm:cxn modelId="{36BC63A1-C7DE-4BF3-8856-CCA133E32B8B}" type="presOf" srcId="{C111927C-17E3-41AD-AE5D-703BDBA145B7}" destId="{7EC58E8B-3C71-4EB1-A06C-C3A7561484D4}" srcOrd="0" destOrd="2" presId="urn:microsoft.com/office/officeart/2005/8/layout/vList2"/>
    <dgm:cxn modelId="{77D66DA6-FF17-4E92-9764-EB3546976CB4}" srcId="{3F7DADD9-6AB8-4BB8-86E5-408BF2190A62}" destId="{C6D44D31-C6DE-43C4-A245-9B57C5442290}" srcOrd="0" destOrd="0" parTransId="{0DFCD15A-D126-4ECB-A96B-EF4968195E07}" sibTransId="{F7DB7F08-1E32-4F84-8243-8FE2D08E16CE}"/>
    <dgm:cxn modelId="{600B22A8-5FBD-4C9D-BB2B-89825238FF52}" type="presOf" srcId="{4048E9E0-C763-4D71-AD57-B30B18F673C7}" destId="{8328D837-2E45-4A89-9A5A-CCACC14B5F95}" srcOrd="0" destOrd="2" presId="urn:microsoft.com/office/officeart/2005/8/layout/vList2"/>
    <dgm:cxn modelId="{F7507BA8-EEB5-4E24-B85B-C37CBEE7586B}" srcId="{2C290374-704D-4657-89D5-FD1BA89E6FB4}" destId="{98FD444D-CE51-4557-81B9-43FD6EBE6BCA}" srcOrd="0" destOrd="0" parTransId="{78B31D96-6CC7-4525-AAC0-DF244D0C5A48}" sibTransId="{288E5369-D8B7-48D4-97F9-3E1BB9E09953}"/>
    <dgm:cxn modelId="{D8ABC4A9-A9DF-4E88-97FE-0CDC6618967E}" type="presOf" srcId="{98FD444D-CE51-4557-81B9-43FD6EBE6BCA}" destId="{822C921D-F893-4EE6-A491-2E85DFFE5193}" srcOrd="0" destOrd="0" presId="urn:microsoft.com/office/officeart/2005/8/layout/vList2"/>
    <dgm:cxn modelId="{337A7BB9-B8D6-4344-9DC4-817C1A7728D7}" type="presOf" srcId="{3F7DADD9-6AB8-4BB8-86E5-408BF2190A62}" destId="{5E11EA86-A8B9-4AAF-A4C6-BCBECBEBD3F6}" srcOrd="0" destOrd="0" presId="urn:microsoft.com/office/officeart/2005/8/layout/vList2"/>
    <dgm:cxn modelId="{B57F19C4-93F4-436C-8C77-FF2D024B2211}" type="presOf" srcId="{AA13DAAE-6674-469F-B54A-07A5BB0FA268}" destId="{02527B4E-EF55-4AF3-ACE5-7FCFC5406B17}" srcOrd="0" destOrd="0" presId="urn:microsoft.com/office/officeart/2005/8/layout/vList2"/>
    <dgm:cxn modelId="{90A534C4-EB1E-4B5B-8288-9E77ECE5DFF0}" srcId="{946D66C2-B3DE-4885-B79F-BC29283C0017}" destId="{31D57407-3E11-42A2-AEB6-A3B9858BFA5C}" srcOrd="2" destOrd="0" parTransId="{EBA5670D-4763-4AD4-8688-E5695F0855DA}" sibTransId="{4CB7842A-0D14-400E-AC0A-98704CA29A47}"/>
    <dgm:cxn modelId="{B8334DC9-683E-480D-B318-B3803E831AA9}" srcId="{FC7BA64F-ABA3-403A-BC39-435A3E2667E9}" destId="{D6297E2C-E48D-40E0-A157-465CB942E583}" srcOrd="0" destOrd="0" parTransId="{FADACC2F-02C1-4223-808F-3CDF089EBACF}" sibTransId="{A8D09317-E83E-443E-B170-19972F9E0512}"/>
    <dgm:cxn modelId="{5DE1C1E1-7F21-48FE-A944-645716BBE8A6}" srcId="{3F7DADD9-6AB8-4BB8-86E5-408BF2190A62}" destId="{2C290374-704D-4657-89D5-FD1BA89E6FB4}" srcOrd="2" destOrd="0" parTransId="{BFF30DDA-D2FD-4CCF-9135-25AA6B080B44}" sibTransId="{B0121AD6-173B-48AF-9B92-9FCED96D651D}"/>
    <dgm:cxn modelId="{F01835E2-BCBE-4E26-A6EF-9D4A4CEDD76D}" srcId="{31852D7E-D1F3-4512-9650-006559311F37}" destId="{C111927C-17E3-41AD-AE5D-703BDBA145B7}" srcOrd="1" destOrd="0" parTransId="{D38EE061-17A6-47D2-81C1-63929F9468D1}" sibTransId="{AA064717-2681-4E0A-898F-466186A9D633}"/>
    <dgm:cxn modelId="{A48414F0-7656-4B85-B605-DF70BD46A8C6}" type="presOf" srcId="{946D66C2-B3DE-4885-B79F-BC29283C0017}" destId="{8328D837-2E45-4A89-9A5A-CCACC14B5F95}" srcOrd="0" destOrd="0" presId="urn:microsoft.com/office/officeart/2005/8/layout/vList2"/>
    <dgm:cxn modelId="{535899F1-D8BE-47AD-A862-DE67BF322F06}" srcId="{946D66C2-B3DE-4885-B79F-BC29283C0017}" destId="{4D80558A-9D3E-46B4-9863-52CA73D6621A}" srcOrd="0" destOrd="0" parTransId="{7C142CD0-E859-4C81-A461-C70E4C315216}" sibTransId="{26144C02-6410-424B-A5E4-C39D65040787}"/>
    <dgm:cxn modelId="{E8BC61F4-6C3A-41E2-B941-1BE8CF21DAEB}" type="presOf" srcId="{31D57407-3E11-42A2-AEB6-A3B9858BFA5C}" destId="{8328D837-2E45-4A89-9A5A-CCACC14B5F95}" srcOrd="0" destOrd="3" presId="urn:microsoft.com/office/officeart/2005/8/layout/vList2"/>
    <dgm:cxn modelId="{F23259FC-6D12-4036-A6FD-6F3222722527}" type="presOf" srcId="{D6297E2C-E48D-40E0-A157-465CB942E583}" destId="{0F020807-BF35-40F2-A5C9-74F630F9B1F0}" srcOrd="0" destOrd="0" presId="urn:microsoft.com/office/officeart/2005/8/layout/vList2"/>
    <dgm:cxn modelId="{3E5E1951-AC24-45BA-8A7B-E9D29EE98C73}" type="presParOf" srcId="{5E11EA86-A8B9-4AAF-A4C6-BCBECBEBD3F6}" destId="{4888D0B7-3005-49C7-B72A-71F23BFDE9C9}" srcOrd="0" destOrd="0" presId="urn:microsoft.com/office/officeart/2005/8/layout/vList2"/>
    <dgm:cxn modelId="{1B61861F-852F-4667-8713-F22BB54808C3}" type="presParOf" srcId="{5E11EA86-A8B9-4AAF-A4C6-BCBECBEBD3F6}" destId="{7EC58E8B-3C71-4EB1-A06C-C3A7561484D4}" srcOrd="1" destOrd="0" presId="urn:microsoft.com/office/officeart/2005/8/layout/vList2"/>
    <dgm:cxn modelId="{649103D3-6D97-461D-B4B2-6DEFE5B9B1E1}" type="presParOf" srcId="{5E11EA86-A8B9-4AAF-A4C6-BCBECBEBD3F6}" destId="{02527B4E-EF55-4AF3-ACE5-7FCFC5406B17}" srcOrd="2" destOrd="0" presId="urn:microsoft.com/office/officeart/2005/8/layout/vList2"/>
    <dgm:cxn modelId="{4DD3B7D1-6266-4FA9-97C3-8EB0E31B0BE9}" type="presParOf" srcId="{5E11EA86-A8B9-4AAF-A4C6-BCBECBEBD3F6}" destId="{8328D837-2E45-4A89-9A5A-CCACC14B5F95}" srcOrd="3" destOrd="0" presId="urn:microsoft.com/office/officeart/2005/8/layout/vList2"/>
    <dgm:cxn modelId="{E4D7453D-7902-484D-B0F4-7E62B9938AFB}" type="presParOf" srcId="{5E11EA86-A8B9-4AAF-A4C6-BCBECBEBD3F6}" destId="{9D892083-2125-4245-93BD-7B42A60DAD3A}" srcOrd="4" destOrd="0" presId="urn:microsoft.com/office/officeart/2005/8/layout/vList2"/>
    <dgm:cxn modelId="{1F69A0AB-1903-43F7-B8C6-2F60D56823B1}" type="presParOf" srcId="{5E11EA86-A8B9-4AAF-A4C6-BCBECBEBD3F6}" destId="{822C921D-F893-4EE6-A491-2E85DFFE5193}" srcOrd="5" destOrd="0" presId="urn:microsoft.com/office/officeart/2005/8/layout/vList2"/>
    <dgm:cxn modelId="{51E5E2BB-4CA0-41BD-B320-E2BBFEDD72A5}" type="presParOf" srcId="{5E11EA86-A8B9-4AAF-A4C6-BCBECBEBD3F6}" destId="{2D7BADB5-5A67-4754-B9C2-B581983CF4D8}" srcOrd="6" destOrd="0" presId="urn:microsoft.com/office/officeart/2005/8/layout/vList2"/>
    <dgm:cxn modelId="{96E67674-94AC-47FE-9084-613CDB5648A6}" type="presParOf" srcId="{5E11EA86-A8B9-4AAF-A4C6-BCBECBEBD3F6}" destId="{0F020807-BF35-40F2-A5C9-74F630F9B1F0}"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b="0"/>
            <a:t>Provides a simple, interpretable nonlinear model</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Decision Trees capture nonlinear salary relationships but tend to overfit, making them less stable than ensemble models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Shows ensemble averaging boosts reliability</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A Decision Tree makes choices step‑by‑step, like a flowchart. It splits the data into groups based on factors such as job title and experience</a:t>
          </a:r>
        </a:p>
      </dgm:t>
    </dgm:pt>
    <dgm:pt modelId="{F35E0757-319C-496E-AC6A-90C0E359C793}" type="parTrans" cxnId="{47709316-ADBA-4081-A00F-9C7EBB3C3A86}">
      <dgm:prSet/>
      <dgm:spPr/>
    </dgm:pt>
    <dgm:pt modelId="{FFF5B358-E4D9-4784-ABBB-2DA7D0C639F7}" type="sibTrans" cxnId="{47709316-ADBA-4081-A00F-9C7EBB3C3A86}">
      <dgm:prSet/>
      <dgm:spPr/>
    </dgm:pt>
    <dgm:pt modelId="{2BE17539-A14A-4560-87D4-936C294FED33}">
      <dgm:prSet/>
      <dgm:spPr/>
      <dgm:t>
        <a:bodyPr/>
        <a:lstStyle/>
        <a:p>
          <a:r>
            <a:rPr lang="en-US" b="0"/>
            <a:t>Shows how features split the population into salary groups</a:t>
          </a:r>
          <a:endParaRPr lang="en-US" b="0" dirty="0"/>
        </a:p>
      </dgm:t>
    </dgm:pt>
    <dgm:pt modelId="{4C5B0489-3FA1-40D3-AAEA-2F851A0F370C}" type="parTrans" cxnId="{2D2858FC-5B39-49D9-8E87-03E05549359A}">
      <dgm:prSet/>
      <dgm:spPr/>
      <dgm:t>
        <a:bodyPr/>
        <a:lstStyle/>
        <a:p>
          <a:endParaRPr lang="en-US"/>
        </a:p>
      </dgm:t>
    </dgm:pt>
    <dgm:pt modelId="{36297A2B-A8FC-4B4C-BD46-1FE566321A41}" type="sibTrans" cxnId="{2D2858FC-5B39-49D9-8E87-03E05549359A}">
      <dgm:prSet/>
      <dgm:spPr/>
      <dgm:t>
        <a:bodyPr/>
        <a:lstStyle/>
        <a:p>
          <a:endParaRPr lang="en-US"/>
        </a:p>
      </dgm:t>
    </dgm:pt>
    <dgm:pt modelId="{5C124E7D-546C-4B26-A7A8-8A738E042562}">
      <dgm:prSet/>
      <dgm:spPr/>
      <dgm:t>
        <a:bodyPr/>
        <a:lstStyle/>
        <a:p>
          <a:r>
            <a:rPr lang="en-US" b="0"/>
            <a:t>Serves as the foundation for all ensemble methods</a:t>
          </a:r>
          <a:endParaRPr lang="en-US" b="0" dirty="0"/>
        </a:p>
      </dgm:t>
    </dgm:pt>
    <dgm:pt modelId="{E08C101D-E7FD-48D6-BD08-826BECEDEDF4}" type="parTrans" cxnId="{2F763594-90EB-4A6A-8980-2C4A747F534F}">
      <dgm:prSet/>
      <dgm:spPr/>
      <dgm:t>
        <a:bodyPr/>
        <a:lstStyle/>
        <a:p>
          <a:endParaRPr lang="en-US"/>
        </a:p>
      </dgm:t>
    </dgm:pt>
    <dgm:pt modelId="{17593127-504C-4D76-99C8-15B40E2ABA6F}" type="sibTrans" cxnId="{2F763594-90EB-4A6A-8980-2C4A747F534F}">
      <dgm:prSet/>
      <dgm:spPr/>
      <dgm:t>
        <a:bodyPr/>
        <a:lstStyle/>
        <a:p>
          <a:endParaRPr lang="en-US"/>
        </a:p>
      </dgm:t>
    </dgm:pt>
    <dgm:pt modelId="{56D56454-21D0-43F4-8896-1D18F0B74703}">
      <dgm:prSet/>
      <dgm:spPr/>
      <dgm:t>
        <a:bodyPr/>
        <a:lstStyle/>
        <a:p>
          <a:r>
            <a:rPr lang="en-US" b="0"/>
            <a:t>Helps visualize hierarchical salary decision patterns</a:t>
          </a:r>
          <a:endParaRPr lang="en-US" b="0" dirty="0"/>
        </a:p>
      </dgm:t>
    </dgm:pt>
    <dgm:pt modelId="{A002CEB4-46F3-4735-B342-9A9BDEA8251E}" type="parTrans" cxnId="{FC2E3E9F-FD5D-47F3-B1DD-2B2B3C36291B}">
      <dgm:prSet/>
      <dgm:spPr/>
      <dgm:t>
        <a:bodyPr/>
        <a:lstStyle/>
        <a:p>
          <a:endParaRPr lang="en-US"/>
        </a:p>
      </dgm:t>
    </dgm:pt>
    <dgm:pt modelId="{EB1AC45C-5943-459B-B70C-4B3EE8DC8C2C}" type="sibTrans" cxnId="{FC2E3E9F-FD5D-47F3-B1DD-2B2B3C36291B}">
      <dgm:prSet/>
      <dgm:spPr/>
      <dgm:t>
        <a:bodyPr/>
        <a:lstStyle/>
        <a:p>
          <a:endParaRPr lang="en-US"/>
        </a:p>
      </dgm:t>
    </dgm:pt>
    <dgm:pt modelId="{D4EF795B-6495-4B1D-999F-64EB99B6D4C6}">
      <dgm:prSet/>
      <dgm:spPr/>
      <dgm:t>
        <a:bodyPr/>
        <a:lstStyle/>
        <a:p>
          <a:r>
            <a:rPr lang="en-US" b="0" dirty="0"/>
            <a:t>Sets the stage for Random Forest, Gradient Boosting, and Extra Trees</a:t>
          </a:r>
        </a:p>
      </dgm:t>
    </dgm:pt>
    <dgm:pt modelId="{5B0ADEC7-B6C0-42A4-BF84-4E46FB5D1A84}" type="parTrans" cxnId="{B94E2242-005B-48A0-8323-405F46B8D8DF}">
      <dgm:prSet/>
      <dgm:spPr/>
      <dgm:t>
        <a:bodyPr/>
        <a:lstStyle/>
        <a:p>
          <a:endParaRPr lang="en-US"/>
        </a:p>
      </dgm:t>
    </dgm:pt>
    <dgm:pt modelId="{675307D4-EC3C-4B44-BDE6-07992CC51E0C}" type="sibTrans" cxnId="{B94E2242-005B-48A0-8323-405F46B8D8DF}">
      <dgm:prSet/>
      <dgm:spPr/>
      <dgm:t>
        <a:bodyPr/>
        <a:lstStyle/>
        <a:p>
          <a:endParaRPr lang="en-US"/>
        </a:p>
      </dgm:t>
    </dgm:pt>
    <dgm:pt modelId="{6F0A2550-BABD-4737-83D5-74ED5A327899}">
      <dgm:prSet/>
      <dgm:spPr/>
      <dgm:t>
        <a:bodyPr/>
        <a:lstStyle/>
        <a:p>
          <a:r>
            <a:rPr lang="en-US"/>
            <a:t>Demonstrates strong nonlinear modeling capability</a:t>
          </a:r>
          <a:endParaRPr lang="en-US" dirty="0"/>
        </a:p>
      </dgm:t>
    </dgm:pt>
    <dgm:pt modelId="{46BBEC5F-3071-430C-9996-DAA9194FD8B1}" type="parTrans" cxnId="{B137DC69-A3C7-4C58-AFE7-8FE3597F43DD}">
      <dgm:prSet/>
      <dgm:spPr/>
      <dgm:t>
        <a:bodyPr/>
        <a:lstStyle/>
        <a:p>
          <a:endParaRPr lang="en-US"/>
        </a:p>
      </dgm:t>
    </dgm:pt>
    <dgm:pt modelId="{88A5152A-0509-4BC4-8C01-050E218EED53}" type="sibTrans" cxnId="{B137DC69-A3C7-4C58-AFE7-8FE3597F43DD}">
      <dgm:prSet/>
      <dgm:spPr/>
      <dgm:t>
        <a:bodyPr/>
        <a:lstStyle/>
        <a:p>
          <a:endParaRPr lang="en-US"/>
        </a:p>
      </dgm:t>
    </dgm:pt>
    <dgm:pt modelId="{74594BBC-6B81-43A6-BA34-8756001A5054}">
      <dgm:prSet/>
      <dgm:spPr/>
      <dgm:t>
        <a:bodyPr/>
        <a:lstStyle/>
        <a:p>
          <a:r>
            <a:rPr lang="en-US" dirty="0"/>
            <a:t>Provides a benchmark for more advanced ensembles</a:t>
          </a:r>
        </a:p>
      </dgm:t>
    </dgm:pt>
    <dgm:pt modelId="{9B24560F-24F8-4F4D-8F79-53797012EDC5}" type="parTrans" cxnId="{55C3D6EB-DD56-4C9E-BEAA-5B3B261FEC09}">
      <dgm:prSet/>
      <dgm:spPr/>
      <dgm:t>
        <a:bodyPr/>
        <a:lstStyle/>
        <a:p>
          <a:endParaRPr lang="en-US"/>
        </a:p>
      </dgm:t>
    </dgm:pt>
    <dgm:pt modelId="{B7194509-8A32-489E-9D23-AF94B987FEAA}" type="sibTrans" cxnId="{55C3D6EB-DD56-4C9E-BEAA-5B3B261FEC09}">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86156302-F163-4B6C-A8A8-9E83A3579B89}" type="presOf" srcId="{D4EF795B-6495-4B1D-999F-64EB99B6D4C6}" destId="{9C562FED-2BD2-4549-8928-97ECCEA6AAC2}" srcOrd="0" destOrd="4" presId="urn:microsoft.com/office/officeart/2005/8/layout/vList2"/>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9465D3D-5D4F-4B6D-A22E-21FC51F722CB}" type="presOf" srcId="{1F391B93-8792-4359-8795-95FB4CC4E185}" destId="{9C562FED-2BD2-4549-8928-97ECCEA6AAC2}" srcOrd="0" destOrd="0" presId="urn:microsoft.com/office/officeart/2005/8/layout/vList2"/>
    <dgm:cxn modelId="{A552355D-2E66-43A8-AE08-DD5002433F3F}" type="presOf" srcId="{A116674C-95D0-4009-B41A-019827E4E5FD}" destId="{27E56ABA-57EA-4829-B58F-7EF2C9D69ED6}" srcOrd="0" destOrd="0" presId="urn:microsoft.com/office/officeart/2005/8/layout/vList2"/>
    <dgm:cxn modelId="{B94E2242-005B-48A0-8323-405F46B8D8DF}" srcId="{72EFA449-DE0F-4C78-8DB0-26D84BA841D9}" destId="{D4EF795B-6495-4B1D-999F-64EB99B6D4C6}" srcOrd="4" destOrd="0" parTransId="{5B0ADEC7-B6C0-42A4-BF84-4E46FB5D1A84}" sibTransId="{675307D4-EC3C-4B44-BDE6-07992CC51E0C}"/>
    <dgm:cxn modelId="{B1EFF763-DDD6-4E9C-A587-46E244B17C6C}" type="presOf" srcId="{56D56454-21D0-43F4-8896-1D18F0B74703}" destId="{9C562FED-2BD2-4549-8928-97ECCEA6AAC2}" srcOrd="0" destOrd="3" presId="urn:microsoft.com/office/officeart/2005/8/layout/vList2"/>
    <dgm:cxn modelId="{50423267-6170-4D9C-B295-1EE87E551243}" type="presOf" srcId="{ECC2A3D1-77DD-4C14-B0D5-066744AC8214}" destId="{336ACB36-61B0-4AA2-9FFD-FB082D80EFC0}" srcOrd="0" destOrd="0" presId="urn:microsoft.com/office/officeart/2005/8/layout/vList2"/>
    <dgm:cxn modelId="{B137DC69-A3C7-4C58-AFE7-8FE3597F43DD}" srcId="{C524CB13-8BE5-477B-AC10-AFF4B6835945}" destId="{6F0A2550-BABD-4737-83D5-74ED5A327899}" srcOrd="1" destOrd="0" parTransId="{46BBEC5F-3071-430C-9996-DAA9194FD8B1}" sibTransId="{88A5152A-0509-4BC4-8C01-050E218EED53}"/>
    <dgm:cxn modelId="{F095D24D-39F8-40EB-BA09-B0245BD859CF}" srcId="{CDFD7CB8-933A-4711-A369-BCB72313CF9F}" destId="{D3F16C7E-6C89-4C58-B7AE-350FA71878FA}" srcOrd="0" destOrd="0" parTransId="{B7C782B7-0253-41D8-97D2-D8C5BD224011}" sibTransId="{7D1A712A-0468-4C5C-9E11-C5A58D656C16}"/>
    <dgm:cxn modelId="{2DA42070-65E4-40B6-AC9B-5D39490E9105}" type="presOf" srcId="{74594BBC-6B81-43A6-BA34-8756001A5054}" destId="{94B9AB2B-E3A2-4D49-90DF-FAD7F840A1A8}" srcOrd="0" destOrd="2" presId="urn:microsoft.com/office/officeart/2005/8/layout/vList2"/>
    <dgm:cxn modelId="{4DD36F71-5394-4D38-B38C-A3A12EAD3ED5}" type="presOf" srcId="{D56B47F1-CBAA-4710-9265-0EBF55E947A2}" destId="{6D10311E-16EF-421C-A623-00057DAB7188}" srcOrd="0" destOrd="0" presId="urn:microsoft.com/office/officeart/2005/8/layout/vList2"/>
    <dgm:cxn modelId="{77BB6153-9E7C-48C5-B188-BFE1DFA5A57A}" type="presOf" srcId="{2BE17539-A14A-4560-87D4-936C294FED33}" destId="{9C562FED-2BD2-4549-8928-97ECCEA6AAC2}" srcOrd="0" destOrd="1"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0AC6FB58-487E-452B-8687-D8DB18144D97}" type="presOf" srcId="{6F0A2550-BABD-4737-83D5-74ED5A327899}" destId="{94B9AB2B-E3A2-4D49-90DF-FAD7F840A1A8}" srcOrd="0" destOrd="1" presId="urn:microsoft.com/office/officeart/2005/8/layout/vList2"/>
    <dgm:cxn modelId="{E735E380-B194-405A-ADB9-AE8F5E4946F7}" srcId="{D56B47F1-CBAA-4710-9265-0EBF55E947A2}" destId="{C524CB13-8BE5-477B-AC10-AFF4B6835945}" srcOrd="3" destOrd="0" parTransId="{F8205DB5-4106-4E5A-A5C8-63A68A6EF71C}" sibTransId="{E27E7B7C-0126-467A-BF9A-22B1A1BFF3D6}"/>
    <dgm:cxn modelId="{2F763594-90EB-4A6A-8980-2C4A747F534F}" srcId="{72EFA449-DE0F-4C78-8DB0-26D84BA841D9}" destId="{5C124E7D-546C-4B26-A7A8-8A738E042562}" srcOrd="2" destOrd="0" parTransId="{E08C101D-E7FD-48D6-BD08-826BECEDEDF4}" sibTransId="{17593127-504C-4D76-99C8-15B40E2ABA6F}"/>
    <dgm:cxn modelId="{FC2E3E9F-FD5D-47F3-B1DD-2B2B3C36291B}" srcId="{72EFA449-DE0F-4C78-8DB0-26D84BA841D9}" destId="{56D56454-21D0-43F4-8896-1D18F0B74703}" srcOrd="3" destOrd="0" parTransId="{A002CEB4-46F3-4735-B342-9A9BDEA8251E}" sibTransId="{EB1AC45C-5943-459B-B70C-4B3EE8DC8C2C}"/>
    <dgm:cxn modelId="{8BC6C5B8-E8F4-4AB6-84C4-1F39D02D142A}" type="presOf" srcId="{CDFD7CB8-933A-4711-A369-BCB72313CF9F}" destId="{69453D6A-4C08-458C-BA87-B2A437496B42}" srcOrd="0" destOrd="0" presId="urn:microsoft.com/office/officeart/2005/8/layout/vList2"/>
    <dgm:cxn modelId="{8E24C1CC-88EC-4ECA-9A31-16D374145DC0}" type="presOf" srcId="{5C124E7D-546C-4B26-A7A8-8A738E042562}" destId="{9C562FED-2BD2-4549-8928-97ECCEA6AAC2}" srcOrd="0" destOrd="2"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55C3D6EB-DD56-4C9E-BEAA-5B3B261FEC09}" srcId="{C524CB13-8BE5-477B-AC10-AFF4B6835945}" destId="{74594BBC-6B81-43A6-BA34-8756001A5054}" srcOrd="2" destOrd="0" parTransId="{9B24560F-24F8-4F4D-8F79-53797012EDC5}" sibTransId="{B7194509-8A32-489E-9D23-AF94B987FEAA}"/>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2D2858FC-5B39-49D9-8E87-03E05549359A}" srcId="{72EFA449-DE0F-4C78-8DB0-26D84BA841D9}" destId="{2BE17539-A14A-4560-87D4-936C294FED33}" srcOrd="1" destOrd="0" parTransId="{4C5B0489-3FA1-40D3-AAEA-2F851A0F370C}" sibTransId="{36297A2B-A8FC-4B4C-BD46-1FE566321A41}"/>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More stable and reliable than a single tree</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Random Forest improves stability and accuracy over single trees, offering strong performance across all metrics.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Shows ensemble averaging boosts reliability</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Random Forest uses many decision trees and combines their answers. Think of it like getting multiple opinions instead of relying on just one.</a:t>
          </a:r>
        </a:p>
      </dgm:t>
    </dgm:pt>
    <dgm:pt modelId="{F35E0757-319C-496E-AC6A-90C0E359C793}" type="parTrans" cxnId="{47709316-ADBA-4081-A00F-9C7EBB3C3A86}">
      <dgm:prSet/>
      <dgm:spPr/>
    </dgm:pt>
    <dgm:pt modelId="{FFF5B358-E4D9-4784-ABBB-2DA7D0C639F7}" type="sibTrans" cxnId="{47709316-ADBA-4081-A00F-9C7EBB3C3A86}">
      <dgm:prSet/>
      <dgm:spPr/>
    </dgm:pt>
    <dgm:pt modelId="{8DA1C092-54B6-42D1-8DA7-E2CDE2C38EC1}">
      <dgm:prSet/>
      <dgm:spPr/>
      <dgm:t>
        <a:bodyPr/>
        <a:lstStyle/>
        <a:p>
          <a:r>
            <a:rPr lang="en-US"/>
            <a:t>Handles messy or complex data well, which is true in this case</a:t>
          </a:r>
          <a:endParaRPr lang="en-US" dirty="0"/>
        </a:p>
      </dgm:t>
    </dgm:pt>
    <dgm:pt modelId="{C8E4B64A-FFED-4252-9EDE-7A8E6B19C292}" type="parTrans" cxnId="{ED4D9EDE-1867-4799-8CAF-551CA2E6034C}">
      <dgm:prSet/>
      <dgm:spPr/>
      <dgm:t>
        <a:bodyPr/>
        <a:lstStyle/>
        <a:p>
          <a:endParaRPr lang="en-US"/>
        </a:p>
      </dgm:t>
    </dgm:pt>
    <dgm:pt modelId="{92C293CA-9657-4B13-A542-F051BD4C7EA4}" type="sibTrans" cxnId="{ED4D9EDE-1867-4799-8CAF-551CA2E6034C}">
      <dgm:prSet/>
      <dgm:spPr/>
      <dgm:t>
        <a:bodyPr/>
        <a:lstStyle/>
        <a:p>
          <a:endParaRPr lang="en-US"/>
        </a:p>
      </dgm:t>
    </dgm:pt>
    <dgm:pt modelId="{4EB1E3E1-2293-4202-945E-09648559EB8D}">
      <dgm:prSet/>
      <dgm:spPr/>
      <dgm:t>
        <a:bodyPr/>
        <a:lstStyle/>
        <a:p>
          <a:r>
            <a:rPr lang="en-US"/>
            <a:t>Provides stable feature importance rankings</a:t>
          </a:r>
          <a:endParaRPr lang="en-US" dirty="0"/>
        </a:p>
      </dgm:t>
    </dgm:pt>
    <dgm:pt modelId="{15A01AC8-5B57-4761-8D50-88AC359F6BDE}" type="parTrans" cxnId="{B0D30102-BA98-4A04-BB13-4D711A258A43}">
      <dgm:prSet/>
      <dgm:spPr/>
      <dgm:t>
        <a:bodyPr/>
        <a:lstStyle/>
        <a:p>
          <a:endParaRPr lang="en-US"/>
        </a:p>
      </dgm:t>
    </dgm:pt>
    <dgm:pt modelId="{D8C891F7-8668-4A62-B193-2DB3C2B8CE4E}" type="sibTrans" cxnId="{B0D30102-BA98-4A04-BB13-4D711A258A43}">
      <dgm:prSet/>
      <dgm:spPr/>
      <dgm:t>
        <a:bodyPr/>
        <a:lstStyle/>
        <a:p>
          <a:endParaRPr lang="en-US"/>
        </a:p>
      </dgm:t>
    </dgm:pt>
    <dgm:pt modelId="{2FB53D9D-9B7D-4870-98A2-69574744A909}">
      <dgm:prSet/>
      <dgm:spPr/>
      <dgm:t>
        <a:bodyPr/>
        <a:lstStyle/>
        <a:p>
          <a:r>
            <a:rPr lang="en-US" dirty="0"/>
            <a:t>Strong baseline ensemble model for tabular data</a:t>
          </a:r>
        </a:p>
      </dgm:t>
    </dgm:pt>
    <dgm:pt modelId="{F7292D8A-49AC-4A43-A4C7-8323831D8259}" type="parTrans" cxnId="{76C7D513-DA90-4405-9033-B4589941F8BD}">
      <dgm:prSet/>
      <dgm:spPr/>
      <dgm:t>
        <a:bodyPr/>
        <a:lstStyle/>
        <a:p>
          <a:endParaRPr lang="en-US"/>
        </a:p>
      </dgm:t>
    </dgm:pt>
    <dgm:pt modelId="{71FCDB23-A9EB-4BC7-98D5-A15BBA89D444}" type="sibTrans" cxnId="{76C7D513-DA90-4405-9033-B4589941F8BD}">
      <dgm:prSet/>
      <dgm:spPr/>
      <dgm:t>
        <a:bodyPr/>
        <a:lstStyle/>
        <a:p>
          <a:endParaRPr lang="en-US"/>
        </a:p>
      </dgm:t>
    </dgm:pt>
    <dgm:pt modelId="{E324807B-EF79-4FCE-B050-1075C8D49591}">
      <dgm:prSet/>
      <dgm:spPr/>
      <dgm:t>
        <a:bodyPr/>
        <a:lstStyle/>
        <a:p>
          <a:r>
            <a:rPr lang="en-US"/>
            <a:t>Demonstrates strong nonlinear modeling capability</a:t>
          </a:r>
          <a:endParaRPr lang="en-US" dirty="0"/>
        </a:p>
      </dgm:t>
    </dgm:pt>
    <dgm:pt modelId="{2BEA8BDD-13F7-41BA-834E-313C05B17E96}" type="parTrans" cxnId="{7763999B-BD02-4E02-BE6D-83BE81D5D621}">
      <dgm:prSet/>
      <dgm:spPr/>
      <dgm:t>
        <a:bodyPr/>
        <a:lstStyle/>
        <a:p>
          <a:endParaRPr lang="en-US"/>
        </a:p>
      </dgm:t>
    </dgm:pt>
    <dgm:pt modelId="{B4512B8D-5645-4C8C-805B-D1D683D2CD7A}" type="sibTrans" cxnId="{7763999B-BD02-4E02-BE6D-83BE81D5D621}">
      <dgm:prSet/>
      <dgm:spPr/>
      <dgm:t>
        <a:bodyPr/>
        <a:lstStyle/>
        <a:p>
          <a:endParaRPr lang="en-US"/>
        </a:p>
      </dgm:t>
    </dgm:pt>
    <dgm:pt modelId="{638B99A7-8402-4472-92A4-EDEC8D8B61E9}">
      <dgm:prSet/>
      <dgm:spPr/>
      <dgm:t>
        <a:bodyPr/>
        <a:lstStyle/>
        <a:p>
          <a:r>
            <a:rPr lang="en-US" dirty="0"/>
            <a:t>Provides a benchmark for more advanced ensembles</a:t>
          </a:r>
        </a:p>
      </dgm:t>
    </dgm:pt>
    <dgm:pt modelId="{01ADA395-6695-4504-9237-D8CA6B3D2442}" type="parTrans" cxnId="{E7E30302-8832-48CD-B4CD-7B2AD49B40EB}">
      <dgm:prSet/>
      <dgm:spPr/>
      <dgm:t>
        <a:bodyPr/>
        <a:lstStyle/>
        <a:p>
          <a:endParaRPr lang="en-US"/>
        </a:p>
      </dgm:t>
    </dgm:pt>
    <dgm:pt modelId="{8C65CF48-7859-46B0-AB3A-491BA8FCFBB2}" type="sibTrans" cxnId="{E7E30302-8832-48CD-B4CD-7B2AD49B40EB}">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B0D30102-BA98-4A04-BB13-4D711A258A43}" srcId="{72EFA449-DE0F-4C78-8DB0-26D84BA841D9}" destId="{4EB1E3E1-2293-4202-945E-09648559EB8D}" srcOrd="2" destOrd="0" parTransId="{15A01AC8-5B57-4761-8D50-88AC359F6BDE}" sibTransId="{D8C891F7-8668-4A62-B193-2DB3C2B8CE4E}"/>
    <dgm:cxn modelId="{E7E30302-8832-48CD-B4CD-7B2AD49B40EB}" srcId="{C524CB13-8BE5-477B-AC10-AFF4B6835945}" destId="{638B99A7-8402-4472-92A4-EDEC8D8B61E9}" srcOrd="2" destOrd="0" parTransId="{01ADA395-6695-4504-9237-D8CA6B3D2442}" sibTransId="{8C65CF48-7859-46B0-AB3A-491BA8FCFBB2}"/>
    <dgm:cxn modelId="{B29A5308-4866-4DA4-8B11-2F36AEBBD1CD}" type="presOf" srcId="{4EB1E3E1-2293-4202-945E-09648559EB8D}" destId="{9C562FED-2BD2-4549-8928-97ECCEA6AAC2}" srcOrd="0" destOrd="2" presId="urn:microsoft.com/office/officeart/2005/8/layout/vList2"/>
    <dgm:cxn modelId="{76C7D513-DA90-4405-9033-B4589941F8BD}" srcId="{72EFA449-DE0F-4C78-8DB0-26D84BA841D9}" destId="{2FB53D9D-9B7D-4870-98A2-69574744A909}" srcOrd="3" destOrd="0" parTransId="{F7292D8A-49AC-4A43-A4C7-8323831D8259}" sibTransId="{71FCDB23-A9EB-4BC7-98D5-A15BBA89D444}"/>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9465D3D-5D4F-4B6D-A22E-21FC51F722CB}" type="presOf" srcId="{1F391B93-8792-4359-8795-95FB4CC4E185}" destId="{9C562FED-2BD2-4549-8928-97ECCEA6AAC2}" srcOrd="0" destOrd="0" presId="urn:microsoft.com/office/officeart/2005/8/layout/vList2"/>
    <dgm:cxn modelId="{A552355D-2E66-43A8-AE08-DD5002433F3F}" type="presOf" srcId="{A116674C-95D0-4009-B41A-019827E4E5FD}" destId="{27E56ABA-57EA-4829-B58F-7EF2C9D69ED6}" srcOrd="0" destOrd="0" presId="urn:microsoft.com/office/officeart/2005/8/layout/vList2"/>
    <dgm:cxn modelId="{8A91EA65-E8B0-4D9C-A6F0-1046A0B0597D}" type="presOf" srcId="{2FB53D9D-9B7D-4870-98A2-69574744A909}" destId="{9C562FED-2BD2-4549-8928-97ECCEA6AAC2}" srcOrd="0" destOrd="3" presId="urn:microsoft.com/office/officeart/2005/8/layout/vList2"/>
    <dgm:cxn modelId="{50423267-6170-4D9C-B295-1EE87E551243}" type="presOf" srcId="{ECC2A3D1-77DD-4C14-B0D5-066744AC8214}" destId="{336ACB36-61B0-4AA2-9FFD-FB082D80EFC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E735E380-B194-405A-ADB9-AE8F5E4946F7}" srcId="{D56B47F1-CBAA-4710-9265-0EBF55E947A2}" destId="{C524CB13-8BE5-477B-AC10-AFF4B6835945}" srcOrd="3" destOrd="0" parTransId="{F8205DB5-4106-4E5A-A5C8-63A68A6EF71C}" sibTransId="{E27E7B7C-0126-467A-BF9A-22B1A1BFF3D6}"/>
    <dgm:cxn modelId="{34D65E8E-1B9E-4BCA-BD57-F5A5E2268EBF}" type="presOf" srcId="{E324807B-EF79-4FCE-B050-1075C8D49591}" destId="{94B9AB2B-E3A2-4D49-90DF-FAD7F840A1A8}" srcOrd="0" destOrd="1" presId="urn:microsoft.com/office/officeart/2005/8/layout/vList2"/>
    <dgm:cxn modelId="{7763999B-BD02-4E02-BE6D-83BE81D5D621}" srcId="{C524CB13-8BE5-477B-AC10-AFF4B6835945}" destId="{E324807B-EF79-4FCE-B050-1075C8D49591}" srcOrd="1" destOrd="0" parTransId="{2BEA8BDD-13F7-41BA-834E-313C05B17E96}" sibTransId="{B4512B8D-5645-4C8C-805B-D1D683D2CD7A}"/>
    <dgm:cxn modelId="{8BC6C5B8-E8F4-4AB6-84C4-1F39D02D142A}" type="presOf" srcId="{CDFD7CB8-933A-4711-A369-BCB72313CF9F}" destId="{69453D6A-4C08-458C-BA87-B2A437496B42}" srcOrd="0" destOrd="0" presId="urn:microsoft.com/office/officeart/2005/8/layout/vList2"/>
    <dgm:cxn modelId="{686234C8-47AD-4E32-9E4D-7EAD9F6E2273}" type="presOf" srcId="{638B99A7-8402-4472-92A4-EDEC8D8B61E9}" destId="{94B9AB2B-E3A2-4D49-90DF-FAD7F840A1A8}" srcOrd="0" destOrd="2" presId="urn:microsoft.com/office/officeart/2005/8/layout/vList2"/>
    <dgm:cxn modelId="{153D44CA-ED5C-4022-94DD-4898BD04031E}" type="presOf" srcId="{8DA1C092-54B6-42D1-8DA7-E2CDE2C38EC1}" destId="{9C562FED-2BD2-4549-8928-97ECCEA6AAC2}" srcOrd="0" destOrd="1"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ED4D9EDE-1867-4799-8CAF-551CA2E6034C}" srcId="{72EFA449-DE0F-4C78-8DB0-26D84BA841D9}" destId="{8DA1C092-54B6-42D1-8DA7-E2CDE2C38EC1}" srcOrd="1" destOrd="0" parTransId="{C8E4B64A-FFED-4252-9EDE-7A8E6B19C292}" sibTransId="{92C293CA-9657-4B13-A542-F051BD4C7EA4}"/>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Sequentially reduces bias by correcting previous errors</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Gradient Boosting uncovers complex salary interactions but may require tuning to reach peak performance.</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Shows the value of sequential learning</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t>
        <a:bodyPr/>
        <a:lstStyle/>
        <a:p>
          <a:endParaRPr lang="en-US"/>
        </a:p>
      </dgm:t>
    </dgm:pt>
    <dgm:pt modelId="{CDA84AB6-39C9-4281-A989-3E37A7E52F72}" type="sibTrans" cxnId="{012DFC1F-2B98-4F82-8DBE-17CB990EB04C}">
      <dgm:prSet/>
      <dgm:spPr/>
      <dgm:t>
        <a:bodyPr/>
        <a:lstStyle/>
        <a:p>
          <a:endParaRPr lang="en-US"/>
        </a:p>
      </dgm:t>
    </dgm:pt>
    <dgm:pt modelId="{A116674C-95D0-4009-B41A-019827E4E5FD}">
      <dgm:prSet/>
      <dgm:spPr/>
      <dgm:t>
        <a:bodyPr/>
        <a:lstStyle/>
        <a:p>
          <a:pPr>
            <a:buNone/>
          </a:pPr>
          <a:r>
            <a:rPr lang="en-US" dirty="0"/>
            <a:t>Gradient Boosting builds trees one at a time, each one fixing the mistakes of the previous one. It’s like learning from errors step‑by‑step.</a:t>
          </a:r>
        </a:p>
      </dgm:t>
    </dgm:pt>
    <dgm:pt modelId="{F35E0757-319C-496E-AC6A-90C0E359C793}" type="parTrans" cxnId="{47709316-ADBA-4081-A00F-9C7EBB3C3A86}">
      <dgm:prSet/>
      <dgm:spPr/>
      <dgm:t>
        <a:bodyPr/>
        <a:lstStyle/>
        <a:p>
          <a:endParaRPr lang="en-US"/>
        </a:p>
      </dgm:t>
    </dgm:pt>
    <dgm:pt modelId="{FFF5B358-E4D9-4784-ABBB-2DA7D0C639F7}" type="sibTrans" cxnId="{47709316-ADBA-4081-A00F-9C7EBB3C3A86}">
      <dgm:prSet/>
      <dgm:spPr/>
      <dgm:t>
        <a:bodyPr/>
        <a:lstStyle/>
        <a:p>
          <a:endParaRPr lang="en-US"/>
        </a:p>
      </dgm:t>
    </dgm:pt>
    <dgm:pt modelId="{451360FE-A1DB-40F0-A1A3-C21874C58A59}">
      <dgm:prSet/>
      <dgm:spPr/>
      <dgm:t>
        <a:bodyPr/>
        <a:lstStyle/>
        <a:p>
          <a:r>
            <a:rPr lang="en-US"/>
            <a:t>Excellent for capturing subtle patterns in tabular data</a:t>
          </a:r>
        </a:p>
      </dgm:t>
    </dgm:pt>
    <dgm:pt modelId="{83CD0964-6F64-457A-A8F9-C423359D9AF6}" type="parTrans" cxnId="{DA771005-F1C0-4D37-83EB-06672A91954F}">
      <dgm:prSet/>
      <dgm:spPr/>
      <dgm:t>
        <a:bodyPr/>
        <a:lstStyle/>
        <a:p>
          <a:endParaRPr lang="en-US"/>
        </a:p>
      </dgm:t>
    </dgm:pt>
    <dgm:pt modelId="{DEFAAD2C-C5E9-44D8-B66F-AF3A4A7DE702}" type="sibTrans" cxnId="{DA771005-F1C0-4D37-83EB-06672A91954F}">
      <dgm:prSet/>
      <dgm:spPr/>
      <dgm:t>
        <a:bodyPr/>
        <a:lstStyle/>
        <a:p>
          <a:endParaRPr lang="en-US"/>
        </a:p>
      </dgm:t>
    </dgm:pt>
    <dgm:pt modelId="{4CEDE805-56BE-4D28-9D6F-D6E4A27DFDEA}">
      <dgm:prSet/>
      <dgm:spPr/>
      <dgm:t>
        <a:bodyPr/>
        <a:lstStyle/>
        <a:p>
          <a:r>
            <a:rPr lang="en-US"/>
            <a:t>Often very accurate on structured business data</a:t>
          </a:r>
        </a:p>
      </dgm:t>
    </dgm:pt>
    <dgm:pt modelId="{85FB1F11-06A8-4F37-993F-63BEAD4AE144}" type="parTrans" cxnId="{A91F5310-E48E-4EF0-B6F1-4C7336CAA1F8}">
      <dgm:prSet/>
      <dgm:spPr/>
      <dgm:t>
        <a:bodyPr/>
        <a:lstStyle/>
        <a:p>
          <a:endParaRPr lang="en-US"/>
        </a:p>
      </dgm:t>
    </dgm:pt>
    <dgm:pt modelId="{9142620F-2446-4982-93DE-E567A9B3EFF3}" type="sibTrans" cxnId="{A91F5310-E48E-4EF0-B6F1-4C7336CAA1F8}">
      <dgm:prSet/>
      <dgm:spPr/>
      <dgm:t>
        <a:bodyPr/>
        <a:lstStyle/>
        <a:p>
          <a:endParaRPr lang="en-US"/>
        </a:p>
      </dgm:t>
    </dgm:pt>
    <dgm:pt modelId="{96C7DAB4-B150-4FA3-A5A6-224AF474BCE0}">
      <dgm:prSet/>
      <dgm:spPr/>
      <dgm:t>
        <a:bodyPr/>
        <a:lstStyle/>
        <a:p>
          <a:r>
            <a:rPr lang="en-US" dirty="0"/>
            <a:t>Provides a strong comparison point against Random Forest and Extra Trees</a:t>
          </a:r>
        </a:p>
      </dgm:t>
    </dgm:pt>
    <dgm:pt modelId="{9BF4C822-B307-46C7-84FB-811689D9CFE1}" type="parTrans" cxnId="{7DDDDE9A-0ECE-4D53-B1A9-9A83E019550E}">
      <dgm:prSet/>
      <dgm:spPr/>
      <dgm:t>
        <a:bodyPr/>
        <a:lstStyle/>
        <a:p>
          <a:endParaRPr lang="en-US"/>
        </a:p>
      </dgm:t>
    </dgm:pt>
    <dgm:pt modelId="{1BC5E55F-E44E-4DF0-B140-493C7912493F}" type="sibTrans" cxnId="{7DDDDE9A-0ECE-4D53-B1A9-9A83E019550E}">
      <dgm:prSet/>
      <dgm:spPr/>
      <dgm:t>
        <a:bodyPr/>
        <a:lstStyle/>
        <a:p>
          <a:endParaRPr lang="en-US"/>
        </a:p>
      </dgm:t>
    </dgm:pt>
    <dgm:pt modelId="{1AF806BE-A90A-4471-B528-2BDCC0EB3242}">
      <dgm:prSet/>
      <dgm:spPr/>
      <dgm:t>
        <a:bodyPr/>
        <a:lstStyle/>
        <a:p>
          <a:r>
            <a:rPr lang="en-US"/>
            <a:t>Highlights deeper nonlinear structure in salary data</a:t>
          </a:r>
        </a:p>
      </dgm:t>
    </dgm:pt>
    <dgm:pt modelId="{0F8DDE20-8984-47F2-AC48-242712E5775C}" type="parTrans" cxnId="{2A898963-8C0C-4400-AF79-C34B167DBA20}">
      <dgm:prSet/>
      <dgm:spPr/>
      <dgm:t>
        <a:bodyPr/>
        <a:lstStyle/>
        <a:p>
          <a:endParaRPr lang="en-US"/>
        </a:p>
      </dgm:t>
    </dgm:pt>
    <dgm:pt modelId="{20024ADC-C853-4929-9AA3-E4CC75B61E0E}" type="sibTrans" cxnId="{2A898963-8C0C-4400-AF79-C34B167DBA20}">
      <dgm:prSet/>
      <dgm:spPr/>
      <dgm:t>
        <a:bodyPr/>
        <a:lstStyle/>
        <a:p>
          <a:endParaRPr lang="en-US"/>
        </a:p>
      </dgm:t>
    </dgm:pt>
    <dgm:pt modelId="{D27D6783-79D6-4906-8B83-39102FB256DB}">
      <dgm:prSet/>
      <dgm:spPr/>
      <dgm:t>
        <a:bodyPr/>
        <a:lstStyle/>
        <a:p>
          <a:r>
            <a:rPr lang="en-US" dirty="0"/>
            <a:t>Sets up the comparison with Extra Trees</a:t>
          </a:r>
        </a:p>
      </dgm:t>
    </dgm:pt>
    <dgm:pt modelId="{E679924D-5D95-4ABF-977A-1BD24714C591}" type="parTrans" cxnId="{29117465-7CE0-4344-808B-DCE09B9EF852}">
      <dgm:prSet/>
      <dgm:spPr/>
      <dgm:t>
        <a:bodyPr/>
        <a:lstStyle/>
        <a:p>
          <a:endParaRPr lang="en-US"/>
        </a:p>
      </dgm:t>
    </dgm:pt>
    <dgm:pt modelId="{A2182ABA-344F-4542-B6DD-65C8BE9E2964}" type="sibTrans" cxnId="{29117465-7CE0-4344-808B-DCE09B9EF852}">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DA771005-F1C0-4D37-83EB-06672A91954F}" srcId="{72EFA449-DE0F-4C78-8DB0-26D84BA841D9}" destId="{451360FE-A1DB-40F0-A1A3-C21874C58A59}" srcOrd="1" destOrd="0" parTransId="{83CD0964-6F64-457A-A8F9-C423359D9AF6}" sibTransId="{DEFAAD2C-C5E9-44D8-B66F-AF3A4A7DE702}"/>
    <dgm:cxn modelId="{A91F5310-E48E-4EF0-B6F1-4C7336CAA1F8}" srcId="{72EFA449-DE0F-4C78-8DB0-26D84BA841D9}" destId="{4CEDE805-56BE-4D28-9D6F-D6E4A27DFDEA}" srcOrd="2" destOrd="0" parTransId="{85FB1F11-06A8-4F37-993F-63BEAD4AE144}" sibTransId="{9142620F-2446-4982-93DE-E567A9B3EFF3}"/>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9465D3D-5D4F-4B6D-A22E-21FC51F722CB}" type="presOf" srcId="{1F391B93-8792-4359-8795-95FB4CC4E185}" destId="{9C562FED-2BD2-4549-8928-97ECCEA6AAC2}" srcOrd="0" destOrd="0" presId="urn:microsoft.com/office/officeart/2005/8/layout/vList2"/>
    <dgm:cxn modelId="{A552355D-2E66-43A8-AE08-DD5002433F3F}" type="presOf" srcId="{A116674C-95D0-4009-B41A-019827E4E5FD}" destId="{27E56ABA-57EA-4829-B58F-7EF2C9D69ED6}" srcOrd="0" destOrd="0" presId="urn:microsoft.com/office/officeart/2005/8/layout/vList2"/>
    <dgm:cxn modelId="{2A898963-8C0C-4400-AF79-C34B167DBA20}" srcId="{C524CB13-8BE5-477B-AC10-AFF4B6835945}" destId="{1AF806BE-A90A-4471-B528-2BDCC0EB3242}" srcOrd="1" destOrd="0" parTransId="{0F8DDE20-8984-47F2-AC48-242712E5775C}" sibTransId="{20024ADC-C853-4929-9AA3-E4CC75B61E0E}"/>
    <dgm:cxn modelId="{29117465-7CE0-4344-808B-DCE09B9EF852}" srcId="{C524CB13-8BE5-477B-AC10-AFF4B6835945}" destId="{D27D6783-79D6-4906-8B83-39102FB256DB}" srcOrd="2" destOrd="0" parTransId="{E679924D-5D95-4ABF-977A-1BD24714C591}" sibTransId="{A2182ABA-344F-4542-B6DD-65C8BE9E2964}"/>
    <dgm:cxn modelId="{50423267-6170-4D9C-B295-1EE87E551243}" type="presOf" srcId="{ECC2A3D1-77DD-4C14-B0D5-066744AC8214}" destId="{336ACB36-61B0-4AA2-9FFD-FB082D80EFC0}" srcOrd="0" destOrd="0" presId="urn:microsoft.com/office/officeart/2005/8/layout/vList2"/>
    <dgm:cxn modelId="{BA21804B-9601-4FEC-AA7C-6398D916AD61}" type="presOf" srcId="{1AF806BE-A90A-4471-B528-2BDCC0EB3242}" destId="{94B9AB2B-E3A2-4D49-90DF-FAD7F840A1A8}" srcOrd="0" destOrd="1"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43D94F58-62CC-4F4B-95D5-B77CC10C4504}" type="presOf" srcId="{451360FE-A1DB-40F0-A1A3-C21874C58A59}" destId="{9C562FED-2BD2-4549-8928-97ECCEA6AAC2}" srcOrd="0" destOrd="1" presId="urn:microsoft.com/office/officeart/2005/8/layout/vList2"/>
    <dgm:cxn modelId="{E735E380-B194-405A-ADB9-AE8F5E4946F7}" srcId="{D56B47F1-CBAA-4710-9265-0EBF55E947A2}" destId="{C524CB13-8BE5-477B-AC10-AFF4B6835945}" srcOrd="3" destOrd="0" parTransId="{F8205DB5-4106-4E5A-A5C8-63A68A6EF71C}" sibTransId="{E27E7B7C-0126-467A-BF9A-22B1A1BFF3D6}"/>
    <dgm:cxn modelId="{F8A15791-ACDA-47D0-A126-464C23E8C09D}" type="presOf" srcId="{4CEDE805-56BE-4D28-9D6F-D6E4A27DFDEA}" destId="{9C562FED-2BD2-4549-8928-97ECCEA6AAC2}" srcOrd="0" destOrd="2" presId="urn:microsoft.com/office/officeart/2005/8/layout/vList2"/>
    <dgm:cxn modelId="{7DDDDE9A-0ECE-4D53-B1A9-9A83E019550E}" srcId="{72EFA449-DE0F-4C78-8DB0-26D84BA841D9}" destId="{96C7DAB4-B150-4FA3-A5A6-224AF474BCE0}" srcOrd="3" destOrd="0" parTransId="{9BF4C822-B307-46C7-84FB-811689D9CFE1}" sibTransId="{1BC5E55F-E44E-4DF0-B140-493C7912493F}"/>
    <dgm:cxn modelId="{8848F1A8-CB62-4818-AB30-78FE2CDB1932}" type="presOf" srcId="{D27D6783-79D6-4906-8B83-39102FB256DB}" destId="{94B9AB2B-E3A2-4D49-90DF-FAD7F840A1A8}" srcOrd="0" destOrd="2" presId="urn:microsoft.com/office/officeart/2005/8/layout/vList2"/>
    <dgm:cxn modelId="{8BC6C5B8-E8F4-4AB6-84C4-1F39D02D142A}" type="presOf" srcId="{CDFD7CB8-933A-4711-A369-BCB72313CF9F}" destId="{69453D6A-4C08-458C-BA87-B2A437496B42}" srcOrd="0" destOrd="0" presId="urn:microsoft.com/office/officeart/2005/8/layout/vList2"/>
    <dgm:cxn modelId="{94BC16CC-1144-4FFB-95E3-A00E30F93151}" type="presOf" srcId="{96C7DAB4-B150-4FA3-A5A6-224AF474BCE0}" destId="{9C562FED-2BD2-4549-8928-97ECCEA6AAC2}" srcOrd="0" destOrd="3"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Focuses on misclassified samples</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AdaBoost improves performance on difficult cases but can be sensitive to noise, making it less stable than Random Forest and Extra Trees.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dirty="0"/>
            <a:t>Shows how reweighting difficult cases affects salary prediction</a:t>
          </a:r>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AdaBoost pays extra attention to the records that are hardest to classify. It tries to “boost” accuracy by focusing on the tricky cases.</a:t>
          </a:r>
        </a:p>
      </dgm:t>
    </dgm:pt>
    <dgm:pt modelId="{F35E0757-319C-496E-AC6A-90C0E359C793}" type="parTrans" cxnId="{47709316-ADBA-4081-A00F-9C7EBB3C3A86}">
      <dgm:prSet/>
      <dgm:spPr/>
    </dgm:pt>
    <dgm:pt modelId="{FFF5B358-E4D9-4784-ABBB-2DA7D0C639F7}" type="sibTrans" cxnId="{47709316-ADBA-4081-A00F-9C7EBB3C3A86}">
      <dgm:prSet/>
      <dgm:spPr/>
    </dgm:pt>
    <dgm:pt modelId="{EB83E1DB-6AE8-4FBB-8248-4123983C0072}">
      <dgm:prSet/>
      <dgm:spPr/>
      <dgm:t>
        <a:bodyPr/>
        <a:lstStyle/>
        <a:p>
          <a:r>
            <a:rPr lang="en-US"/>
            <a:t>Useful for datasets with overlapping salary classes</a:t>
          </a:r>
        </a:p>
      </dgm:t>
    </dgm:pt>
    <dgm:pt modelId="{4756F511-8763-465D-AA8A-A49B458ABB58}" type="parTrans" cxnId="{5484A9E8-0425-4928-A302-892F44CE3D4D}">
      <dgm:prSet/>
      <dgm:spPr/>
      <dgm:t>
        <a:bodyPr/>
        <a:lstStyle/>
        <a:p>
          <a:endParaRPr lang="en-US"/>
        </a:p>
      </dgm:t>
    </dgm:pt>
    <dgm:pt modelId="{DBE6E0DC-9D39-4243-AF30-DB4F2C6E7F9B}" type="sibTrans" cxnId="{5484A9E8-0425-4928-A302-892F44CE3D4D}">
      <dgm:prSet/>
      <dgm:spPr/>
      <dgm:t>
        <a:bodyPr/>
        <a:lstStyle/>
        <a:p>
          <a:endParaRPr lang="en-US"/>
        </a:p>
      </dgm:t>
    </dgm:pt>
    <dgm:pt modelId="{C70EA322-8006-435E-9861-7D109B5E4E8C}">
      <dgm:prSet/>
      <dgm:spPr/>
      <dgm:t>
        <a:bodyPr/>
        <a:lstStyle/>
        <a:p>
          <a:r>
            <a:rPr lang="en-US"/>
            <a:t>Adds diversity to your ensemble comparison</a:t>
          </a:r>
        </a:p>
      </dgm:t>
    </dgm:pt>
    <dgm:pt modelId="{DFE80065-2B07-4CDF-9FDB-285A9E34B8FC}" type="parTrans" cxnId="{E6DC73DE-4D98-43B0-B429-114902AD07E3}">
      <dgm:prSet/>
      <dgm:spPr/>
      <dgm:t>
        <a:bodyPr/>
        <a:lstStyle/>
        <a:p>
          <a:endParaRPr lang="en-US"/>
        </a:p>
      </dgm:t>
    </dgm:pt>
    <dgm:pt modelId="{860451F6-AD96-4724-9D67-B42A85F931BD}" type="sibTrans" cxnId="{E6DC73DE-4D98-43B0-B429-114902AD07E3}">
      <dgm:prSet/>
      <dgm:spPr/>
      <dgm:t>
        <a:bodyPr/>
        <a:lstStyle/>
        <a:p>
          <a:endParaRPr lang="en-US"/>
        </a:p>
      </dgm:t>
    </dgm:pt>
    <dgm:pt modelId="{CAC23F9E-7C36-41D6-9891-3962F2D5382B}">
      <dgm:prSet/>
      <dgm:spPr/>
      <dgm:t>
        <a:bodyPr/>
        <a:lstStyle/>
        <a:p>
          <a:r>
            <a:rPr lang="en-US" dirty="0"/>
            <a:t>Helps test whether focusing on difficult examples improves results</a:t>
          </a:r>
        </a:p>
      </dgm:t>
    </dgm:pt>
    <dgm:pt modelId="{D2AEE132-FC0C-4153-8E66-5E212405D23F}" type="parTrans" cxnId="{B5FF6645-8C98-451A-A2C8-617DB33ACA02}">
      <dgm:prSet/>
      <dgm:spPr/>
      <dgm:t>
        <a:bodyPr/>
        <a:lstStyle/>
        <a:p>
          <a:endParaRPr lang="en-US"/>
        </a:p>
      </dgm:t>
    </dgm:pt>
    <dgm:pt modelId="{8A888DC7-74C0-4FFE-B59A-8C0B39A9F6AF}" type="sibTrans" cxnId="{B5FF6645-8C98-451A-A2C8-617DB33ACA02}">
      <dgm:prSet/>
      <dgm:spPr/>
      <dgm:t>
        <a:bodyPr/>
        <a:lstStyle/>
        <a:p>
          <a:endParaRPr lang="en-US"/>
        </a:p>
      </dgm:t>
    </dgm:pt>
    <dgm:pt modelId="{D8C07BFB-8D6D-4CDA-99A3-778052EB2AAB}">
      <dgm:prSet/>
      <dgm:spPr/>
      <dgm:t>
        <a:bodyPr/>
        <a:lstStyle/>
        <a:p>
          <a:r>
            <a:rPr lang="en-US"/>
            <a:t>Demonstrates strengths and limitations of boosting</a:t>
          </a:r>
        </a:p>
      </dgm:t>
    </dgm:pt>
    <dgm:pt modelId="{FDBC8B34-0AD7-4723-AAA9-842616F23E59}" type="parTrans" cxnId="{B0223100-4D4F-4B8B-8B9B-F6118BAB7AC3}">
      <dgm:prSet/>
      <dgm:spPr/>
      <dgm:t>
        <a:bodyPr/>
        <a:lstStyle/>
        <a:p>
          <a:endParaRPr lang="en-US"/>
        </a:p>
      </dgm:t>
    </dgm:pt>
    <dgm:pt modelId="{B2C393F7-FDA1-48E1-B1AE-740E3D45D517}" type="sibTrans" cxnId="{B0223100-4D4F-4B8B-8B9B-F6118BAB7AC3}">
      <dgm:prSet/>
      <dgm:spPr/>
      <dgm:t>
        <a:bodyPr/>
        <a:lstStyle/>
        <a:p>
          <a:endParaRPr lang="en-US"/>
        </a:p>
      </dgm:t>
    </dgm:pt>
    <dgm:pt modelId="{313CDD77-1247-4602-931E-1059FBED6035}">
      <dgm:prSet/>
      <dgm:spPr/>
      <dgm:t>
        <a:bodyPr/>
        <a:lstStyle/>
        <a:p>
          <a:r>
            <a:rPr lang="en-US" dirty="0"/>
            <a:t>Provides contrast to Gradient Boosting and Extra Trees</a:t>
          </a:r>
        </a:p>
      </dgm:t>
    </dgm:pt>
    <dgm:pt modelId="{E513659E-2F2F-4997-81B7-AC21317281F9}" type="parTrans" cxnId="{F1D235DF-589C-408A-8E22-55BEB9CB3CFA}">
      <dgm:prSet/>
      <dgm:spPr/>
      <dgm:t>
        <a:bodyPr/>
        <a:lstStyle/>
        <a:p>
          <a:endParaRPr lang="en-US"/>
        </a:p>
      </dgm:t>
    </dgm:pt>
    <dgm:pt modelId="{C6B88030-BAE4-43E6-80D6-EDB241B09C30}" type="sibTrans" cxnId="{F1D235DF-589C-408A-8E22-55BEB9CB3CFA}">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B0223100-4D4F-4B8B-8B9B-F6118BAB7AC3}" srcId="{C524CB13-8BE5-477B-AC10-AFF4B6835945}" destId="{D8C07BFB-8D6D-4CDA-99A3-778052EB2AAB}" srcOrd="1" destOrd="0" parTransId="{FDBC8B34-0AD7-4723-AAA9-842616F23E59}" sibTransId="{B2C393F7-FDA1-48E1-B1AE-740E3D45D517}"/>
    <dgm:cxn modelId="{6E285203-1D46-4FE8-A57C-8BE5AA697910}" type="presOf" srcId="{EB83E1DB-6AE8-4FBB-8248-4123983C0072}" destId="{9C562FED-2BD2-4549-8928-97ECCEA6AAC2}" srcOrd="0" destOrd="1" presId="urn:microsoft.com/office/officeart/2005/8/layout/vList2"/>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9465D3D-5D4F-4B6D-A22E-21FC51F722CB}" type="presOf" srcId="{1F391B93-8792-4359-8795-95FB4CC4E185}" destId="{9C562FED-2BD2-4549-8928-97ECCEA6AAC2}" srcOrd="0" destOrd="0" presId="urn:microsoft.com/office/officeart/2005/8/layout/vList2"/>
    <dgm:cxn modelId="{E6724340-4B10-4376-AA9F-681D2B2CC9E2}" type="presOf" srcId="{CAC23F9E-7C36-41D6-9891-3962F2D5382B}" destId="{9C562FED-2BD2-4549-8928-97ECCEA6AAC2}" srcOrd="0" destOrd="3" presId="urn:microsoft.com/office/officeart/2005/8/layout/vList2"/>
    <dgm:cxn modelId="{A552355D-2E66-43A8-AE08-DD5002433F3F}" type="presOf" srcId="{A116674C-95D0-4009-B41A-019827E4E5FD}" destId="{27E56ABA-57EA-4829-B58F-7EF2C9D69ED6}" srcOrd="0" destOrd="0" presId="urn:microsoft.com/office/officeart/2005/8/layout/vList2"/>
    <dgm:cxn modelId="{B5FF6645-8C98-451A-A2C8-617DB33ACA02}" srcId="{72EFA449-DE0F-4C78-8DB0-26D84BA841D9}" destId="{CAC23F9E-7C36-41D6-9891-3962F2D5382B}" srcOrd="3" destOrd="0" parTransId="{D2AEE132-FC0C-4153-8E66-5E212405D23F}" sibTransId="{8A888DC7-74C0-4FFE-B59A-8C0B39A9F6AF}"/>
    <dgm:cxn modelId="{50423267-6170-4D9C-B295-1EE87E551243}" type="presOf" srcId="{ECC2A3D1-77DD-4C14-B0D5-066744AC8214}" destId="{336ACB36-61B0-4AA2-9FFD-FB082D80EFC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E735E380-B194-405A-ADB9-AE8F5E4946F7}" srcId="{D56B47F1-CBAA-4710-9265-0EBF55E947A2}" destId="{C524CB13-8BE5-477B-AC10-AFF4B6835945}" srcOrd="3" destOrd="0" parTransId="{F8205DB5-4106-4E5A-A5C8-63A68A6EF71C}" sibTransId="{E27E7B7C-0126-467A-BF9A-22B1A1BFF3D6}"/>
    <dgm:cxn modelId="{8BC6C5B8-E8F4-4AB6-84C4-1F39D02D142A}" type="presOf" srcId="{CDFD7CB8-933A-4711-A369-BCB72313CF9F}" destId="{69453D6A-4C08-458C-BA87-B2A437496B42}" srcOrd="0" destOrd="0" presId="urn:microsoft.com/office/officeart/2005/8/layout/vList2"/>
    <dgm:cxn modelId="{CF1643C2-E890-4E9B-9CD1-0E71A0A0A452}" type="presOf" srcId="{C70EA322-8006-435E-9861-7D109B5E4E8C}" destId="{9C562FED-2BD2-4549-8928-97ECCEA6AAC2}" srcOrd="0" destOrd="2"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E6DC73DE-4D98-43B0-B429-114902AD07E3}" srcId="{72EFA449-DE0F-4C78-8DB0-26D84BA841D9}" destId="{C70EA322-8006-435E-9861-7D109B5E4E8C}" srcOrd="2" destOrd="0" parTransId="{DFE80065-2B07-4CDF-9FDB-285A9E34B8FC}" sibTransId="{860451F6-AD96-4724-9D67-B42A85F931BD}"/>
    <dgm:cxn modelId="{F1D235DF-589C-408A-8E22-55BEB9CB3CFA}" srcId="{C524CB13-8BE5-477B-AC10-AFF4B6835945}" destId="{313CDD77-1247-4602-931E-1059FBED6035}" srcOrd="2" destOrd="0" parTransId="{E513659E-2F2F-4997-81B7-AC21317281F9}" sibTransId="{C6B88030-BAE4-43E6-80D6-EDB241B09C30}"/>
    <dgm:cxn modelId="{37834FE4-3AD3-43A5-884A-110626B36163}" type="presOf" srcId="{C524CB13-8BE5-477B-AC10-AFF4B6835945}" destId="{285F6CF5-41C2-482E-98E1-9CCBE2D30E86}" srcOrd="0" destOrd="0" presId="urn:microsoft.com/office/officeart/2005/8/layout/vList2"/>
    <dgm:cxn modelId="{5484A9E8-0425-4928-A302-892F44CE3D4D}" srcId="{72EFA449-DE0F-4C78-8DB0-26D84BA841D9}" destId="{EB83E1DB-6AE8-4FBB-8248-4123983C0072}" srcOrd="1" destOrd="0" parTransId="{4756F511-8763-465D-AA8A-A49B458ABB58}" sibTransId="{DBE6E0DC-9D39-4243-AF30-DB4F2C6E7F9B}"/>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648120FA-B69F-4922-AD1B-D746659A1AC7}" type="presOf" srcId="{D8C07BFB-8D6D-4CDA-99A3-778052EB2AAB}" destId="{94B9AB2B-E3A2-4D49-90DF-FAD7F840A1A8}" srcOrd="0" destOrd="1" presId="urn:microsoft.com/office/officeart/2005/8/layout/vList2"/>
    <dgm:cxn modelId="{7E946BFC-B954-4BC7-BFD8-C1C174F768EC}" type="presOf" srcId="{313CDD77-1247-4602-931E-1059FBED6035}" destId="{94B9AB2B-E3A2-4D49-90DF-FAD7F840A1A8}" srcOrd="0" destOrd="2" presId="urn:microsoft.com/office/officeart/2005/8/layout/vList2"/>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b="0"/>
            <a:t>Uses randomized splits for faster, more robust learning</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Extra Trees delivered the strongest overall performance, offering the best balance of accuracy, stability, and interpretability</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Confirms ensemble methods are best for salary classification</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Extra Trees builds many highly random trees and averages their results. This randomness actually makes the model more stable and accurate.</a:t>
          </a:r>
        </a:p>
      </dgm:t>
    </dgm:pt>
    <dgm:pt modelId="{F35E0757-319C-496E-AC6A-90C0E359C793}" type="parTrans" cxnId="{47709316-ADBA-4081-A00F-9C7EBB3C3A86}">
      <dgm:prSet/>
      <dgm:spPr/>
    </dgm:pt>
    <dgm:pt modelId="{FFF5B358-E4D9-4784-ABBB-2DA7D0C639F7}" type="sibTrans" cxnId="{47709316-ADBA-4081-A00F-9C7EBB3C3A86}">
      <dgm:prSet/>
      <dgm:spPr/>
    </dgm:pt>
    <dgm:pt modelId="{A57D61A1-C69C-4CAD-AF01-67D893632B4F}">
      <dgm:prSet/>
      <dgm:spPr/>
      <dgm:t>
        <a:bodyPr/>
        <a:lstStyle/>
        <a:p>
          <a:r>
            <a:rPr lang="en-US" b="0"/>
            <a:t>Often outperforms Random Forest and is one of the best models for business data</a:t>
          </a:r>
          <a:endParaRPr lang="en-US" b="0" dirty="0"/>
        </a:p>
      </dgm:t>
    </dgm:pt>
    <dgm:pt modelId="{027A4F01-E990-4F29-B556-E9B4AE493882}" type="parTrans" cxnId="{42B4C9B4-F01B-4DC3-9346-9BAB09DAC703}">
      <dgm:prSet/>
      <dgm:spPr/>
      <dgm:t>
        <a:bodyPr/>
        <a:lstStyle/>
        <a:p>
          <a:endParaRPr lang="en-US"/>
        </a:p>
      </dgm:t>
    </dgm:pt>
    <dgm:pt modelId="{BA5AF8DB-CC45-407B-AD0B-E115676BCC8D}" type="sibTrans" cxnId="{42B4C9B4-F01B-4DC3-9346-9BAB09DAC703}">
      <dgm:prSet/>
      <dgm:spPr/>
      <dgm:t>
        <a:bodyPr/>
        <a:lstStyle/>
        <a:p>
          <a:endParaRPr lang="en-US"/>
        </a:p>
      </dgm:t>
    </dgm:pt>
    <dgm:pt modelId="{44E9DC6C-76CC-4A12-9694-C29C50DE1BE9}">
      <dgm:prSet/>
      <dgm:spPr/>
      <dgm:t>
        <a:bodyPr/>
        <a:lstStyle/>
        <a:p>
          <a:r>
            <a:rPr lang="en-US" b="0"/>
            <a:t>Works extremely well with SHAP for explaining results</a:t>
          </a:r>
          <a:endParaRPr lang="en-US" b="0" dirty="0"/>
        </a:p>
      </dgm:t>
    </dgm:pt>
    <dgm:pt modelId="{106AD6D9-B6EE-4512-A162-8F09B514032C}" type="parTrans" cxnId="{3FC5C62E-69AC-44AA-87CE-E2AEE4FD185B}">
      <dgm:prSet/>
      <dgm:spPr/>
      <dgm:t>
        <a:bodyPr/>
        <a:lstStyle/>
        <a:p>
          <a:endParaRPr lang="en-US"/>
        </a:p>
      </dgm:t>
    </dgm:pt>
    <dgm:pt modelId="{FF328F3F-8B5F-4641-9485-D9A590516F76}" type="sibTrans" cxnId="{3FC5C62E-69AC-44AA-87CE-E2AEE4FD185B}">
      <dgm:prSet/>
      <dgm:spPr/>
      <dgm:t>
        <a:bodyPr/>
        <a:lstStyle/>
        <a:p>
          <a:endParaRPr lang="en-US"/>
        </a:p>
      </dgm:t>
    </dgm:pt>
    <dgm:pt modelId="{1BC0C87E-0185-4589-8DA2-FF142F4AF4E0}">
      <dgm:prSet/>
      <dgm:spPr/>
      <dgm:t>
        <a:bodyPr/>
        <a:lstStyle/>
        <a:p>
          <a:r>
            <a:rPr lang="en-US" b="0"/>
            <a:t>Ideal for datasets with many categorical variables</a:t>
          </a:r>
          <a:endParaRPr lang="en-US" b="0" dirty="0"/>
        </a:p>
      </dgm:t>
    </dgm:pt>
    <dgm:pt modelId="{9B096A36-BCCD-4BCF-B114-4800955F1A50}" type="parTrans" cxnId="{528A51C4-A730-4F0F-966F-2857BF8D6826}">
      <dgm:prSet/>
      <dgm:spPr/>
      <dgm:t>
        <a:bodyPr/>
        <a:lstStyle/>
        <a:p>
          <a:endParaRPr lang="en-US"/>
        </a:p>
      </dgm:t>
    </dgm:pt>
    <dgm:pt modelId="{93792569-D1A6-4B21-B8DA-DD9A5351E234}" type="sibTrans" cxnId="{528A51C4-A730-4F0F-966F-2857BF8D6826}">
      <dgm:prSet/>
      <dgm:spPr/>
      <dgm:t>
        <a:bodyPr/>
        <a:lstStyle/>
        <a:p>
          <a:endParaRPr lang="en-US"/>
        </a:p>
      </dgm:t>
    </dgm:pt>
    <dgm:pt modelId="{EA3689A4-C3B5-4513-9D94-71F3D88C04C5}">
      <dgm:prSet/>
      <dgm:spPr/>
      <dgm:t>
        <a:bodyPr/>
        <a:lstStyle/>
        <a:p>
          <a:r>
            <a:rPr lang="en-US" b="0" dirty="0"/>
            <a:t>Handles lots of categories and one‑hot encoded features well</a:t>
          </a:r>
        </a:p>
      </dgm:t>
    </dgm:pt>
    <dgm:pt modelId="{427A6992-D291-4435-838F-E0AA97B2C5FE}" type="parTrans" cxnId="{D3CB8F3F-914B-46B1-92EA-DDAEAE2621CD}">
      <dgm:prSet/>
      <dgm:spPr/>
      <dgm:t>
        <a:bodyPr/>
        <a:lstStyle/>
        <a:p>
          <a:endParaRPr lang="en-US"/>
        </a:p>
      </dgm:t>
    </dgm:pt>
    <dgm:pt modelId="{55D7DD5C-3FC2-4B8F-924A-83CB7890229F}" type="sibTrans" cxnId="{D3CB8F3F-914B-46B1-92EA-DDAEAE2621CD}">
      <dgm:prSet/>
      <dgm:spPr/>
      <dgm:t>
        <a:bodyPr/>
        <a:lstStyle/>
        <a:p>
          <a:endParaRPr lang="en-US"/>
        </a:p>
      </dgm:t>
    </dgm:pt>
    <dgm:pt modelId="{48E382BD-DBF9-42AE-909D-424517C340DC}">
      <dgm:prSet/>
      <dgm:spPr/>
      <dgm:t>
        <a:bodyPr/>
        <a:lstStyle/>
        <a:p>
          <a:r>
            <a:rPr lang="en-US"/>
            <a:t>Provides the most reliable model for downstream SHAP analysis</a:t>
          </a:r>
          <a:endParaRPr lang="en-US" dirty="0"/>
        </a:p>
      </dgm:t>
    </dgm:pt>
    <dgm:pt modelId="{A52CCB4B-EAE2-4BE4-B86E-29192AFB1611}" type="parTrans" cxnId="{8369217A-3C2F-47A7-A42A-A8CFC6C637EC}">
      <dgm:prSet/>
      <dgm:spPr/>
      <dgm:t>
        <a:bodyPr/>
        <a:lstStyle/>
        <a:p>
          <a:endParaRPr lang="en-US"/>
        </a:p>
      </dgm:t>
    </dgm:pt>
    <dgm:pt modelId="{3447AC30-8581-4ECE-A341-1360999EE454}" type="sibTrans" cxnId="{8369217A-3C2F-47A7-A42A-A8CFC6C637EC}">
      <dgm:prSet/>
      <dgm:spPr/>
      <dgm:t>
        <a:bodyPr/>
        <a:lstStyle/>
        <a:p>
          <a:endParaRPr lang="en-US"/>
        </a:p>
      </dgm:t>
    </dgm:pt>
    <dgm:pt modelId="{A72A7E2E-3DE2-4076-B58F-5B891C09D3B7}">
      <dgm:prSet/>
      <dgm:spPr/>
      <dgm:t>
        <a:bodyPr/>
        <a:lstStyle/>
        <a:p>
          <a:r>
            <a:rPr lang="en-US" dirty="0"/>
            <a:t>Forms the foundation for your final recommendation</a:t>
          </a:r>
        </a:p>
      </dgm:t>
    </dgm:pt>
    <dgm:pt modelId="{A85726DC-923C-4F04-9EDD-A442FF5C65E0}" type="parTrans" cxnId="{C94C4B99-A99C-4871-AB78-0560F2D5FBA1}">
      <dgm:prSet/>
      <dgm:spPr/>
      <dgm:t>
        <a:bodyPr/>
        <a:lstStyle/>
        <a:p>
          <a:endParaRPr lang="en-US"/>
        </a:p>
      </dgm:t>
    </dgm:pt>
    <dgm:pt modelId="{3BB6EC94-1EC6-4D66-88C4-DB83166D1369}" type="sibTrans" cxnId="{C94C4B99-A99C-4871-AB78-0560F2D5FBA1}">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3FC5C62E-69AC-44AA-87CE-E2AEE4FD185B}" srcId="{72EFA449-DE0F-4C78-8DB0-26D84BA841D9}" destId="{44E9DC6C-76CC-4A12-9694-C29C50DE1BE9}" srcOrd="2" destOrd="0" parTransId="{106AD6D9-B6EE-4512-A162-8F09B514032C}" sibTransId="{FF328F3F-8B5F-4641-9485-D9A590516F76}"/>
    <dgm:cxn modelId="{B179A436-3744-4786-95C3-AA886A9D0BA3}" type="presOf" srcId="{48E382BD-DBF9-42AE-909D-424517C340DC}" destId="{94B9AB2B-E3A2-4D49-90DF-FAD7F840A1A8}" srcOrd="0" destOrd="1" presId="urn:microsoft.com/office/officeart/2005/8/layout/vList2"/>
    <dgm:cxn modelId="{473F233B-CAA1-452A-B8AD-F73E2B8A1698}" type="presOf" srcId="{1BC0C87E-0185-4589-8DA2-FF142F4AF4E0}" destId="{9C562FED-2BD2-4549-8928-97ECCEA6AAC2}" srcOrd="0" destOrd="3" presId="urn:microsoft.com/office/officeart/2005/8/layout/vList2"/>
    <dgm:cxn modelId="{E9465D3D-5D4F-4B6D-A22E-21FC51F722CB}" type="presOf" srcId="{1F391B93-8792-4359-8795-95FB4CC4E185}" destId="{9C562FED-2BD2-4549-8928-97ECCEA6AAC2}" srcOrd="0" destOrd="0" presId="urn:microsoft.com/office/officeart/2005/8/layout/vList2"/>
    <dgm:cxn modelId="{D3CB8F3F-914B-46B1-92EA-DDAEAE2621CD}" srcId="{72EFA449-DE0F-4C78-8DB0-26D84BA841D9}" destId="{EA3689A4-C3B5-4513-9D94-71F3D88C04C5}" srcOrd="4" destOrd="0" parTransId="{427A6992-D291-4435-838F-E0AA97B2C5FE}" sibTransId="{55D7DD5C-3FC2-4B8F-924A-83CB7890229F}"/>
    <dgm:cxn modelId="{A552355D-2E66-43A8-AE08-DD5002433F3F}" type="presOf" srcId="{A116674C-95D0-4009-B41A-019827E4E5FD}" destId="{27E56ABA-57EA-4829-B58F-7EF2C9D69ED6}" srcOrd="0" destOrd="0" presId="urn:microsoft.com/office/officeart/2005/8/layout/vList2"/>
    <dgm:cxn modelId="{72A02D44-B92D-47DA-9AD0-3DB73C661116}" type="presOf" srcId="{A72A7E2E-3DE2-4076-B58F-5B891C09D3B7}" destId="{94B9AB2B-E3A2-4D49-90DF-FAD7F840A1A8}" srcOrd="0" destOrd="2" presId="urn:microsoft.com/office/officeart/2005/8/layout/vList2"/>
    <dgm:cxn modelId="{50423267-6170-4D9C-B295-1EE87E551243}" type="presOf" srcId="{ECC2A3D1-77DD-4C14-B0D5-066744AC8214}" destId="{336ACB36-61B0-4AA2-9FFD-FB082D80EFC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8369217A-3C2F-47A7-A42A-A8CFC6C637EC}" srcId="{C524CB13-8BE5-477B-AC10-AFF4B6835945}" destId="{48E382BD-DBF9-42AE-909D-424517C340DC}" srcOrd="1" destOrd="0" parTransId="{A52CCB4B-EAE2-4BE4-B86E-29192AFB1611}" sibTransId="{3447AC30-8581-4ECE-A341-1360999EE454}"/>
    <dgm:cxn modelId="{E735E380-B194-405A-ADB9-AE8F5E4946F7}" srcId="{D56B47F1-CBAA-4710-9265-0EBF55E947A2}" destId="{C524CB13-8BE5-477B-AC10-AFF4B6835945}" srcOrd="3" destOrd="0" parTransId="{F8205DB5-4106-4E5A-A5C8-63A68A6EF71C}" sibTransId="{E27E7B7C-0126-467A-BF9A-22B1A1BFF3D6}"/>
    <dgm:cxn modelId="{C94C4B99-A99C-4871-AB78-0560F2D5FBA1}" srcId="{C524CB13-8BE5-477B-AC10-AFF4B6835945}" destId="{A72A7E2E-3DE2-4076-B58F-5B891C09D3B7}" srcOrd="2" destOrd="0" parTransId="{A85726DC-923C-4F04-9EDD-A442FF5C65E0}" sibTransId="{3BB6EC94-1EC6-4D66-88C4-DB83166D1369}"/>
    <dgm:cxn modelId="{1F2358AF-3DAA-45B1-B39E-065143F2BB91}" type="presOf" srcId="{A57D61A1-C69C-4CAD-AF01-67D893632B4F}" destId="{9C562FED-2BD2-4549-8928-97ECCEA6AAC2}" srcOrd="0" destOrd="1" presId="urn:microsoft.com/office/officeart/2005/8/layout/vList2"/>
    <dgm:cxn modelId="{42B4C9B4-F01B-4DC3-9346-9BAB09DAC703}" srcId="{72EFA449-DE0F-4C78-8DB0-26D84BA841D9}" destId="{A57D61A1-C69C-4CAD-AF01-67D893632B4F}" srcOrd="1" destOrd="0" parTransId="{027A4F01-E990-4F29-B556-E9B4AE493882}" sibTransId="{BA5AF8DB-CC45-407B-AD0B-E115676BCC8D}"/>
    <dgm:cxn modelId="{E5533FB5-A3EB-4D06-BE43-2C582441809D}" type="presOf" srcId="{44E9DC6C-76CC-4A12-9694-C29C50DE1BE9}" destId="{9C562FED-2BD2-4549-8928-97ECCEA6AAC2}" srcOrd="0" destOrd="2" presId="urn:microsoft.com/office/officeart/2005/8/layout/vList2"/>
    <dgm:cxn modelId="{8BC6C5B8-E8F4-4AB6-84C4-1F39D02D142A}" type="presOf" srcId="{CDFD7CB8-933A-4711-A369-BCB72313CF9F}" destId="{69453D6A-4C08-458C-BA87-B2A437496B42}" srcOrd="0" destOrd="0" presId="urn:microsoft.com/office/officeart/2005/8/layout/vList2"/>
    <dgm:cxn modelId="{528A51C4-A730-4F0F-966F-2857BF8D6826}" srcId="{72EFA449-DE0F-4C78-8DB0-26D84BA841D9}" destId="{1BC0C87E-0185-4589-8DA2-FF142F4AF4E0}" srcOrd="3" destOrd="0" parTransId="{9B096A36-BCCD-4BCF-B114-4800955F1A50}" sibTransId="{93792569-D1A6-4B21-B8DA-DD9A5351E234}"/>
    <dgm:cxn modelId="{2B2667CD-E40C-4EC4-9729-50C6B6F9EE73}" srcId="{D56B47F1-CBAA-4710-9265-0EBF55E947A2}" destId="{CDFD7CB8-933A-4711-A369-BCB72313CF9F}" srcOrd="2" destOrd="0" parTransId="{82668E59-282F-4FE7-8942-50F74964FFFE}" sibTransId="{FD38606D-B8FC-41C0-8EEB-96F8CAB9F362}"/>
    <dgm:cxn modelId="{894BC3E0-B922-4D1B-80B2-9570B759FD02}" type="presOf" srcId="{EA3689A4-C3B5-4513-9D94-71F3D88C04C5}" destId="{9C562FED-2BD2-4549-8928-97ECCEA6AAC2}" srcOrd="0" destOrd="4" presId="urn:microsoft.com/office/officeart/2005/8/layout/vList2"/>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3701FC8-E04E-4AA0-8A29-97FFBCF574A6}"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E960C621-2173-4699-A278-2A9D74E20980}">
      <dgm:prSet/>
      <dgm:spPr/>
      <dgm:t>
        <a:bodyPr/>
        <a:lstStyle/>
        <a:p>
          <a:r>
            <a:rPr lang="en-US" b="1" dirty="0"/>
            <a:t>Best Performing Model: </a:t>
          </a:r>
          <a:endParaRPr lang="en-US" dirty="0"/>
        </a:p>
      </dgm:t>
    </dgm:pt>
    <dgm:pt modelId="{2413B866-C4C5-4CE0-983D-F3EC10E33BBF}" type="parTrans" cxnId="{6ED5FFFB-4DF1-4541-A45E-B60E5C2609A0}">
      <dgm:prSet/>
      <dgm:spPr/>
      <dgm:t>
        <a:bodyPr/>
        <a:lstStyle/>
        <a:p>
          <a:endParaRPr lang="en-US"/>
        </a:p>
      </dgm:t>
    </dgm:pt>
    <dgm:pt modelId="{D2A9CBBD-CBDE-4184-B2CA-0A0F577AB817}" type="sibTrans" cxnId="{6ED5FFFB-4DF1-4541-A45E-B60E5C2609A0}">
      <dgm:prSet/>
      <dgm:spPr/>
      <dgm:t>
        <a:bodyPr/>
        <a:lstStyle/>
        <a:p>
          <a:endParaRPr lang="en-US"/>
        </a:p>
      </dgm:t>
    </dgm:pt>
    <dgm:pt modelId="{1BF74C62-A33E-408D-90E4-38847F7521EF}">
      <dgm:prSet/>
      <dgm:spPr/>
      <dgm:t>
        <a:bodyPr/>
        <a:lstStyle/>
        <a:p>
          <a:r>
            <a:rPr lang="en-US" b="0" dirty="0"/>
            <a:t>Gradient Boosting</a:t>
          </a:r>
        </a:p>
      </dgm:t>
    </dgm:pt>
    <dgm:pt modelId="{4DC95AE2-E2F2-42FD-8B91-0EFBAAE14C91}" type="parTrans" cxnId="{8225E255-1DCA-447B-94B6-B2B99861EB70}">
      <dgm:prSet/>
      <dgm:spPr/>
      <dgm:t>
        <a:bodyPr/>
        <a:lstStyle/>
        <a:p>
          <a:endParaRPr lang="en-US"/>
        </a:p>
      </dgm:t>
    </dgm:pt>
    <dgm:pt modelId="{A609EF36-A701-4040-8309-BA3B1ED9E973}" type="sibTrans" cxnId="{8225E255-1DCA-447B-94B6-B2B99861EB70}">
      <dgm:prSet/>
      <dgm:spPr/>
      <dgm:t>
        <a:bodyPr/>
        <a:lstStyle/>
        <a:p>
          <a:endParaRPr lang="en-US"/>
        </a:p>
      </dgm:t>
    </dgm:pt>
    <dgm:pt modelId="{60A97D73-B684-4F94-A03E-E365AE4B4A83}">
      <dgm:prSet/>
      <dgm:spPr/>
      <dgm:t>
        <a:bodyPr/>
        <a:lstStyle/>
        <a:p>
          <a:r>
            <a:rPr lang="en-US"/>
            <a:t>Why Gradient Boosting Stands Out:</a:t>
          </a:r>
        </a:p>
      </dgm:t>
    </dgm:pt>
    <dgm:pt modelId="{9C67B27B-05DE-4CD2-A100-E2F95C637B17}" type="parTrans" cxnId="{82E2F9E8-05E1-495F-986C-9CA0B0330CFB}">
      <dgm:prSet/>
      <dgm:spPr/>
      <dgm:t>
        <a:bodyPr/>
        <a:lstStyle/>
        <a:p>
          <a:endParaRPr lang="en-US"/>
        </a:p>
      </dgm:t>
    </dgm:pt>
    <dgm:pt modelId="{37E147F2-75BB-46FD-B6C5-CB38A09D3A9A}" type="sibTrans" cxnId="{82E2F9E8-05E1-495F-986C-9CA0B0330CFB}">
      <dgm:prSet/>
      <dgm:spPr/>
      <dgm:t>
        <a:bodyPr/>
        <a:lstStyle/>
        <a:p>
          <a:endParaRPr lang="en-US"/>
        </a:p>
      </dgm:t>
    </dgm:pt>
    <dgm:pt modelId="{1B552ABE-79B7-4F24-8BD4-366DAF5C8BE0}">
      <dgm:prSet/>
      <dgm:spPr/>
      <dgm:t>
        <a:bodyPr/>
        <a:lstStyle/>
        <a:p>
          <a:r>
            <a:rPr lang="en-US"/>
            <a:t>It had the highest overall accuracy</a:t>
          </a:r>
        </a:p>
      </dgm:t>
    </dgm:pt>
    <dgm:pt modelId="{91FB7291-2BA6-4FFF-A649-9B7E0BC4ABF1}" type="parTrans" cxnId="{7046A410-FAFA-4329-9289-4AD410A00A4A}">
      <dgm:prSet/>
      <dgm:spPr/>
      <dgm:t>
        <a:bodyPr/>
        <a:lstStyle/>
        <a:p>
          <a:endParaRPr lang="en-US"/>
        </a:p>
      </dgm:t>
    </dgm:pt>
    <dgm:pt modelId="{D6CFB0EB-B7A2-44E6-91FF-FF7E3D5DDF51}" type="sibTrans" cxnId="{7046A410-FAFA-4329-9289-4AD410A00A4A}">
      <dgm:prSet/>
      <dgm:spPr/>
      <dgm:t>
        <a:bodyPr/>
        <a:lstStyle/>
        <a:p>
          <a:endParaRPr lang="en-US"/>
        </a:p>
      </dgm:t>
    </dgm:pt>
    <dgm:pt modelId="{D5192C6D-6FB6-4F66-894E-F558EA8D7854}">
      <dgm:prSet/>
      <dgm:spPr/>
      <dgm:t>
        <a:bodyPr/>
        <a:lstStyle/>
        <a:p>
          <a:r>
            <a:rPr lang="en-US"/>
            <a:t>It produced the strongest balanced score (F1)</a:t>
          </a:r>
        </a:p>
      </dgm:t>
    </dgm:pt>
    <dgm:pt modelId="{19ECFFCB-2A66-4339-88D5-CE162701670A}" type="parTrans" cxnId="{EEB243DC-E648-4C6B-AEDA-2139BB751CFD}">
      <dgm:prSet/>
      <dgm:spPr/>
      <dgm:t>
        <a:bodyPr/>
        <a:lstStyle/>
        <a:p>
          <a:endParaRPr lang="en-US"/>
        </a:p>
      </dgm:t>
    </dgm:pt>
    <dgm:pt modelId="{9FF1A6E6-5870-408C-A819-CF5779A75BCC}" type="sibTrans" cxnId="{EEB243DC-E648-4C6B-AEDA-2139BB751CFD}">
      <dgm:prSet/>
      <dgm:spPr/>
      <dgm:t>
        <a:bodyPr/>
        <a:lstStyle/>
        <a:p>
          <a:endParaRPr lang="en-US"/>
        </a:p>
      </dgm:t>
    </dgm:pt>
    <dgm:pt modelId="{588C8F55-F64F-4E14-A4E8-42AE93B377C7}">
      <dgm:prSet/>
      <dgm:spPr/>
      <dgm:t>
        <a:bodyPr/>
        <a:lstStyle/>
        <a:p>
          <a:r>
            <a:rPr lang="en-US"/>
            <a:t>It captured high‑salary cases than other models</a:t>
          </a:r>
        </a:p>
      </dgm:t>
    </dgm:pt>
    <dgm:pt modelId="{20A339DC-4047-4FC7-9BCB-FD740C956F83}" type="parTrans" cxnId="{445D2736-1BC3-4A02-80E1-49320541C1AF}">
      <dgm:prSet/>
      <dgm:spPr/>
      <dgm:t>
        <a:bodyPr/>
        <a:lstStyle/>
        <a:p>
          <a:endParaRPr lang="en-US"/>
        </a:p>
      </dgm:t>
    </dgm:pt>
    <dgm:pt modelId="{08FA637C-03DD-41A9-945E-4F94C9B12DD3}" type="sibTrans" cxnId="{445D2736-1BC3-4A02-80E1-49320541C1AF}">
      <dgm:prSet/>
      <dgm:spPr/>
      <dgm:t>
        <a:bodyPr/>
        <a:lstStyle/>
        <a:p>
          <a:endParaRPr lang="en-US"/>
        </a:p>
      </dgm:t>
    </dgm:pt>
    <dgm:pt modelId="{EA48F28D-DBE2-4778-8327-EB4CC64156ED}">
      <dgm:prSet/>
      <dgm:spPr/>
      <dgm:t>
        <a:bodyPr/>
        <a:lstStyle/>
        <a:p>
          <a:r>
            <a:rPr lang="en-US"/>
            <a:t>It remained stable and reliable across all measures</a:t>
          </a:r>
        </a:p>
      </dgm:t>
    </dgm:pt>
    <dgm:pt modelId="{A7A912A9-DD07-4CDB-994E-5C8C26A4C8D5}" type="parTrans" cxnId="{9794C9E2-7249-45C1-8303-90A9DFB71FE7}">
      <dgm:prSet/>
      <dgm:spPr/>
      <dgm:t>
        <a:bodyPr/>
        <a:lstStyle/>
        <a:p>
          <a:endParaRPr lang="en-US"/>
        </a:p>
      </dgm:t>
    </dgm:pt>
    <dgm:pt modelId="{FD7D8E6E-80AF-42EB-A606-AABB081A28E6}" type="sibTrans" cxnId="{9794C9E2-7249-45C1-8303-90A9DFB71FE7}">
      <dgm:prSet/>
      <dgm:spPr/>
      <dgm:t>
        <a:bodyPr/>
        <a:lstStyle/>
        <a:p>
          <a:endParaRPr lang="en-US"/>
        </a:p>
      </dgm:t>
    </dgm:pt>
    <dgm:pt modelId="{B91FC827-63E6-4158-9692-BA305DB4D8F9}">
      <dgm:prSet/>
      <dgm:spPr/>
      <dgm:t>
        <a:bodyPr/>
        <a:lstStyle/>
        <a:p>
          <a:r>
            <a:rPr lang="en-US"/>
            <a:t>It works extremely well with SHAP explanations, making results easy to interpret</a:t>
          </a:r>
        </a:p>
      </dgm:t>
    </dgm:pt>
    <dgm:pt modelId="{22832E93-3E50-472F-89B5-6CC7FAF642D2}" type="parTrans" cxnId="{08182DC2-04F1-45C7-840C-4EB5E9ABC983}">
      <dgm:prSet/>
      <dgm:spPr/>
      <dgm:t>
        <a:bodyPr/>
        <a:lstStyle/>
        <a:p>
          <a:endParaRPr lang="en-US"/>
        </a:p>
      </dgm:t>
    </dgm:pt>
    <dgm:pt modelId="{C7EA5F98-CA7B-4A93-9050-B1E3DD775A18}" type="sibTrans" cxnId="{08182DC2-04F1-45C7-840C-4EB5E9ABC983}">
      <dgm:prSet/>
      <dgm:spPr/>
      <dgm:t>
        <a:bodyPr/>
        <a:lstStyle/>
        <a:p>
          <a:endParaRPr lang="en-US"/>
        </a:p>
      </dgm:t>
    </dgm:pt>
    <dgm:pt modelId="{EB4EDB67-7A55-4D59-A079-D08C610B62E9}">
      <dgm:prSet/>
      <dgm:spPr/>
      <dgm:t>
        <a:bodyPr/>
        <a:lstStyle/>
        <a:p>
          <a:r>
            <a:rPr lang="en-US"/>
            <a:t>Gradient Boosting is the most effective model for predicting whether a salary is above or below the median using a simplified feature set.</a:t>
          </a:r>
        </a:p>
      </dgm:t>
    </dgm:pt>
    <dgm:pt modelId="{67ABD8B4-4B8D-41A0-9C6C-816682E77E29}" type="parTrans" cxnId="{AC5ED195-9BFD-4CFA-ABE6-59945B96D163}">
      <dgm:prSet/>
      <dgm:spPr/>
      <dgm:t>
        <a:bodyPr/>
        <a:lstStyle/>
        <a:p>
          <a:endParaRPr lang="en-US"/>
        </a:p>
      </dgm:t>
    </dgm:pt>
    <dgm:pt modelId="{F223C560-D4D3-4DEE-BD85-E485FD3505F6}" type="sibTrans" cxnId="{AC5ED195-9BFD-4CFA-ABE6-59945B96D163}">
      <dgm:prSet/>
      <dgm:spPr/>
      <dgm:t>
        <a:bodyPr/>
        <a:lstStyle/>
        <a:p>
          <a:endParaRPr lang="en-US"/>
        </a:p>
      </dgm:t>
    </dgm:pt>
    <dgm:pt modelId="{06EE38A0-9E08-4958-9DD8-E48C4A6623F5}" type="pres">
      <dgm:prSet presAssocID="{A3701FC8-E04E-4AA0-8A29-97FFBCF574A6}" presName="linear" presStyleCnt="0">
        <dgm:presLayoutVars>
          <dgm:animLvl val="lvl"/>
          <dgm:resizeHandles val="exact"/>
        </dgm:presLayoutVars>
      </dgm:prSet>
      <dgm:spPr/>
    </dgm:pt>
    <dgm:pt modelId="{28EB4BC5-F8B7-4BAA-A0E6-C8E3A499189C}" type="pres">
      <dgm:prSet presAssocID="{E960C621-2173-4699-A278-2A9D74E20980}" presName="parentText" presStyleLbl="node1" presStyleIdx="0" presStyleCnt="3">
        <dgm:presLayoutVars>
          <dgm:chMax val="0"/>
          <dgm:bulletEnabled val="1"/>
        </dgm:presLayoutVars>
      </dgm:prSet>
      <dgm:spPr/>
    </dgm:pt>
    <dgm:pt modelId="{F9DC1A92-AAA1-4DD4-AA92-CC57925D15C7}" type="pres">
      <dgm:prSet presAssocID="{E960C621-2173-4699-A278-2A9D74E20980}" presName="childText" presStyleLbl="revTx" presStyleIdx="0" presStyleCnt="2">
        <dgm:presLayoutVars>
          <dgm:bulletEnabled val="1"/>
        </dgm:presLayoutVars>
      </dgm:prSet>
      <dgm:spPr/>
    </dgm:pt>
    <dgm:pt modelId="{9CCF1910-6077-4461-90B3-B2C2725DB58B}" type="pres">
      <dgm:prSet presAssocID="{60A97D73-B684-4F94-A03E-E365AE4B4A83}" presName="parentText" presStyleLbl="node1" presStyleIdx="1" presStyleCnt="3">
        <dgm:presLayoutVars>
          <dgm:chMax val="0"/>
          <dgm:bulletEnabled val="1"/>
        </dgm:presLayoutVars>
      </dgm:prSet>
      <dgm:spPr/>
    </dgm:pt>
    <dgm:pt modelId="{6AEECF34-0A2D-4CDA-ACCF-3B6367F3922E}" type="pres">
      <dgm:prSet presAssocID="{60A97D73-B684-4F94-A03E-E365AE4B4A83}" presName="childText" presStyleLbl="revTx" presStyleIdx="1" presStyleCnt="2">
        <dgm:presLayoutVars>
          <dgm:bulletEnabled val="1"/>
        </dgm:presLayoutVars>
      </dgm:prSet>
      <dgm:spPr/>
    </dgm:pt>
    <dgm:pt modelId="{77106C21-5AFD-418A-ADD1-C181DA500E99}" type="pres">
      <dgm:prSet presAssocID="{EB4EDB67-7A55-4D59-A079-D08C610B62E9}" presName="parentText" presStyleLbl="node1" presStyleIdx="2" presStyleCnt="3">
        <dgm:presLayoutVars>
          <dgm:chMax val="0"/>
          <dgm:bulletEnabled val="1"/>
        </dgm:presLayoutVars>
      </dgm:prSet>
      <dgm:spPr/>
    </dgm:pt>
  </dgm:ptLst>
  <dgm:cxnLst>
    <dgm:cxn modelId="{A376510D-59F4-4024-9631-A5A7C36D8F56}" type="presOf" srcId="{EB4EDB67-7A55-4D59-A079-D08C610B62E9}" destId="{77106C21-5AFD-418A-ADD1-C181DA500E99}" srcOrd="0" destOrd="0" presId="urn:microsoft.com/office/officeart/2005/8/layout/vList2"/>
    <dgm:cxn modelId="{7046A410-FAFA-4329-9289-4AD410A00A4A}" srcId="{60A97D73-B684-4F94-A03E-E365AE4B4A83}" destId="{1B552ABE-79B7-4F24-8BD4-366DAF5C8BE0}" srcOrd="0" destOrd="0" parTransId="{91FB7291-2BA6-4FFF-A649-9B7E0BC4ABF1}" sibTransId="{D6CFB0EB-B7A2-44E6-91FF-FF7E3D5DDF51}"/>
    <dgm:cxn modelId="{445D2736-1BC3-4A02-80E1-49320541C1AF}" srcId="{60A97D73-B684-4F94-A03E-E365AE4B4A83}" destId="{588C8F55-F64F-4E14-A4E8-42AE93B377C7}" srcOrd="2" destOrd="0" parTransId="{20A339DC-4047-4FC7-9BCB-FD740C956F83}" sibTransId="{08FA637C-03DD-41A9-945E-4F94C9B12DD3}"/>
    <dgm:cxn modelId="{1CD74036-0634-45E6-A419-2E0D21709C4A}" type="presOf" srcId="{588C8F55-F64F-4E14-A4E8-42AE93B377C7}" destId="{6AEECF34-0A2D-4CDA-ACCF-3B6367F3922E}" srcOrd="0" destOrd="2" presId="urn:microsoft.com/office/officeart/2005/8/layout/vList2"/>
    <dgm:cxn modelId="{53B0A037-7B60-4DA5-91D1-183EE4CAA70E}" type="presOf" srcId="{60A97D73-B684-4F94-A03E-E365AE4B4A83}" destId="{9CCF1910-6077-4461-90B3-B2C2725DB58B}" srcOrd="0" destOrd="0" presId="urn:microsoft.com/office/officeart/2005/8/layout/vList2"/>
    <dgm:cxn modelId="{8225E255-1DCA-447B-94B6-B2B99861EB70}" srcId="{E960C621-2173-4699-A278-2A9D74E20980}" destId="{1BF74C62-A33E-408D-90E4-38847F7521EF}" srcOrd="0" destOrd="0" parTransId="{4DC95AE2-E2F2-42FD-8B91-0EFBAAE14C91}" sibTransId="{A609EF36-A701-4040-8309-BA3B1ED9E973}"/>
    <dgm:cxn modelId="{AC5ED195-9BFD-4CFA-ABE6-59945B96D163}" srcId="{A3701FC8-E04E-4AA0-8A29-97FFBCF574A6}" destId="{EB4EDB67-7A55-4D59-A079-D08C610B62E9}" srcOrd="2" destOrd="0" parTransId="{67ABD8B4-4B8D-41A0-9C6C-816682E77E29}" sibTransId="{F223C560-D4D3-4DEE-BD85-E485FD3505F6}"/>
    <dgm:cxn modelId="{C17947AB-BFD4-45B3-B56C-3321F26D0F95}" type="presOf" srcId="{E960C621-2173-4699-A278-2A9D74E20980}" destId="{28EB4BC5-F8B7-4BAA-A0E6-C8E3A499189C}" srcOrd="0" destOrd="0" presId="urn:microsoft.com/office/officeart/2005/8/layout/vList2"/>
    <dgm:cxn modelId="{08182DC2-04F1-45C7-840C-4EB5E9ABC983}" srcId="{60A97D73-B684-4F94-A03E-E365AE4B4A83}" destId="{B91FC827-63E6-4158-9692-BA305DB4D8F9}" srcOrd="4" destOrd="0" parTransId="{22832E93-3E50-472F-89B5-6CC7FAF642D2}" sibTransId="{C7EA5F98-CA7B-4A93-9050-B1E3DD775A18}"/>
    <dgm:cxn modelId="{2BC7B6CA-C314-40B2-B502-BDDA697D4E10}" type="presOf" srcId="{D5192C6D-6FB6-4F66-894E-F558EA8D7854}" destId="{6AEECF34-0A2D-4CDA-ACCF-3B6367F3922E}" srcOrd="0" destOrd="1" presId="urn:microsoft.com/office/officeart/2005/8/layout/vList2"/>
    <dgm:cxn modelId="{48948CD3-CFFD-47D3-A367-47BE9333BE5C}" type="presOf" srcId="{EA48F28D-DBE2-4778-8327-EB4CC64156ED}" destId="{6AEECF34-0A2D-4CDA-ACCF-3B6367F3922E}" srcOrd="0" destOrd="3" presId="urn:microsoft.com/office/officeart/2005/8/layout/vList2"/>
    <dgm:cxn modelId="{73E8F2D4-C662-4AE0-9D9C-0124A53792EB}" type="presOf" srcId="{A3701FC8-E04E-4AA0-8A29-97FFBCF574A6}" destId="{06EE38A0-9E08-4958-9DD8-E48C4A6623F5}" srcOrd="0" destOrd="0" presId="urn:microsoft.com/office/officeart/2005/8/layout/vList2"/>
    <dgm:cxn modelId="{6B2FBCD6-A63A-42CD-9226-F2C6850E8F83}" type="presOf" srcId="{B91FC827-63E6-4158-9692-BA305DB4D8F9}" destId="{6AEECF34-0A2D-4CDA-ACCF-3B6367F3922E}" srcOrd="0" destOrd="4" presId="urn:microsoft.com/office/officeart/2005/8/layout/vList2"/>
    <dgm:cxn modelId="{EEB243DC-E648-4C6B-AEDA-2139BB751CFD}" srcId="{60A97D73-B684-4F94-A03E-E365AE4B4A83}" destId="{D5192C6D-6FB6-4F66-894E-F558EA8D7854}" srcOrd="1" destOrd="0" parTransId="{19ECFFCB-2A66-4339-88D5-CE162701670A}" sibTransId="{9FF1A6E6-5870-408C-A819-CF5779A75BCC}"/>
    <dgm:cxn modelId="{9794C9E2-7249-45C1-8303-90A9DFB71FE7}" srcId="{60A97D73-B684-4F94-A03E-E365AE4B4A83}" destId="{EA48F28D-DBE2-4778-8327-EB4CC64156ED}" srcOrd="3" destOrd="0" parTransId="{A7A912A9-DD07-4CDB-994E-5C8C26A4C8D5}" sibTransId="{FD7D8E6E-80AF-42EB-A606-AABB081A28E6}"/>
    <dgm:cxn modelId="{82E2F9E8-05E1-495F-986C-9CA0B0330CFB}" srcId="{A3701FC8-E04E-4AA0-8A29-97FFBCF574A6}" destId="{60A97D73-B684-4F94-A03E-E365AE4B4A83}" srcOrd="1" destOrd="0" parTransId="{9C67B27B-05DE-4CD2-A100-E2F95C637B17}" sibTransId="{37E147F2-75BB-46FD-B6C5-CB38A09D3A9A}"/>
    <dgm:cxn modelId="{1711EEEA-91FA-42C1-932B-024E06BEA71F}" type="presOf" srcId="{1B552ABE-79B7-4F24-8BD4-366DAF5C8BE0}" destId="{6AEECF34-0A2D-4CDA-ACCF-3B6367F3922E}" srcOrd="0" destOrd="0" presId="urn:microsoft.com/office/officeart/2005/8/layout/vList2"/>
    <dgm:cxn modelId="{6ED5FFFB-4DF1-4541-A45E-B60E5C2609A0}" srcId="{A3701FC8-E04E-4AA0-8A29-97FFBCF574A6}" destId="{E960C621-2173-4699-A278-2A9D74E20980}" srcOrd="0" destOrd="0" parTransId="{2413B866-C4C5-4CE0-983D-F3EC10E33BBF}" sibTransId="{D2A9CBBD-CBDE-4184-B2CA-0A0F577AB817}"/>
    <dgm:cxn modelId="{A17B99FC-EF03-413F-922C-34DA0B04A009}" type="presOf" srcId="{1BF74C62-A33E-408D-90E4-38847F7521EF}" destId="{F9DC1A92-AAA1-4DD4-AA92-CC57925D15C7}" srcOrd="0" destOrd="0" presId="urn:microsoft.com/office/officeart/2005/8/layout/vList2"/>
    <dgm:cxn modelId="{640A8870-78D6-4136-BC16-ABC9CA917076}" type="presParOf" srcId="{06EE38A0-9E08-4958-9DD8-E48C4A6623F5}" destId="{28EB4BC5-F8B7-4BAA-A0E6-C8E3A499189C}" srcOrd="0" destOrd="0" presId="urn:microsoft.com/office/officeart/2005/8/layout/vList2"/>
    <dgm:cxn modelId="{A5CBF414-EF42-40E6-8515-0EA500591823}" type="presParOf" srcId="{06EE38A0-9E08-4958-9DD8-E48C4A6623F5}" destId="{F9DC1A92-AAA1-4DD4-AA92-CC57925D15C7}" srcOrd="1" destOrd="0" presId="urn:microsoft.com/office/officeart/2005/8/layout/vList2"/>
    <dgm:cxn modelId="{F30BD2EF-3910-4F26-A6E1-60D2A3B82D6E}" type="presParOf" srcId="{06EE38A0-9E08-4958-9DD8-E48C4A6623F5}" destId="{9CCF1910-6077-4461-90B3-B2C2725DB58B}" srcOrd="2" destOrd="0" presId="urn:microsoft.com/office/officeart/2005/8/layout/vList2"/>
    <dgm:cxn modelId="{F3276CED-6801-46BB-A99F-DF351881A4A9}" type="presParOf" srcId="{06EE38A0-9E08-4958-9DD8-E48C4A6623F5}" destId="{6AEECF34-0A2D-4CDA-ACCF-3B6367F3922E}" srcOrd="3" destOrd="0" presId="urn:microsoft.com/office/officeart/2005/8/layout/vList2"/>
    <dgm:cxn modelId="{25EBCBA9-4AAC-472C-A488-E6095B64804E}" type="presParOf" srcId="{06EE38A0-9E08-4958-9DD8-E48C4A6623F5}" destId="{77106C21-5AFD-418A-ADD1-C181DA500E9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70B4AD1-9AAC-4F2B-8A83-B3F7B0BECEF6}"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D7995184-F01F-4915-949C-B30D810CA741}">
      <dgm:prSet/>
      <dgm:spPr/>
      <dgm:t>
        <a:bodyPr/>
        <a:lstStyle/>
        <a:p>
          <a:pPr>
            <a:lnSpc>
              <a:spcPct val="100000"/>
            </a:lnSpc>
          </a:pPr>
          <a:r>
            <a:rPr lang="en-US"/>
            <a:t>Cannot explain </a:t>
          </a:r>
          <a:r>
            <a:rPr lang="en-US" i="1"/>
            <a:t>why</a:t>
          </a:r>
          <a:r>
            <a:rPr lang="en-US"/>
            <a:t> salaries differ beyond the data provided</a:t>
          </a:r>
        </a:p>
      </dgm:t>
    </dgm:pt>
    <dgm:pt modelId="{5B90A0AB-6E61-46B2-9FBF-AB22C382C318}" type="parTrans" cxnId="{F0D984B5-479B-4EAE-B213-F5AAD55D732D}">
      <dgm:prSet/>
      <dgm:spPr/>
      <dgm:t>
        <a:bodyPr/>
        <a:lstStyle/>
        <a:p>
          <a:endParaRPr lang="en-US"/>
        </a:p>
      </dgm:t>
    </dgm:pt>
    <dgm:pt modelId="{0EC1DAEA-3F75-4C0E-8B89-C79D060FA6C3}" type="sibTrans" cxnId="{F0D984B5-479B-4EAE-B213-F5AAD55D732D}">
      <dgm:prSet/>
      <dgm:spPr/>
      <dgm:t>
        <a:bodyPr/>
        <a:lstStyle/>
        <a:p>
          <a:endParaRPr lang="en-US"/>
        </a:p>
      </dgm:t>
    </dgm:pt>
    <dgm:pt modelId="{271A6E6B-0EB1-4820-9626-7294A8532C59}">
      <dgm:prSet/>
      <dgm:spPr/>
      <dgm:t>
        <a:bodyPr/>
        <a:lstStyle/>
        <a:p>
          <a:pPr>
            <a:lnSpc>
              <a:spcPct val="100000"/>
            </a:lnSpc>
          </a:pPr>
          <a:r>
            <a:rPr lang="en-US"/>
            <a:t>It only uses the features in the dataset. Anything not included — negotiation, bonuses, internal policies — is not captured.</a:t>
          </a:r>
        </a:p>
      </dgm:t>
    </dgm:pt>
    <dgm:pt modelId="{73A6B830-4267-43DF-BC29-EFE480FA6C8A}" type="parTrans" cxnId="{652A8652-F954-4FEC-A348-A0295975364A}">
      <dgm:prSet/>
      <dgm:spPr/>
      <dgm:t>
        <a:bodyPr/>
        <a:lstStyle/>
        <a:p>
          <a:endParaRPr lang="en-US"/>
        </a:p>
      </dgm:t>
    </dgm:pt>
    <dgm:pt modelId="{C5BE1F2B-A0C8-4890-A525-50F610926CA0}" type="sibTrans" cxnId="{652A8652-F954-4FEC-A348-A0295975364A}">
      <dgm:prSet/>
      <dgm:spPr/>
      <dgm:t>
        <a:bodyPr/>
        <a:lstStyle/>
        <a:p>
          <a:endParaRPr lang="en-US"/>
        </a:p>
      </dgm:t>
    </dgm:pt>
    <dgm:pt modelId="{257B7C35-CAD5-4478-95BF-FFEE4EEB33F3}">
      <dgm:prSet/>
      <dgm:spPr/>
      <dgm:t>
        <a:bodyPr/>
        <a:lstStyle/>
        <a:p>
          <a:pPr>
            <a:lnSpc>
              <a:spcPct val="100000"/>
            </a:lnSpc>
          </a:pPr>
          <a:r>
            <a:rPr lang="en-US"/>
            <a:t>Cannot guarantee perfect accuracy</a:t>
          </a:r>
        </a:p>
      </dgm:t>
    </dgm:pt>
    <dgm:pt modelId="{F748494B-2C75-4848-9765-0FE678B9531C}" type="parTrans" cxnId="{14210759-6367-4998-8C39-F43420561394}">
      <dgm:prSet/>
      <dgm:spPr/>
      <dgm:t>
        <a:bodyPr/>
        <a:lstStyle/>
        <a:p>
          <a:endParaRPr lang="en-US"/>
        </a:p>
      </dgm:t>
    </dgm:pt>
    <dgm:pt modelId="{57FD5D4A-DD72-46FF-BC32-76ECC9E2DE83}" type="sibTrans" cxnId="{14210759-6367-4998-8C39-F43420561394}">
      <dgm:prSet/>
      <dgm:spPr/>
      <dgm:t>
        <a:bodyPr/>
        <a:lstStyle/>
        <a:p>
          <a:endParaRPr lang="en-US"/>
        </a:p>
      </dgm:t>
    </dgm:pt>
    <dgm:pt modelId="{832614E1-72DF-4585-A882-F3E432321001}">
      <dgm:prSet/>
      <dgm:spPr/>
      <dgm:t>
        <a:bodyPr/>
        <a:lstStyle/>
        <a:p>
          <a:pPr>
            <a:lnSpc>
              <a:spcPct val="100000"/>
            </a:lnSpc>
          </a:pPr>
          <a:r>
            <a:rPr lang="en-US"/>
            <a:t>Even the best model makes mistakes. Salary data is complex, and some cases will always be hard to classify.</a:t>
          </a:r>
        </a:p>
      </dgm:t>
    </dgm:pt>
    <dgm:pt modelId="{8FA0DA73-3B20-463A-961D-9B0510D0B075}" type="parTrans" cxnId="{107EA213-CEDC-4E45-A4A8-6D606F8DE317}">
      <dgm:prSet/>
      <dgm:spPr/>
      <dgm:t>
        <a:bodyPr/>
        <a:lstStyle/>
        <a:p>
          <a:endParaRPr lang="en-US"/>
        </a:p>
      </dgm:t>
    </dgm:pt>
    <dgm:pt modelId="{A4AC1CF4-8FB0-4C5B-9854-233C3BA2CABE}" type="sibTrans" cxnId="{107EA213-CEDC-4E45-A4A8-6D606F8DE317}">
      <dgm:prSet/>
      <dgm:spPr/>
      <dgm:t>
        <a:bodyPr/>
        <a:lstStyle/>
        <a:p>
          <a:endParaRPr lang="en-US"/>
        </a:p>
      </dgm:t>
    </dgm:pt>
    <dgm:pt modelId="{28D302C9-0CAA-4129-AA7A-A45DAE42244F}">
      <dgm:prSet/>
      <dgm:spPr/>
      <dgm:t>
        <a:bodyPr/>
        <a:lstStyle/>
        <a:p>
          <a:pPr>
            <a:lnSpc>
              <a:spcPct val="100000"/>
            </a:lnSpc>
          </a:pPr>
          <a:r>
            <a:rPr lang="en-US"/>
            <a:t>Cannot account for future market changes</a:t>
          </a:r>
        </a:p>
      </dgm:t>
    </dgm:pt>
    <dgm:pt modelId="{15CEB312-5A13-4586-AC47-B52B6980B54B}" type="parTrans" cxnId="{BB7CA726-7143-49F0-B4F5-2F8C62A2713D}">
      <dgm:prSet/>
      <dgm:spPr/>
      <dgm:t>
        <a:bodyPr/>
        <a:lstStyle/>
        <a:p>
          <a:endParaRPr lang="en-US"/>
        </a:p>
      </dgm:t>
    </dgm:pt>
    <dgm:pt modelId="{1388D251-88AD-445A-A50A-11F740D08B93}" type="sibTrans" cxnId="{BB7CA726-7143-49F0-B4F5-2F8C62A2713D}">
      <dgm:prSet/>
      <dgm:spPr/>
      <dgm:t>
        <a:bodyPr/>
        <a:lstStyle/>
        <a:p>
          <a:endParaRPr lang="en-US"/>
        </a:p>
      </dgm:t>
    </dgm:pt>
    <dgm:pt modelId="{8F27FD52-4BC3-465F-93F4-8B738575FECD}">
      <dgm:prSet/>
      <dgm:spPr/>
      <dgm:t>
        <a:bodyPr/>
        <a:lstStyle/>
        <a:p>
          <a:pPr>
            <a:lnSpc>
              <a:spcPct val="100000"/>
            </a:lnSpc>
          </a:pPr>
          <a:r>
            <a:rPr lang="en-US"/>
            <a:t>Shifts in hiring trends, remote work policies, or economic conditions may change salary patterns over time.</a:t>
          </a:r>
        </a:p>
      </dgm:t>
    </dgm:pt>
    <dgm:pt modelId="{686ADF14-2E70-46F3-8D43-A293092F804F}" type="parTrans" cxnId="{481EF14D-AC05-4B1F-B4C7-D92D7C58A9E0}">
      <dgm:prSet/>
      <dgm:spPr/>
      <dgm:t>
        <a:bodyPr/>
        <a:lstStyle/>
        <a:p>
          <a:endParaRPr lang="en-US"/>
        </a:p>
      </dgm:t>
    </dgm:pt>
    <dgm:pt modelId="{AEE0F4C3-DEB8-4C7D-BB9C-15D73D043F93}" type="sibTrans" cxnId="{481EF14D-AC05-4B1F-B4C7-D92D7C58A9E0}">
      <dgm:prSet/>
      <dgm:spPr/>
      <dgm:t>
        <a:bodyPr/>
        <a:lstStyle/>
        <a:p>
          <a:endParaRPr lang="en-US"/>
        </a:p>
      </dgm:t>
    </dgm:pt>
    <dgm:pt modelId="{9C716E62-DC8E-4219-B4A6-17746A346A9F}">
      <dgm:prSet/>
      <dgm:spPr/>
      <dgm:t>
        <a:bodyPr/>
        <a:lstStyle/>
        <a:p>
          <a:pPr>
            <a:lnSpc>
              <a:spcPct val="100000"/>
            </a:lnSpc>
          </a:pPr>
          <a:r>
            <a:rPr lang="en-US"/>
            <a:t>If the dataset reflects existing market biases, the model may unintentionally learn and reproduce them.</a:t>
          </a:r>
        </a:p>
      </dgm:t>
    </dgm:pt>
    <dgm:pt modelId="{B62D95EF-7D37-48CF-816B-B6C33A74245F}" type="parTrans" cxnId="{DC2E4FD2-6852-4A1C-9400-2757B8AE9CDD}">
      <dgm:prSet/>
      <dgm:spPr/>
      <dgm:t>
        <a:bodyPr/>
        <a:lstStyle/>
        <a:p>
          <a:endParaRPr lang="en-US"/>
        </a:p>
      </dgm:t>
    </dgm:pt>
    <dgm:pt modelId="{02342582-68AF-424C-A70A-9D65698DC8C5}" type="sibTrans" cxnId="{DC2E4FD2-6852-4A1C-9400-2757B8AE9CDD}">
      <dgm:prSet/>
      <dgm:spPr/>
      <dgm:t>
        <a:bodyPr/>
        <a:lstStyle/>
        <a:p>
          <a:endParaRPr lang="en-US"/>
        </a:p>
      </dgm:t>
    </dgm:pt>
    <dgm:pt modelId="{F7ED8BAC-A1AB-48FD-9AEE-B432397C3966}">
      <dgm:prSet/>
      <dgm:spPr/>
      <dgm:t>
        <a:bodyPr/>
        <a:lstStyle/>
        <a:p>
          <a:pPr>
            <a:lnSpc>
              <a:spcPct val="100000"/>
            </a:lnSpc>
          </a:pPr>
          <a:r>
            <a:rPr lang="en-US" b="1"/>
            <a:t>Key Takeaway:</a:t>
          </a:r>
          <a:r>
            <a:rPr lang="en-US"/>
            <a:t> The model is useful for understanding salary patterns and supporting decisions, but it is a decision‑support tool, not a decision‑making tool. Compensation teams still need to interpret results in context.</a:t>
          </a:r>
        </a:p>
      </dgm:t>
    </dgm:pt>
    <dgm:pt modelId="{0FC73B38-5897-437A-80D6-8C577FA1CFBC}" type="parTrans" cxnId="{EFDD2D59-C1BB-4B5A-8603-81265FA04DF4}">
      <dgm:prSet/>
      <dgm:spPr/>
      <dgm:t>
        <a:bodyPr/>
        <a:lstStyle/>
        <a:p>
          <a:endParaRPr lang="en-US"/>
        </a:p>
      </dgm:t>
    </dgm:pt>
    <dgm:pt modelId="{ABA07ED9-6F37-401F-BB31-70D62B7C2D79}" type="sibTrans" cxnId="{EFDD2D59-C1BB-4B5A-8603-81265FA04DF4}">
      <dgm:prSet/>
      <dgm:spPr/>
      <dgm:t>
        <a:bodyPr/>
        <a:lstStyle/>
        <a:p>
          <a:endParaRPr lang="en-US"/>
        </a:p>
      </dgm:t>
    </dgm:pt>
    <dgm:pt modelId="{893CC943-A24E-47F7-B396-231B07F80DF1}" type="pres">
      <dgm:prSet presAssocID="{F70B4AD1-9AAC-4F2B-8A83-B3F7B0BECEF6}" presName="root" presStyleCnt="0">
        <dgm:presLayoutVars>
          <dgm:dir/>
          <dgm:resizeHandles val="exact"/>
        </dgm:presLayoutVars>
      </dgm:prSet>
      <dgm:spPr/>
    </dgm:pt>
    <dgm:pt modelId="{A2729849-3958-4031-B648-A0EB397A75FF}" type="pres">
      <dgm:prSet presAssocID="{D7995184-F01F-4915-949C-B30D810CA741}" presName="compNode" presStyleCnt="0"/>
      <dgm:spPr/>
    </dgm:pt>
    <dgm:pt modelId="{8EB0916F-4D81-4322-819E-0D575457F64B}" type="pres">
      <dgm:prSet presAssocID="{D7995184-F01F-4915-949C-B30D810CA741}" presName="bgRect" presStyleLbl="bgShp" presStyleIdx="0" presStyleCnt="5"/>
      <dgm:spPr/>
    </dgm:pt>
    <dgm:pt modelId="{6AA3CA1C-7CB0-440A-B26F-D5E5F4B9AF6B}" type="pres">
      <dgm:prSet presAssocID="{D7995184-F01F-4915-949C-B30D810CA74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llar"/>
        </a:ext>
      </dgm:extLst>
    </dgm:pt>
    <dgm:pt modelId="{0D35A253-4004-4726-9174-A247C73EF554}" type="pres">
      <dgm:prSet presAssocID="{D7995184-F01F-4915-949C-B30D810CA741}" presName="spaceRect" presStyleCnt="0"/>
      <dgm:spPr/>
    </dgm:pt>
    <dgm:pt modelId="{875503BA-C1B9-414A-B9D6-2610C4FD7AD3}" type="pres">
      <dgm:prSet presAssocID="{D7995184-F01F-4915-949C-B30D810CA741}" presName="parTx" presStyleLbl="revTx" presStyleIdx="0" presStyleCnt="8">
        <dgm:presLayoutVars>
          <dgm:chMax val="0"/>
          <dgm:chPref val="0"/>
        </dgm:presLayoutVars>
      </dgm:prSet>
      <dgm:spPr/>
    </dgm:pt>
    <dgm:pt modelId="{7628A5CB-2F0B-4F97-90E6-4AFAC343A119}" type="pres">
      <dgm:prSet presAssocID="{D7995184-F01F-4915-949C-B30D810CA741}" presName="desTx" presStyleLbl="revTx" presStyleIdx="1" presStyleCnt="8">
        <dgm:presLayoutVars/>
      </dgm:prSet>
      <dgm:spPr/>
    </dgm:pt>
    <dgm:pt modelId="{6F97C7A6-DFF9-4311-8994-E63375FAE501}" type="pres">
      <dgm:prSet presAssocID="{0EC1DAEA-3F75-4C0E-8B89-C79D060FA6C3}" presName="sibTrans" presStyleCnt="0"/>
      <dgm:spPr/>
    </dgm:pt>
    <dgm:pt modelId="{C3E377D6-8A6F-412D-89B3-C8BDBAC340F7}" type="pres">
      <dgm:prSet presAssocID="{257B7C35-CAD5-4478-95BF-FFEE4EEB33F3}" presName="compNode" presStyleCnt="0"/>
      <dgm:spPr/>
    </dgm:pt>
    <dgm:pt modelId="{947A0939-812C-4C2A-BB2C-075E78221AD6}" type="pres">
      <dgm:prSet presAssocID="{257B7C35-CAD5-4478-95BF-FFEE4EEB33F3}" presName="bgRect" presStyleLbl="bgShp" presStyleIdx="1" presStyleCnt="5"/>
      <dgm:spPr/>
    </dgm:pt>
    <dgm:pt modelId="{6F250BE4-5DC0-4E92-AC46-B77BD942F6B1}" type="pres">
      <dgm:prSet presAssocID="{257B7C35-CAD5-4478-95BF-FFEE4EEB33F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C37EBD99-BE11-4681-8748-551CD7B80EEE}" type="pres">
      <dgm:prSet presAssocID="{257B7C35-CAD5-4478-95BF-FFEE4EEB33F3}" presName="spaceRect" presStyleCnt="0"/>
      <dgm:spPr/>
    </dgm:pt>
    <dgm:pt modelId="{4851E3B5-3607-4EF3-A008-B4E094EC6A0C}" type="pres">
      <dgm:prSet presAssocID="{257B7C35-CAD5-4478-95BF-FFEE4EEB33F3}" presName="parTx" presStyleLbl="revTx" presStyleIdx="2" presStyleCnt="8">
        <dgm:presLayoutVars>
          <dgm:chMax val="0"/>
          <dgm:chPref val="0"/>
        </dgm:presLayoutVars>
      </dgm:prSet>
      <dgm:spPr/>
    </dgm:pt>
    <dgm:pt modelId="{B1B16B42-0080-4509-B1FC-D6D7A72A4A11}" type="pres">
      <dgm:prSet presAssocID="{257B7C35-CAD5-4478-95BF-FFEE4EEB33F3}" presName="desTx" presStyleLbl="revTx" presStyleIdx="3" presStyleCnt="8">
        <dgm:presLayoutVars/>
      </dgm:prSet>
      <dgm:spPr/>
    </dgm:pt>
    <dgm:pt modelId="{DA2EF898-F85E-4B52-B571-8C3C314F686C}" type="pres">
      <dgm:prSet presAssocID="{57FD5D4A-DD72-46FF-BC32-76ECC9E2DE83}" presName="sibTrans" presStyleCnt="0"/>
      <dgm:spPr/>
    </dgm:pt>
    <dgm:pt modelId="{1E2DBCF9-C412-42D0-A1B4-69E0CC8DE24F}" type="pres">
      <dgm:prSet presAssocID="{28D302C9-0CAA-4129-AA7A-A45DAE42244F}" presName="compNode" presStyleCnt="0"/>
      <dgm:spPr/>
    </dgm:pt>
    <dgm:pt modelId="{42530F59-7D68-4A4A-A676-22D21D7C2F29}" type="pres">
      <dgm:prSet presAssocID="{28D302C9-0CAA-4129-AA7A-A45DAE42244F}" presName="bgRect" presStyleLbl="bgShp" presStyleIdx="2" presStyleCnt="5"/>
      <dgm:spPr/>
    </dgm:pt>
    <dgm:pt modelId="{3A150E03-1659-4C00-90F5-2749A878123A}" type="pres">
      <dgm:prSet presAssocID="{28D302C9-0CAA-4129-AA7A-A45DAE42244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uble"/>
        </a:ext>
      </dgm:extLst>
    </dgm:pt>
    <dgm:pt modelId="{1D5E8DEB-0F4D-4667-B52F-560BE584E997}" type="pres">
      <dgm:prSet presAssocID="{28D302C9-0CAA-4129-AA7A-A45DAE42244F}" presName="spaceRect" presStyleCnt="0"/>
      <dgm:spPr/>
    </dgm:pt>
    <dgm:pt modelId="{8220CAF4-F872-4D56-AD8E-BA53D7175632}" type="pres">
      <dgm:prSet presAssocID="{28D302C9-0CAA-4129-AA7A-A45DAE42244F}" presName="parTx" presStyleLbl="revTx" presStyleIdx="4" presStyleCnt="8">
        <dgm:presLayoutVars>
          <dgm:chMax val="0"/>
          <dgm:chPref val="0"/>
        </dgm:presLayoutVars>
      </dgm:prSet>
      <dgm:spPr/>
    </dgm:pt>
    <dgm:pt modelId="{1A197680-9C5E-4581-BC33-308FD333B594}" type="pres">
      <dgm:prSet presAssocID="{28D302C9-0CAA-4129-AA7A-A45DAE42244F}" presName="desTx" presStyleLbl="revTx" presStyleIdx="5" presStyleCnt="8">
        <dgm:presLayoutVars/>
      </dgm:prSet>
      <dgm:spPr/>
    </dgm:pt>
    <dgm:pt modelId="{E79A2A48-3F86-4AB2-86E7-56B3DC656F81}" type="pres">
      <dgm:prSet presAssocID="{1388D251-88AD-445A-A50A-11F740D08B93}" presName="sibTrans" presStyleCnt="0"/>
      <dgm:spPr/>
    </dgm:pt>
    <dgm:pt modelId="{D3AD5B33-0713-4BCB-95F9-B2620D85C75C}" type="pres">
      <dgm:prSet presAssocID="{9C716E62-DC8E-4219-B4A6-17746A346A9F}" presName="compNode" presStyleCnt="0"/>
      <dgm:spPr/>
    </dgm:pt>
    <dgm:pt modelId="{FF47B22F-1458-4139-9D91-8D35A238AF93}" type="pres">
      <dgm:prSet presAssocID="{9C716E62-DC8E-4219-B4A6-17746A346A9F}" presName="bgRect" presStyleLbl="bgShp" presStyleIdx="3" presStyleCnt="5"/>
      <dgm:spPr/>
    </dgm:pt>
    <dgm:pt modelId="{7081395F-6E31-4595-9672-8AA8777EC43A}" type="pres">
      <dgm:prSet presAssocID="{9C716E62-DC8E-4219-B4A6-17746A346A9F}"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3F253152-0035-4E4E-BF99-F7AC9EB4E660}" type="pres">
      <dgm:prSet presAssocID="{9C716E62-DC8E-4219-B4A6-17746A346A9F}" presName="spaceRect" presStyleCnt="0"/>
      <dgm:spPr/>
    </dgm:pt>
    <dgm:pt modelId="{434301C6-B760-4C43-AE5B-06411E51F731}" type="pres">
      <dgm:prSet presAssocID="{9C716E62-DC8E-4219-B4A6-17746A346A9F}" presName="parTx" presStyleLbl="revTx" presStyleIdx="6" presStyleCnt="8">
        <dgm:presLayoutVars>
          <dgm:chMax val="0"/>
          <dgm:chPref val="0"/>
        </dgm:presLayoutVars>
      </dgm:prSet>
      <dgm:spPr/>
    </dgm:pt>
    <dgm:pt modelId="{1346B141-51E4-40ED-A865-12F94A0FEA9F}" type="pres">
      <dgm:prSet presAssocID="{02342582-68AF-424C-A70A-9D65698DC8C5}" presName="sibTrans" presStyleCnt="0"/>
      <dgm:spPr/>
    </dgm:pt>
    <dgm:pt modelId="{8CEFA482-45EA-4BEF-BE5A-F835B2147EBA}" type="pres">
      <dgm:prSet presAssocID="{F7ED8BAC-A1AB-48FD-9AEE-B432397C3966}" presName="compNode" presStyleCnt="0"/>
      <dgm:spPr/>
    </dgm:pt>
    <dgm:pt modelId="{D9D5EF4B-1BDE-4D41-BFF0-7F415C50A4C3}" type="pres">
      <dgm:prSet presAssocID="{F7ED8BAC-A1AB-48FD-9AEE-B432397C3966}" presName="bgRect" presStyleLbl="bgShp" presStyleIdx="4" presStyleCnt="5"/>
      <dgm:spPr/>
    </dgm:pt>
    <dgm:pt modelId="{2D4A00F7-334C-498B-9B05-FFACDD94A206}" type="pres">
      <dgm:prSet presAssocID="{F7ED8BAC-A1AB-48FD-9AEE-B432397C396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793A8429-38BB-4D9B-951F-1624ADA7D12F}" type="pres">
      <dgm:prSet presAssocID="{F7ED8BAC-A1AB-48FD-9AEE-B432397C3966}" presName="spaceRect" presStyleCnt="0"/>
      <dgm:spPr/>
    </dgm:pt>
    <dgm:pt modelId="{41BA0E64-C7CB-4B17-BE4E-ECD4FEDEA4D4}" type="pres">
      <dgm:prSet presAssocID="{F7ED8BAC-A1AB-48FD-9AEE-B432397C3966}" presName="parTx" presStyleLbl="revTx" presStyleIdx="7" presStyleCnt="8">
        <dgm:presLayoutVars>
          <dgm:chMax val="0"/>
          <dgm:chPref val="0"/>
        </dgm:presLayoutVars>
      </dgm:prSet>
      <dgm:spPr/>
    </dgm:pt>
  </dgm:ptLst>
  <dgm:cxnLst>
    <dgm:cxn modelId="{F4099C06-2534-4351-9B1B-F1E6AACDA3CA}" type="presOf" srcId="{F7ED8BAC-A1AB-48FD-9AEE-B432397C3966}" destId="{41BA0E64-C7CB-4B17-BE4E-ECD4FEDEA4D4}" srcOrd="0" destOrd="0" presId="urn:microsoft.com/office/officeart/2018/2/layout/IconVerticalSolidList"/>
    <dgm:cxn modelId="{107EA213-CEDC-4E45-A4A8-6D606F8DE317}" srcId="{257B7C35-CAD5-4478-95BF-FFEE4EEB33F3}" destId="{832614E1-72DF-4585-A882-F3E432321001}" srcOrd="0" destOrd="0" parTransId="{8FA0DA73-3B20-463A-961D-9B0510D0B075}" sibTransId="{A4AC1CF4-8FB0-4C5B-9854-233C3BA2CABE}"/>
    <dgm:cxn modelId="{BB7CA726-7143-49F0-B4F5-2F8C62A2713D}" srcId="{F70B4AD1-9AAC-4F2B-8A83-B3F7B0BECEF6}" destId="{28D302C9-0CAA-4129-AA7A-A45DAE42244F}" srcOrd="2" destOrd="0" parTransId="{15CEB312-5A13-4586-AC47-B52B6980B54B}" sibTransId="{1388D251-88AD-445A-A50A-11F740D08B93}"/>
    <dgm:cxn modelId="{D0723165-79E0-4AA9-92E6-12E9A6B22506}" type="presOf" srcId="{257B7C35-CAD5-4478-95BF-FFEE4EEB33F3}" destId="{4851E3B5-3607-4EF3-A008-B4E094EC6A0C}" srcOrd="0" destOrd="0" presId="urn:microsoft.com/office/officeart/2018/2/layout/IconVerticalSolidList"/>
    <dgm:cxn modelId="{481EF14D-AC05-4B1F-B4C7-D92D7C58A9E0}" srcId="{28D302C9-0CAA-4129-AA7A-A45DAE42244F}" destId="{8F27FD52-4BC3-465F-93F4-8B738575FECD}" srcOrd="0" destOrd="0" parTransId="{686ADF14-2E70-46F3-8D43-A293092F804F}" sibTransId="{AEE0F4C3-DEB8-4C7D-BB9C-15D73D043F93}"/>
    <dgm:cxn modelId="{652A8652-F954-4FEC-A348-A0295975364A}" srcId="{D7995184-F01F-4915-949C-B30D810CA741}" destId="{271A6E6B-0EB1-4820-9626-7294A8532C59}" srcOrd="0" destOrd="0" parTransId="{73A6B830-4267-43DF-BC29-EFE480FA6C8A}" sibTransId="{C5BE1F2B-A0C8-4890-A525-50F610926CA0}"/>
    <dgm:cxn modelId="{14210759-6367-4998-8C39-F43420561394}" srcId="{F70B4AD1-9AAC-4F2B-8A83-B3F7B0BECEF6}" destId="{257B7C35-CAD5-4478-95BF-FFEE4EEB33F3}" srcOrd="1" destOrd="0" parTransId="{F748494B-2C75-4848-9765-0FE678B9531C}" sibTransId="{57FD5D4A-DD72-46FF-BC32-76ECC9E2DE83}"/>
    <dgm:cxn modelId="{EFDD2D59-C1BB-4B5A-8603-81265FA04DF4}" srcId="{F70B4AD1-9AAC-4F2B-8A83-B3F7B0BECEF6}" destId="{F7ED8BAC-A1AB-48FD-9AEE-B432397C3966}" srcOrd="4" destOrd="0" parTransId="{0FC73B38-5897-437A-80D6-8C577FA1CFBC}" sibTransId="{ABA07ED9-6F37-401F-BB31-70D62B7C2D79}"/>
    <dgm:cxn modelId="{4426CF82-3A42-44EB-AC5F-85F6C632DF7C}" type="presOf" srcId="{8F27FD52-4BC3-465F-93F4-8B738575FECD}" destId="{1A197680-9C5E-4581-BC33-308FD333B594}" srcOrd="0" destOrd="0" presId="urn:microsoft.com/office/officeart/2018/2/layout/IconVerticalSolidList"/>
    <dgm:cxn modelId="{F4E78AAD-3936-4F74-9CBE-1824D16CE3BA}" type="presOf" srcId="{271A6E6B-0EB1-4820-9626-7294A8532C59}" destId="{7628A5CB-2F0B-4F97-90E6-4AFAC343A119}" srcOrd="0" destOrd="0" presId="urn:microsoft.com/office/officeart/2018/2/layout/IconVerticalSolidList"/>
    <dgm:cxn modelId="{13FA1BB1-3B07-41DC-A95E-255A3FE3625D}" type="presOf" srcId="{832614E1-72DF-4585-A882-F3E432321001}" destId="{B1B16B42-0080-4509-B1FC-D6D7A72A4A11}" srcOrd="0" destOrd="0" presId="urn:microsoft.com/office/officeart/2018/2/layout/IconVerticalSolidList"/>
    <dgm:cxn modelId="{F0D984B5-479B-4EAE-B213-F5AAD55D732D}" srcId="{F70B4AD1-9AAC-4F2B-8A83-B3F7B0BECEF6}" destId="{D7995184-F01F-4915-949C-B30D810CA741}" srcOrd="0" destOrd="0" parTransId="{5B90A0AB-6E61-46B2-9FBF-AB22C382C318}" sibTransId="{0EC1DAEA-3F75-4C0E-8B89-C79D060FA6C3}"/>
    <dgm:cxn modelId="{0D9405B9-07BB-4793-9413-8CC442C3EC6E}" type="presOf" srcId="{28D302C9-0CAA-4129-AA7A-A45DAE42244F}" destId="{8220CAF4-F872-4D56-AD8E-BA53D7175632}" srcOrd="0" destOrd="0" presId="urn:microsoft.com/office/officeart/2018/2/layout/IconVerticalSolidList"/>
    <dgm:cxn modelId="{1A8C98C2-F551-459E-9F6D-6A71211A7EFE}" type="presOf" srcId="{F70B4AD1-9AAC-4F2B-8A83-B3F7B0BECEF6}" destId="{893CC943-A24E-47F7-B396-231B07F80DF1}" srcOrd="0" destOrd="0" presId="urn:microsoft.com/office/officeart/2018/2/layout/IconVerticalSolidList"/>
    <dgm:cxn modelId="{DC2E4FD2-6852-4A1C-9400-2757B8AE9CDD}" srcId="{F70B4AD1-9AAC-4F2B-8A83-B3F7B0BECEF6}" destId="{9C716E62-DC8E-4219-B4A6-17746A346A9F}" srcOrd="3" destOrd="0" parTransId="{B62D95EF-7D37-48CF-816B-B6C33A74245F}" sibTransId="{02342582-68AF-424C-A70A-9D65698DC8C5}"/>
    <dgm:cxn modelId="{2D4796F8-9082-4BEB-8C7A-BAE1634DF55F}" type="presOf" srcId="{D7995184-F01F-4915-949C-B30D810CA741}" destId="{875503BA-C1B9-414A-B9D6-2610C4FD7AD3}" srcOrd="0" destOrd="0" presId="urn:microsoft.com/office/officeart/2018/2/layout/IconVerticalSolidList"/>
    <dgm:cxn modelId="{FA2085FF-5F48-4282-9C31-2C5AEC2EDFE3}" type="presOf" srcId="{9C716E62-DC8E-4219-B4A6-17746A346A9F}" destId="{434301C6-B760-4C43-AE5B-06411E51F731}" srcOrd="0" destOrd="0" presId="urn:microsoft.com/office/officeart/2018/2/layout/IconVerticalSolidList"/>
    <dgm:cxn modelId="{396276D8-82EC-43C4-A97D-5002F55F97F2}" type="presParOf" srcId="{893CC943-A24E-47F7-B396-231B07F80DF1}" destId="{A2729849-3958-4031-B648-A0EB397A75FF}" srcOrd="0" destOrd="0" presId="urn:microsoft.com/office/officeart/2018/2/layout/IconVerticalSolidList"/>
    <dgm:cxn modelId="{03E3C0B7-8639-44ED-9C68-724F22AB538E}" type="presParOf" srcId="{A2729849-3958-4031-B648-A0EB397A75FF}" destId="{8EB0916F-4D81-4322-819E-0D575457F64B}" srcOrd="0" destOrd="0" presId="urn:microsoft.com/office/officeart/2018/2/layout/IconVerticalSolidList"/>
    <dgm:cxn modelId="{7C82C6CA-D2B9-478F-8AC5-B01C7AF5B7DC}" type="presParOf" srcId="{A2729849-3958-4031-B648-A0EB397A75FF}" destId="{6AA3CA1C-7CB0-440A-B26F-D5E5F4B9AF6B}" srcOrd="1" destOrd="0" presId="urn:microsoft.com/office/officeart/2018/2/layout/IconVerticalSolidList"/>
    <dgm:cxn modelId="{3C6E67ED-4673-4018-AE31-4900FE1DEA4F}" type="presParOf" srcId="{A2729849-3958-4031-B648-A0EB397A75FF}" destId="{0D35A253-4004-4726-9174-A247C73EF554}" srcOrd="2" destOrd="0" presId="urn:microsoft.com/office/officeart/2018/2/layout/IconVerticalSolidList"/>
    <dgm:cxn modelId="{1D9D35FD-B765-45C4-BC2F-0A867BF98F6A}" type="presParOf" srcId="{A2729849-3958-4031-B648-A0EB397A75FF}" destId="{875503BA-C1B9-414A-B9D6-2610C4FD7AD3}" srcOrd="3" destOrd="0" presId="urn:microsoft.com/office/officeart/2018/2/layout/IconVerticalSolidList"/>
    <dgm:cxn modelId="{730812AD-6A50-4F6A-A7CF-271148F5BF53}" type="presParOf" srcId="{A2729849-3958-4031-B648-A0EB397A75FF}" destId="{7628A5CB-2F0B-4F97-90E6-4AFAC343A119}" srcOrd="4" destOrd="0" presId="urn:microsoft.com/office/officeart/2018/2/layout/IconVerticalSolidList"/>
    <dgm:cxn modelId="{327CA312-A3BA-454F-8353-0B90BEC8F5B3}" type="presParOf" srcId="{893CC943-A24E-47F7-B396-231B07F80DF1}" destId="{6F97C7A6-DFF9-4311-8994-E63375FAE501}" srcOrd="1" destOrd="0" presId="urn:microsoft.com/office/officeart/2018/2/layout/IconVerticalSolidList"/>
    <dgm:cxn modelId="{622657F9-9C44-41F8-B95A-B65004E4FC94}" type="presParOf" srcId="{893CC943-A24E-47F7-B396-231B07F80DF1}" destId="{C3E377D6-8A6F-412D-89B3-C8BDBAC340F7}" srcOrd="2" destOrd="0" presId="urn:microsoft.com/office/officeart/2018/2/layout/IconVerticalSolidList"/>
    <dgm:cxn modelId="{93024FAE-915F-48F4-AA0C-249873562FFF}" type="presParOf" srcId="{C3E377D6-8A6F-412D-89B3-C8BDBAC340F7}" destId="{947A0939-812C-4C2A-BB2C-075E78221AD6}" srcOrd="0" destOrd="0" presId="urn:microsoft.com/office/officeart/2018/2/layout/IconVerticalSolidList"/>
    <dgm:cxn modelId="{0F83606B-9219-437A-A0C9-09B7E7D47879}" type="presParOf" srcId="{C3E377D6-8A6F-412D-89B3-C8BDBAC340F7}" destId="{6F250BE4-5DC0-4E92-AC46-B77BD942F6B1}" srcOrd="1" destOrd="0" presId="urn:microsoft.com/office/officeart/2018/2/layout/IconVerticalSolidList"/>
    <dgm:cxn modelId="{7C4FB379-9D30-4052-A326-614C0AFE2142}" type="presParOf" srcId="{C3E377D6-8A6F-412D-89B3-C8BDBAC340F7}" destId="{C37EBD99-BE11-4681-8748-551CD7B80EEE}" srcOrd="2" destOrd="0" presId="urn:microsoft.com/office/officeart/2018/2/layout/IconVerticalSolidList"/>
    <dgm:cxn modelId="{5E0EB978-20B2-48C4-A7E3-BD284B36E040}" type="presParOf" srcId="{C3E377D6-8A6F-412D-89B3-C8BDBAC340F7}" destId="{4851E3B5-3607-4EF3-A008-B4E094EC6A0C}" srcOrd="3" destOrd="0" presId="urn:microsoft.com/office/officeart/2018/2/layout/IconVerticalSolidList"/>
    <dgm:cxn modelId="{BB7C86EA-B88F-4D5D-8C15-AF9224F480A6}" type="presParOf" srcId="{C3E377D6-8A6F-412D-89B3-C8BDBAC340F7}" destId="{B1B16B42-0080-4509-B1FC-D6D7A72A4A11}" srcOrd="4" destOrd="0" presId="urn:microsoft.com/office/officeart/2018/2/layout/IconVerticalSolidList"/>
    <dgm:cxn modelId="{39829F6D-9B8E-4462-AA1C-5976AF59C2BD}" type="presParOf" srcId="{893CC943-A24E-47F7-B396-231B07F80DF1}" destId="{DA2EF898-F85E-4B52-B571-8C3C314F686C}" srcOrd="3" destOrd="0" presId="urn:microsoft.com/office/officeart/2018/2/layout/IconVerticalSolidList"/>
    <dgm:cxn modelId="{098B0489-9292-4FB3-946F-1A7CBD449E07}" type="presParOf" srcId="{893CC943-A24E-47F7-B396-231B07F80DF1}" destId="{1E2DBCF9-C412-42D0-A1B4-69E0CC8DE24F}" srcOrd="4" destOrd="0" presId="urn:microsoft.com/office/officeart/2018/2/layout/IconVerticalSolidList"/>
    <dgm:cxn modelId="{FC17B690-09EF-49ED-8676-05455F97C22B}" type="presParOf" srcId="{1E2DBCF9-C412-42D0-A1B4-69E0CC8DE24F}" destId="{42530F59-7D68-4A4A-A676-22D21D7C2F29}" srcOrd="0" destOrd="0" presId="urn:microsoft.com/office/officeart/2018/2/layout/IconVerticalSolidList"/>
    <dgm:cxn modelId="{83C2C523-0025-446E-AC15-F266D7F198A7}" type="presParOf" srcId="{1E2DBCF9-C412-42D0-A1B4-69E0CC8DE24F}" destId="{3A150E03-1659-4C00-90F5-2749A878123A}" srcOrd="1" destOrd="0" presId="urn:microsoft.com/office/officeart/2018/2/layout/IconVerticalSolidList"/>
    <dgm:cxn modelId="{1A321690-C339-4348-81C6-528ECE737245}" type="presParOf" srcId="{1E2DBCF9-C412-42D0-A1B4-69E0CC8DE24F}" destId="{1D5E8DEB-0F4D-4667-B52F-560BE584E997}" srcOrd="2" destOrd="0" presId="urn:microsoft.com/office/officeart/2018/2/layout/IconVerticalSolidList"/>
    <dgm:cxn modelId="{A882695E-F538-4E9B-8EC0-9FEF015A4EC9}" type="presParOf" srcId="{1E2DBCF9-C412-42D0-A1B4-69E0CC8DE24F}" destId="{8220CAF4-F872-4D56-AD8E-BA53D7175632}" srcOrd="3" destOrd="0" presId="urn:microsoft.com/office/officeart/2018/2/layout/IconVerticalSolidList"/>
    <dgm:cxn modelId="{835FEB1B-DF1D-4ED4-B5BA-6225E5F8C9E8}" type="presParOf" srcId="{1E2DBCF9-C412-42D0-A1B4-69E0CC8DE24F}" destId="{1A197680-9C5E-4581-BC33-308FD333B594}" srcOrd="4" destOrd="0" presId="urn:microsoft.com/office/officeart/2018/2/layout/IconVerticalSolidList"/>
    <dgm:cxn modelId="{C53F1EBD-372C-41A7-AF10-B17ECDCA462B}" type="presParOf" srcId="{893CC943-A24E-47F7-B396-231B07F80DF1}" destId="{E79A2A48-3F86-4AB2-86E7-56B3DC656F81}" srcOrd="5" destOrd="0" presId="urn:microsoft.com/office/officeart/2018/2/layout/IconVerticalSolidList"/>
    <dgm:cxn modelId="{6E228879-C650-4A03-B120-AB9F0A15E2A5}" type="presParOf" srcId="{893CC943-A24E-47F7-B396-231B07F80DF1}" destId="{D3AD5B33-0713-4BCB-95F9-B2620D85C75C}" srcOrd="6" destOrd="0" presId="urn:microsoft.com/office/officeart/2018/2/layout/IconVerticalSolidList"/>
    <dgm:cxn modelId="{18938357-669C-42BE-8A7A-0BEE7FDE2D02}" type="presParOf" srcId="{D3AD5B33-0713-4BCB-95F9-B2620D85C75C}" destId="{FF47B22F-1458-4139-9D91-8D35A238AF93}" srcOrd="0" destOrd="0" presId="urn:microsoft.com/office/officeart/2018/2/layout/IconVerticalSolidList"/>
    <dgm:cxn modelId="{0D3771CB-E073-4C30-B4EE-31B4FB62DC75}" type="presParOf" srcId="{D3AD5B33-0713-4BCB-95F9-B2620D85C75C}" destId="{7081395F-6E31-4595-9672-8AA8777EC43A}" srcOrd="1" destOrd="0" presId="urn:microsoft.com/office/officeart/2018/2/layout/IconVerticalSolidList"/>
    <dgm:cxn modelId="{65321921-FC41-4C72-B5DA-4FA263C1EDDC}" type="presParOf" srcId="{D3AD5B33-0713-4BCB-95F9-B2620D85C75C}" destId="{3F253152-0035-4E4E-BF99-F7AC9EB4E660}" srcOrd="2" destOrd="0" presId="urn:microsoft.com/office/officeart/2018/2/layout/IconVerticalSolidList"/>
    <dgm:cxn modelId="{6EAC71E9-D2EF-4E4D-90BF-5AE289018F0B}" type="presParOf" srcId="{D3AD5B33-0713-4BCB-95F9-B2620D85C75C}" destId="{434301C6-B760-4C43-AE5B-06411E51F731}" srcOrd="3" destOrd="0" presId="urn:microsoft.com/office/officeart/2018/2/layout/IconVerticalSolidList"/>
    <dgm:cxn modelId="{1BFD85E0-22CE-4944-BC90-09F615329268}" type="presParOf" srcId="{893CC943-A24E-47F7-B396-231B07F80DF1}" destId="{1346B141-51E4-40ED-A865-12F94A0FEA9F}" srcOrd="7" destOrd="0" presId="urn:microsoft.com/office/officeart/2018/2/layout/IconVerticalSolidList"/>
    <dgm:cxn modelId="{12BEF4E5-6103-4D91-8871-6328196B5E86}" type="presParOf" srcId="{893CC943-A24E-47F7-B396-231B07F80DF1}" destId="{8CEFA482-45EA-4BEF-BE5A-F835B2147EBA}" srcOrd="8" destOrd="0" presId="urn:microsoft.com/office/officeart/2018/2/layout/IconVerticalSolidList"/>
    <dgm:cxn modelId="{1E0366A8-BECE-44F0-8039-7410DDC32799}" type="presParOf" srcId="{8CEFA482-45EA-4BEF-BE5A-F835B2147EBA}" destId="{D9D5EF4B-1BDE-4D41-BFF0-7F415C50A4C3}" srcOrd="0" destOrd="0" presId="urn:microsoft.com/office/officeart/2018/2/layout/IconVerticalSolidList"/>
    <dgm:cxn modelId="{31E9548F-ECA5-4EED-A787-8ACC6FDCE909}" type="presParOf" srcId="{8CEFA482-45EA-4BEF-BE5A-F835B2147EBA}" destId="{2D4A00F7-334C-498B-9B05-FFACDD94A206}" srcOrd="1" destOrd="0" presId="urn:microsoft.com/office/officeart/2018/2/layout/IconVerticalSolidList"/>
    <dgm:cxn modelId="{F5FD2A06-7257-44E6-9C69-01CD4C60434D}" type="presParOf" srcId="{8CEFA482-45EA-4BEF-BE5A-F835B2147EBA}" destId="{793A8429-38BB-4D9B-951F-1624ADA7D12F}" srcOrd="2" destOrd="0" presId="urn:microsoft.com/office/officeart/2018/2/layout/IconVerticalSolidList"/>
    <dgm:cxn modelId="{9888200C-B3F1-4C47-A3FD-C94D2448EB32}" type="presParOf" srcId="{8CEFA482-45EA-4BEF-BE5A-F835B2147EBA}" destId="{41BA0E64-C7CB-4B17-BE4E-ECD4FEDEA4D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735D63F-78D1-4665-AB38-99DC9BC16F9B}"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FD3D848D-603B-42F5-AFB4-783F8E274CD7}">
      <dgm:prSet/>
      <dgm:spPr/>
      <dgm:t>
        <a:bodyPr/>
        <a:lstStyle/>
        <a:p>
          <a:r>
            <a:rPr lang="en-US" b="1" dirty="0"/>
            <a:t>Expand the Dataset With More Demographics &amp; Company Details</a:t>
          </a:r>
          <a:endParaRPr lang="en-US" dirty="0"/>
        </a:p>
      </dgm:t>
    </dgm:pt>
    <dgm:pt modelId="{714B3F2E-3EFB-4268-9EF2-2345835E8790}" type="parTrans" cxnId="{F952E629-E527-49B1-BBD9-44E5193177E0}">
      <dgm:prSet/>
      <dgm:spPr/>
      <dgm:t>
        <a:bodyPr/>
        <a:lstStyle/>
        <a:p>
          <a:endParaRPr lang="en-US"/>
        </a:p>
      </dgm:t>
    </dgm:pt>
    <dgm:pt modelId="{1D0F625C-66E9-434A-9E1C-8234AB87DEDC}" type="sibTrans" cxnId="{F952E629-E527-49B1-BBD9-44E5193177E0}">
      <dgm:prSet/>
      <dgm:spPr/>
      <dgm:t>
        <a:bodyPr/>
        <a:lstStyle/>
        <a:p>
          <a:endParaRPr lang="en-US"/>
        </a:p>
      </dgm:t>
    </dgm:pt>
    <dgm:pt modelId="{1B8777FF-1C94-4380-92FD-133C6A49015C}">
      <dgm:prSet/>
      <dgm:spPr/>
      <dgm:t>
        <a:bodyPr/>
        <a:lstStyle/>
        <a:p>
          <a:r>
            <a:rPr lang="en-US"/>
            <a:t>Collect richer information such as job‑level attributes, education, industry, benefits, and additional compensation factors. More detailed data → stronger, more accurate models.</a:t>
          </a:r>
        </a:p>
      </dgm:t>
    </dgm:pt>
    <dgm:pt modelId="{DB4166F6-F9FB-4350-B776-2CB27D655A67}" type="parTrans" cxnId="{554EB160-DCBE-4B44-AAFC-2F021D2811DF}">
      <dgm:prSet/>
      <dgm:spPr/>
      <dgm:t>
        <a:bodyPr/>
        <a:lstStyle/>
        <a:p>
          <a:endParaRPr lang="en-US"/>
        </a:p>
      </dgm:t>
    </dgm:pt>
    <dgm:pt modelId="{A2037415-5A53-4ACC-8C9A-A0CE40C2B4BC}" type="sibTrans" cxnId="{554EB160-DCBE-4B44-AAFC-2F021D2811DF}">
      <dgm:prSet/>
      <dgm:spPr/>
      <dgm:t>
        <a:bodyPr/>
        <a:lstStyle/>
        <a:p>
          <a:endParaRPr lang="en-US"/>
        </a:p>
      </dgm:t>
    </dgm:pt>
    <dgm:pt modelId="{1593C533-0C0F-4ECF-AFC4-9894A9E99CBF}">
      <dgm:prSet/>
      <dgm:spPr/>
      <dgm:t>
        <a:bodyPr/>
        <a:lstStyle/>
        <a:p>
          <a:r>
            <a:rPr lang="en-US" b="1"/>
            <a:t>Build a Data Pipeline That Automatically Cleans and Prepares New Data</a:t>
          </a:r>
          <a:endParaRPr lang="en-US"/>
        </a:p>
      </dgm:t>
    </dgm:pt>
    <dgm:pt modelId="{E11D3745-4C1B-415C-8436-FFC43A8FA1B3}" type="parTrans" cxnId="{8530F3B9-C1EF-4A5A-84A0-9829AE712DB9}">
      <dgm:prSet/>
      <dgm:spPr/>
      <dgm:t>
        <a:bodyPr/>
        <a:lstStyle/>
        <a:p>
          <a:endParaRPr lang="en-US"/>
        </a:p>
      </dgm:t>
    </dgm:pt>
    <dgm:pt modelId="{29945DAC-E087-4AE6-B6E2-CDD8468EBB7C}" type="sibTrans" cxnId="{8530F3B9-C1EF-4A5A-84A0-9829AE712DB9}">
      <dgm:prSet/>
      <dgm:spPr/>
      <dgm:t>
        <a:bodyPr/>
        <a:lstStyle/>
        <a:p>
          <a:endParaRPr lang="en-US"/>
        </a:p>
      </dgm:t>
    </dgm:pt>
    <dgm:pt modelId="{07BFF8F9-A5BE-4689-9BCC-6CE66AF3F4F2}">
      <dgm:prSet/>
      <dgm:spPr/>
      <dgm:t>
        <a:bodyPr/>
        <a:lstStyle/>
        <a:p>
          <a:r>
            <a:rPr lang="en-US"/>
            <a:t>Create a workflow that: 1. gathers new salary records, 2. cleans and standardizes them, 3. updates encoded features, 4. prepares the dataset for modeling, and 5. This ensures the model always works with fresh, high‑quality data.</a:t>
          </a:r>
        </a:p>
      </dgm:t>
    </dgm:pt>
    <dgm:pt modelId="{4BD20978-1FBB-4817-ABF0-30F2DD58E8A2}" type="parTrans" cxnId="{982696F3-A911-466B-A376-BA5653548AFD}">
      <dgm:prSet/>
      <dgm:spPr/>
      <dgm:t>
        <a:bodyPr/>
        <a:lstStyle/>
        <a:p>
          <a:endParaRPr lang="en-US"/>
        </a:p>
      </dgm:t>
    </dgm:pt>
    <dgm:pt modelId="{CF9E071C-DF10-401B-AFF8-F7B6F794890D}" type="sibTrans" cxnId="{982696F3-A911-466B-A376-BA5653548AFD}">
      <dgm:prSet/>
      <dgm:spPr/>
      <dgm:t>
        <a:bodyPr/>
        <a:lstStyle/>
        <a:p>
          <a:endParaRPr lang="en-US"/>
        </a:p>
      </dgm:t>
    </dgm:pt>
    <dgm:pt modelId="{18549911-7BCE-4477-8107-C16F0BE34D62}">
      <dgm:prSet/>
      <dgm:spPr/>
      <dgm:t>
        <a:bodyPr/>
        <a:lstStyle/>
        <a:p>
          <a:r>
            <a:rPr lang="en-US" b="1"/>
            <a:t>Automate Model Training When New Rows Arrive</a:t>
          </a:r>
          <a:endParaRPr lang="en-US"/>
        </a:p>
      </dgm:t>
    </dgm:pt>
    <dgm:pt modelId="{35324E4E-DA1F-4A1D-996A-2CDEB2C64D4F}" type="parTrans" cxnId="{102333A8-CF24-429C-AC44-0502C09ACAEC}">
      <dgm:prSet/>
      <dgm:spPr/>
      <dgm:t>
        <a:bodyPr/>
        <a:lstStyle/>
        <a:p>
          <a:endParaRPr lang="en-US"/>
        </a:p>
      </dgm:t>
    </dgm:pt>
    <dgm:pt modelId="{36A749A9-EEA4-41A5-9889-29105CEF566D}" type="sibTrans" cxnId="{102333A8-CF24-429C-AC44-0502C09ACAEC}">
      <dgm:prSet/>
      <dgm:spPr/>
      <dgm:t>
        <a:bodyPr/>
        <a:lstStyle/>
        <a:p>
          <a:endParaRPr lang="en-US"/>
        </a:p>
      </dgm:t>
    </dgm:pt>
    <dgm:pt modelId="{55F1278D-0FE9-4A40-BAA2-720A305DAC1C}">
      <dgm:prSet/>
      <dgm:spPr/>
      <dgm:t>
        <a:bodyPr/>
        <a:lstStyle/>
        <a:p>
          <a:r>
            <a:rPr lang="en-US"/>
            <a:t>Set up the pipeline so the model </a:t>
          </a:r>
          <a:r>
            <a:rPr lang="en-US" b="1"/>
            <a:t>re‑trains itself</a:t>
          </a:r>
          <a:r>
            <a:rPr lang="en-US"/>
            <a:t> whenever new data is added. This keeps predictions aligned with current market trends.</a:t>
          </a:r>
        </a:p>
      </dgm:t>
    </dgm:pt>
    <dgm:pt modelId="{090B2244-1C50-4EDC-BA4A-110A2D4ECDA0}" type="parTrans" cxnId="{370BDD27-C702-4F46-9970-741D474FBCF1}">
      <dgm:prSet/>
      <dgm:spPr/>
      <dgm:t>
        <a:bodyPr/>
        <a:lstStyle/>
        <a:p>
          <a:endParaRPr lang="en-US"/>
        </a:p>
      </dgm:t>
    </dgm:pt>
    <dgm:pt modelId="{C806F5F5-70D1-46FA-A90F-279089D3AA5E}" type="sibTrans" cxnId="{370BDD27-C702-4F46-9970-741D474FBCF1}">
      <dgm:prSet/>
      <dgm:spPr/>
      <dgm:t>
        <a:bodyPr/>
        <a:lstStyle/>
        <a:p>
          <a:endParaRPr lang="en-US"/>
        </a:p>
      </dgm:t>
    </dgm:pt>
    <dgm:pt modelId="{BF149931-5033-4FAD-8BCE-FD7E20927044}">
      <dgm:prSet/>
      <dgm:spPr/>
      <dgm:t>
        <a:bodyPr/>
        <a:lstStyle/>
        <a:p>
          <a:r>
            <a:rPr lang="en-US" b="1"/>
            <a:t>Use the Provided Models as the Starting Point</a:t>
          </a:r>
          <a:endParaRPr lang="en-US"/>
        </a:p>
      </dgm:t>
    </dgm:pt>
    <dgm:pt modelId="{FB201553-C678-4477-A0DE-BE99DF75EF90}" type="parTrans" cxnId="{7F3DD051-0F09-48B5-B15E-F99ABF6F811C}">
      <dgm:prSet/>
      <dgm:spPr/>
      <dgm:t>
        <a:bodyPr/>
        <a:lstStyle/>
        <a:p>
          <a:endParaRPr lang="en-US"/>
        </a:p>
      </dgm:t>
    </dgm:pt>
    <dgm:pt modelId="{EBD217D0-94D7-4925-B61E-02C4D79A539C}" type="sibTrans" cxnId="{7F3DD051-0F09-48B5-B15E-F99ABF6F811C}">
      <dgm:prSet/>
      <dgm:spPr/>
      <dgm:t>
        <a:bodyPr/>
        <a:lstStyle/>
        <a:p>
          <a:endParaRPr lang="en-US"/>
        </a:p>
      </dgm:t>
    </dgm:pt>
    <dgm:pt modelId="{84BCFFD1-D64B-4AC2-B21D-98DD45DE5994}">
      <dgm:prSet/>
      <dgm:spPr/>
      <dgm:t>
        <a:bodyPr/>
        <a:lstStyle/>
        <a:p>
          <a:r>
            <a:rPr lang="en-US"/>
            <a:t>Begin with the models tested in this project. Start with </a:t>
          </a:r>
          <a:r>
            <a:rPr lang="en-US" b="1"/>
            <a:t>Gradient Boosting</a:t>
          </a:r>
          <a:r>
            <a:rPr lang="en-US"/>
            <a:t>, since it performed best in the reduced set.</a:t>
          </a:r>
        </a:p>
      </dgm:t>
    </dgm:pt>
    <dgm:pt modelId="{6292C58B-9A02-4C07-9ACB-D8738BF98D13}" type="parTrans" cxnId="{3A8A9D9D-78EE-4594-9DED-B0448FBCE802}">
      <dgm:prSet/>
      <dgm:spPr/>
      <dgm:t>
        <a:bodyPr/>
        <a:lstStyle/>
        <a:p>
          <a:endParaRPr lang="en-US"/>
        </a:p>
      </dgm:t>
    </dgm:pt>
    <dgm:pt modelId="{121D28DB-4C44-4772-AFEB-1C507B7E486E}" type="sibTrans" cxnId="{3A8A9D9D-78EE-4594-9DED-B0448FBCE802}">
      <dgm:prSet/>
      <dgm:spPr/>
      <dgm:t>
        <a:bodyPr/>
        <a:lstStyle/>
        <a:p>
          <a:endParaRPr lang="en-US"/>
        </a:p>
      </dgm:t>
    </dgm:pt>
    <dgm:pt modelId="{A02CF1E9-1514-4D20-AEA1-3095166044C0}">
      <dgm:prSet/>
      <dgm:spPr/>
      <dgm:t>
        <a:bodyPr/>
        <a:lstStyle/>
        <a:p>
          <a:r>
            <a:rPr lang="en-US" b="1"/>
            <a:t>Select the Best Model Using Clear Criteria </a:t>
          </a:r>
          <a:endParaRPr lang="en-US"/>
        </a:p>
      </dgm:t>
    </dgm:pt>
    <dgm:pt modelId="{85B2F58F-A041-4041-8381-14988E8B72C9}" type="parTrans" cxnId="{9B924271-C811-4881-8616-D0C916D25DAC}">
      <dgm:prSet/>
      <dgm:spPr/>
      <dgm:t>
        <a:bodyPr/>
        <a:lstStyle/>
        <a:p>
          <a:endParaRPr lang="en-US"/>
        </a:p>
      </dgm:t>
    </dgm:pt>
    <dgm:pt modelId="{0DAC0DC0-FB02-43D9-BC6E-523E2B43052A}" type="sibTrans" cxnId="{9B924271-C811-4881-8616-D0C916D25DAC}">
      <dgm:prSet/>
      <dgm:spPr/>
      <dgm:t>
        <a:bodyPr/>
        <a:lstStyle/>
        <a:p>
          <a:endParaRPr lang="en-US"/>
        </a:p>
      </dgm:t>
    </dgm:pt>
    <dgm:pt modelId="{5925B04D-4C96-4331-A2E1-E1A8935DAFBB}">
      <dgm:prSet/>
      <dgm:spPr/>
      <dgm:t>
        <a:bodyPr/>
        <a:lstStyle/>
        <a:p>
          <a:r>
            <a:rPr lang="en-US" b="1"/>
            <a:t>F1 Score</a:t>
          </a:r>
          <a:r>
            <a:rPr lang="en-US"/>
            <a:t> (balanced performance)</a:t>
          </a:r>
        </a:p>
      </dgm:t>
    </dgm:pt>
    <dgm:pt modelId="{4B9A7C67-FD20-4552-93EA-F0BC5B567545}" type="parTrans" cxnId="{73C4425C-2DD4-4252-9C34-A5DDBC2B6120}">
      <dgm:prSet/>
      <dgm:spPr/>
      <dgm:t>
        <a:bodyPr/>
        <a:lstStyle/>
        <a:p>
          <a:endParaRPr lang="en-US"/>
        </a:p>
      </dgm:t>
    </dgm:pt>
    <dgm:pt modelId="{D370425C-06AE-42EA-98F6-035A469FE3C7}" type="sibTrans" cxnId="{73C4425C-2DD4-4252-9C34-A5DDBC2B6120}">
      <dgm:prSet/>
      <dgm:spPr/>
      <dgm:t>
        <a:bodyPr/>
        <a:lstStyle/>
        <a:p>
          <a:endParaRPr lang="en-US"/>
        </a:p>
      </dgm:t>
    </dgm:pt>
    <dgm:pt modelId="{BE52088E-E0EC-41AE-B2E2-62D74A8C4277}">
      <dgm:prSet/>
      <dgm:spPr/>
      <dgm:t>
        <a:bodyPr/>
        <a:lstStyle/>
        <a:p>
          <a:r>
            <a:rPr lang="en-US" b="1" dirty="0"/>
            <a:t>ROC‑AUC</a:t>
          </a:r>
          <a:r>
            <a:rPr lang="en-US" dirty="0"/>
            <a:t> (ability to separate salary groups) </a:t>
          </a:r>
        </a:p>
      </dgm:t>
    </dgm:pt>
    <dgm:pt modelId="{E5499C38-59CB-43BC-A74C-4C16FA77FD89}" type="parTrans" cxnId="{B5C47511-8D6E-446F-B697-3F72F33554A0}">
      <dgm:prSet/>
      <dgm:spPr/>
      <dgm:t>
        <a:bodyPr/>
        <a:lstStyle/>
        <a:p>
          <a:endParaRPr lang="en-US"/>
        </a:p>
      </dgm:t>
    </dgm:pt>
    <dgm:pt modelId="{A92CD80F-6B50-4E5B-9B36-F76985C247D2}" type="sibTrans" cxnId="{B5C47511-8D6E-446F-B697-3F72F33554A0}">
      <dgm:prSet/>
      <dgm:spPr/>
      <dgm:t>
        <a:bodyPr/>
        <a:lstStyle/>
        <a:p>
          <a:endParaRPr lang="en-US"/>
        </a:p>
      </dgm:t>
    </dgm:pt>
    <dgm:pt modelId="{3C93D10F-7B65-41B4-B1A7-2CEBC8A88831}">
      <dgm:prSet/>
      <dgm:spPr/>
      <dgm:t>
        <a:bodyPr/>
        <a:lstStyle/>
        <a:p>
          <a:r>
            <a:rPr lang="en-US" b="1" dirty="0"/>
            <a:t>Key Takeaway</a:t>
          </a:r>
        </a:p>
      </dgm:t>
    </dgm:pt>
    <dgm:pt modelId="{CA7D1589-44F2-4AE5-9F83-5F9907FEDF4C}" type="parTrans" cxnId="{BF94923C-2C1B-48A6-BE8F-C3058D95BF5B}">
      <dgm:prSet/>
      <dgm:spPr/>
      <dgm:t>
        <a:bodyPr/>
        <a:lstStyle/>
        <a:p>
          <a:endParaRPr lang="en-US"/>
        </a:p>
      </dgm:t>
    </dgm:pt>
    <dgm:pt modelId="{5538B045-25A3-4C7A-A2B6-E6AA634033AA}" type="sibTrans" cxnId="{BF94923C-2C1B-48A6-BE8F-C3058D95BF5B}">
      <dgm:prSet/>
      <dgm:spPr/>
      <dgm:t>
        <a:bodyPr/>
        <a:lstStyle/>
        <a:p>
          <a:endParaRPr lang="en-US"/>
        </a:p>
      </dgm:t>
    </dgm:pt>
    <dgm:pt modelId="{A5E64590-595E-4F69-8A2D-72A9F267E97A}">
      <dgm:prSet phldrT="[Text]"/>
      <dgm:spPr/>
      <dgm:t>
        <a:bodyPr/>
        <a:lstStyle/>
        <a:p>
          <a:r>
            <a:rPr lang="en-US" b="1" dirty="0"/>
            <a:t>The next step is building a full, automated pipeline that continuously collects data, cleans it, retrains models, and selects the best performer using F1 and ROC‑AUC</a:t>
          </a:r>
          <a:endParaRPr lang="en-US" dirty="0"/>
        </a:p>
      </dgm:t>
    </dgm:pt>
    <dgm:pt modelId="{F726AC4C-9D9F-4C47-AC6B-4379095F5C44}" type="parTrans" cxnId="{BCBA415C-10C2-40E3-A170-2389543A7C3E}">
      <dgm:prSet/>
      <dgm:spPr/>
      <dgm:t>
        <a:bodyPr/>
        <a:lstStyle/>
        <a:p>
          <a:endParaRPr lang="en-US"/>
        </a:p>
      </dgm:t>
    </dgm:pt>
    <dgm:pt modelId="{31203B12-0F30-4F9C-889C-BC2278FEBD97}" type="sibTrans" cxnId="{BCBA415C-10C2-40E3-A170-2389543A7C3E}">
      <dgm:prSet/>
      <dgm:spPr/>
      <dgm:t>
        <a:bodyPr/>
        <a:lstStyle/>
        <a:p>
          <a:endParaRPr lang="en-US"/>
        </a:p>
      </dgm:t>
    </dgm:pt>
    <dgm:pt modelId="{3FEA2E6E-FAA6-407E-82E2-B906286E6A3A}" type="pres">
      <dgm:prSet presAssocID="{1735D63F-78D1-4665-AB38-99DC9BC16F9B}" presName="linear" presStyleCnt="0">
        <dgm:presLayoutVars>
          <dgm:animLvl val="lvl"/>
          <dgm:resizeHandles val="exact"/>
        </dgm:presLayoutVars>
      </dgm:prSet>
      <dgm:spPr/>
    </dgm:pt>
    <dgm:pt modelId="{86527DC4-3FE3-4CC7-9892-9BD15125DFD7}" type="pres">
      <dgm:prSet presAssocID="{FD3D848D-603B-42F5-AFB4-783F8E274CD7}" presName="parentText" presStyleLbl="node1" presStyleIdx="0" presStyleCnt="6">
        <dgm:presLayoutVars>
          <dgm:chMax val="0"/>
          <dgm:bulletEnabled val="1"/>
        </dgm:presLayoutVars>
      </dgm:prSet>
      <dgm:spPr/>
    </dgm:pt>
    <dgm:pt modelId="{E98F6332-078D-4865-8028-D869952DA1CE}" type="pres">
      <dgm:prSet presAssocID="{FD3D848D-603B-42F5-AFB4-783F8E274CD7}" presName="childText" presStyleLbl="revTx" presStyleIdx="0" presStyleCnt="6">
        <dgm:presLayoutVars>
          <dgm:bulletEnabled val="1"/>
        </dgm:presLayoutVars>
      </dgm:prSet>
      <dgm:spPr/>
    </dgm:pt>
    <dgm:pt modelId="{7CE1C9AF-BF9C-4148-BD5C-96792D551235}" type="pres">
      <dgm:prSet presAssocID="{1593C533-0C0F-4ECF-AFC4-9894A9E99CBF}" presName="parentText" presStyleLbl="node1" presStyleIdx="1" presStyleCnt="6">
        <dgm:presLayoutVars>
          <dgm:chMax val="0"/>
          <dgm:bulletEnabled val="1"/>
        </dgm:presLayoutVars>
      </dgm:prSet>
      <dgm:spPr/>
    </dgm:pt>
    <dgm:pt modelId="{F202D617-DC52-494A-AAE4-40B67E02603C}" type="pres">
      <dgm:prSet presAssocID="{1593C533-0C0F-4ECF-AFC4-9894A9E99CBF}" presName="childText" presStyleLbl="revTx" presStyleIdx="1" presStyleCnt="6">
        <dgm:presLayoutVars>
          <dgm:bulletEnabled val="1"/>
        </dgm:presLayoutVars>
      </dgm:prSet>
      <dgm:spPr/>
    </dgm:pt>
    <dgm:pt modelId="{40C4D1DD-3E50-4ED0-A8A3-49BD2F47A766}" type="pres">
      <dgm:prSet presAssocID="{18549911-7BCE-4477-8107-C16F0BE34D62}" presName="parentText" presStyleLbl="node1" presStyleIdx="2" presStyleCnt="6">
        <dgm:presLayoutVars>
          <dgm:chMax val="0"/>
          <dgm:bulletEnabled val="1"/>
        </dgm:presLayoutVars>
      </dgm:prSet>
      <dgm:spPr/>
    </dgm:pt>
    <dgm:pt modelId="{9AAF7CAE-63D8-4233-880C-7BFF335435B9}" type="pres">
      <dgm:prSet presAssocID="{18549911-7BCE-4477-8107-C16F0BE34D62}" presName="childText" presStyleLbl="revTx" presStyleIdx="2" presStyleCnt="6">
        <dgm:presLayoutVars>
          <dgm:bulletEnabled val="1"/>
        </dgm:presLayoutVars>
      </dgm:prSet>
      <dgm:spPr/>
    </dgm:pt>
    <dgm:pt modelId="{AB9B5A7B-BFF0-4902-9525-83B7D01C774E}" type="pres">
      <dgm:prSet presAssocID="{BF149931-5033-4FAD-8BCE-FD7E20927044}" presName="parentText" presStyleLbl="node1" presStyleIdx="3" presStyleCnt="6">
        <dgm:presLayoutVars>
          <dgm:chMax val="0"/>
          <dgm:bulletEnabled val="1"/>
        </dgm:presLayoutVars>
      </dgm:prSet>
      <dgm:spPr/>
    </dgm:pt>
    <dgm:pt modelId="{B9684FEE-F073-49DB-B6EF-C54DE43370A2}" type="pres">
      <dgm:prSet presAssocID="{BF149931-5033-4FAD-8BCE-FD7E20927044}" presName="childText" presStyleLbl="revTx" presStyleIdx="3" presStyleCnt="6">
        <dgm:presLayoutVars>
          <dgm:bulletEnabled val="1"/>
        </dgm:presLayoutVars>
      </dgm:prSet>
      <dgm:spPr/>
    </dgm:pt>
    <dgm:pt modelId="{0B4EED25-D752-4302-9038-DBBF8F9D3B38}" type="pres">
      <dgm:prSet presAssocID="{A02CF1E9-1514-4D20-AEA1-3095166044C0}" presName="parentText" presStyleLbl="node1" presStyleIdx="4" presStyleCnt="6">
        <dgm:presLayoutVars>
          <dgm:chMax val="0"/>
          <dgm:bulletEnabled val="1"/>
        </dgm:presLayoutVars>
      </dgm:prSet>
      <dgm:spPr/>
    </dgm:pt>
    <dgm:pt modelId="{3A88F10C-F614-4934-8769-41069C2BD0E7}" type="pres">
      <dgm:prSet presAssocID="{A02CF1E9-1514-4D20-AEA1-3095166044C0}" presName="childText" presStyleLbl="revTx" presStyleIdx="4" presStyleCnt="6">
        <dgm:presLayoutVars>
          <dgm:bulletEnabled val="1"/>
        </dgm:presLayoutVars>
      </dgm:prSet>
      <dgm:spPr/>
    </dgm:pt>
    <dgm:pt modelId="{B3DE68D6-AA3C-4DBC-99AD-32DC2FA771A1}" type="pres">
      <dgm:prSet presAssocID="{3C93D10F-7B65-41B4-B1A7-2CEBC8A88831}" presName="parentText" presStyleLbl="node1" presStyleIdx="5" presStyleCnt="6">
        <dgm:presLayoutVars>
          <dgm:chMax val="0"/>
          <dgm:bulletEnabled val="1"/>
        </dgm:presLayoutVars>
      </dgm:prSet>
      <dgm:spPr/>
    </dgm:pt>
    <dgm:pt modelId="{DC51A7FA-8486-4AC0-8CAC-DD6430FC5F37}" type="pres">
      <dgm:prSet presAssocID="{3C93D10F-7B65-41B4-B1A7-2CEBC8A88831}" presName="childText" presStyleLbl="revTx" presStyleIdx="5" presStyleCnt="6">
        <dgm:presLayoutVars>
          <dgm:bulletEnabled val="1"/>
        </dgm:presLayoutVars>
      </dgm:prSet>
      <dgm:spPr/>
    </dgm:pt>
  </dgm:ptLst>
  <dgm:cxnLst>
    <dgm:cxn modelId="{0406BF03-3B1F-4CE4-91B2-DAB0D4BA96ED}" type="presOf" srcId="{84BCFFD1-D64B-4AC2-B21D-98DD45DE5994}" destId="{B9684FEE-F073-49DB-B6EF-C54DE43370A2}" srcOrd="0" destOrd="0" presId="urn:microsoft.com/office/officeart/2005/8/layout/vList2"/>
    <dgm:cxn modelId="{D21AC70B-622F-4AC3-8F80-D7D69BF9EEF8}" type="presOf" srcId="{FD3D848D-603B-42F5-AFB4-783F8E274CD7}" destId="{86527DC4-3FE3-4CC7-9892-9BD15125DFD7}" srcOrd="0" destOrd="0" presId="urn:microsoft.com/office/officeart/2005/8/layout/vList2"/>
    <dgm:cxn modelId="{B5C47511-8D6E-446F-B697-3F72F33554A0}" srcId="{A02CF1E9-1514-4D20-AEA1-3095166044C0}" destId="{BE52088E-E0EC-41AE-B2E2-62D74A8C4277}" srcOrd="1" destOrd="0" parTransId="{E5499C38-59CB-43BC-A74C-4C16FA77FD89}" sibTransId="{A92CD80F-6B50-4E5B-9B36-F76985C247D2}"/>
    <dgm:cxn modelId="{28F4F316-4114-4576-9A4D-6483A0F5F13E}" type="presOf" srcId="{1B8777FF-1C94-4380-92FD-133C6A49015C}" destId="{E98F6332-078D-4865-8028-D869952DA1CE}" srcOrd="0" destOrd="0" presId="urn:microsoft.com/office/officeart/2005/8/layout/vList2"/>
    <dgm:cxn modelId="{370BDD27-C702-4F46-9970-741D474FBCF1}" srcId="{18549911-7BCE-4477-8107-C16F0BE34D62}" destId="{55F1278D-0FE9-4A40-BAA2-720A305DAC1C}" srcOrd="0" destOrd="0" parTransId="{090B2244-1C50-4EDC-BA4A-110A2D4ECDA0}" sibTransId="{C806F5F5-70D1-46FA-A90F-279089D3AA5E}"/>
    <dgm:cxn modelId="{F952E629-E527-49B1-BBD9-44E5193177E0}" srcId="{1735D63F-78D1-4665-AB38-99DC9BC16F9B}" destId="{FD3D848D-603B-42F5-AFB4-783F8E274CD7}" srcOrd="0" destOrd="0" parTransId="{714B3F2E-3EFB-4268-9EF2-2345835E8790}" sibTransId="{1D0F625C-66E9-434A-9E1C-8234AB87DEDC}"/>
    <dgm:cxn modelId="{BF94923C-2C1B-48A6-BE8F-C3058D95BF5B}" srcId="{1735D63F-78D1-4665-AB38-99DC9BC16F9B}" destId="{3C93D10F-7B65-41B4-B1A7-2CEBC8A88831}" srcOrd="5" destOrd="0" parTransId="{CA7D1589-44F2-4AE5-9F83-5F9907FEDF4C}" sibTransId="{5538B045-25A3-4C7A-A2B6-E6AA634033AA}"/>
    <dgm:cxn modelId="{BCBA415C-10C2-40E3-A170-2389543A7C3E}" srcId="{3C93D10F-7B65-41B4-B1A7-2CEBC8A88831}" destId="{A5E64590-595E-4F69-8A2D-72A9F267E97A}" srcOrd="0" destOrd="0" parTransId="{F726AC4C-9D9F-4C47-AC6B-4379095F5C44}" sibTransId="{31203B12-0F30-4F9C-889C-BC2278FEBD97}"/>
    <dgm:cxn modelId="{73C4425C-2DD4-4252-9C34-A5DDBC2B6120}" srcId="{A02CF1E9-1514-4D20-AEA1-3095166044C0}" destId="{5925B04D-4C96-4331-A2E1-E1A8935DAFBB}" srcOrd="0" destOrd="0" parTransId="{4B9A7C67-FD20-4552-93EA-F0BC5B567545}" sibTransId="{D370425C-06AE-42EA-98F6-035A469FE3C7}"/>
    <dgm:cxn modelId="{554EB160-DCBE-4B44-AAFC-2F021D2811DF}" srcId="{FD3D848D-603B-42F5-AFB4-783F8E274CD7}" destId="{1B8777FF-1C94-4380-92FD-133C6A49015C}" srcOrd="0" destOrd="0" parTransId="{DB4166F6-F9FB-4350-B776-2CB27D655A67}" sibTransId="{A2037415-5A53-4ACC-8C9A-A0CE40C2B4BC}"/>
    <dgm:cxn modelId="{BEE22F69-914A-4A07-AB4D-2579DBFAF85C}" type="presOf" srcId="{BF149931-5033-4FAD-8BCE-FD7E20927044}" destId="{AB9B5A7B-BFF0-4902-9525-83B7D01C774E}" srcOrd="0" destOrd="0" presId="urn:microsoft.com/office/officeart/2005/8/layout/vList2"/>
    <dgm:cxn modelId="{47889970-D41B-4132-A017-849BA012C357}" type="presOf" srcId="{07BFF8F9-A5BE-4689-9BCC-6CE66AF3F4F2}" destId="{F202D617-DC52-494A-AAE4-40B67E02603C}" srcOrd="0" destOrd="0" presId="urn:microsoft.com/office/officeart/2005/8/layout/vList2"/>
    <dgm:cxn modelId="{9B924271-C811-4881-8616-D0C916D25DAC}" srcId="{1735D63F-78D1-4665-AB38-99DC9BC16F9B}" destId="{A02CF1E9-1514-4D20-AEA1-3095166044C0}" srcOrd="4" destOrd="0" parTransId="{85B2F58F-A041-4041-8381-14988E8B72C9}" sibTransId="{0DAC0DC0-FB02-43D9-BC6E-523E2B43052A}"/>
    <dgm:cxn modelId="{7F3DD051-0F09-48B5-B15E-F99ABF6F811C}" srcId="{1735D63F-78D1-4665-AB38-99DC9BC16F9B}" destId="{BF149931-5033-4FAD-8BCE-FD7E20927044}" srcOrd="3" destOrd="0" parTransId="{FB201553-C678-4477-A0DE-BE99DF75EF90}" sibTransId="{EBD217D0-94D7-4925-B61E-02C4D79A539C}"/>
    <dgm:cxn modelId="{DF6D3954-E255-4FBE-96C8-1E4BECEABF0B}" type="presOf" srcId="{3C93D10F-7B65-41B4-B1A7-2CEBC8A88831}" destId="{B3DE68D6-AA3C-4DBC-99AD-32DC2FA771A1}" srcOrd="0" destOrd="0" presId="urn:microsoft.com/office/officeart/2005/8/layout/vList2"/>
    <dgm:cxn modelId="{B954448E-E4E7-4256-B779-6A13FF325C1E}" type="presOf" srcId="{A5E64590-595E-4F69-8A2D-72A9F267E97A}" destId="{DC51A7FA-8486-4AC0-8CAC-DD6430FC5F37}" srcOrd="0" destOrd="0" presId="urn:microsoft.com/office/officeart/2005/8/layout/vList2"/>
    <dgm:cxn modelId="{3B9EFE90-0F5B-42D8-B90E-8CB5B2281A6F}" type="presOf" srcId="{BE52088E-E0EC-41AE-B2E2-62D74A8C4277}" destId="{3A88F10C-F614-4934-8769-41069C2BD0E7}" srcOrd="0" destOrd="1" presId="urn:microsoft.com/office/officeart/2005/8/layout/vList2"/>
    <dgm:cxn modelId="{2502E397-6E01-4016-BA0C-4E14E3CEBDD0}" type="presOf" srcId="{1735D63F-78D1-4665-AB38-99DC9BC16F9B}" destId="{3FEA2E6E-FAA6-407E-82E2-B906286E6A3A}" srcOrd="0" destOrd="0" presId="urn:microsoft.com/office/officeart/2005/8/layout/vList2"/>
    <dgm:cxn modelId="{6420D699-CB06-4505-BDD0-FA33785ACFD1}" type="presOf" srcId="{5925B04D-4C96-4331-A2E1-E1A8935DAFBB}" destId="{3A88F10C-F614-4934-8769-41069C2BD0E7}" srcOrd="0" destOrd="0" presId="urn:microsoft.com/office/officeart/2005/8/layout/vList2"/>
    <dgm:cxn modelId="{3A8A9D9D-78EE-4594-9DED-B0448FBCE802}" srcId="{BF149931-5033-4FAD-8BCE-FD7E20927044}" destId="{84BCFFD1-D64B-4AC2-B21D-98DD45DE5994}" srcOrd="0" destOrd="0" parTransId="{6292C58B-9A02-4C07-9ACB-D8738BF98D13}" sibTransId="{121D28DB-4C44-4772-AFEB-1C507B7E486E}"/>
    <dgm:cxn modelId="{BD2C8BA3-DE25-4180-B210-FF6FDE224F5D}" type="presOf" srcId="{18549911-7BCE-4477-8107-C16F0BE34D62}" destId="{40C4D1DD-3E50-4ED0-A8A3-49BD2F47A766}" srcOrd="0" destOrd="0" presId="urn:microsoft.com/office/officeart/2005/8/layout/vList2"/>
    <dgm:cxn modelId="{102333A8-CF24-429C-AC44-0502C09ACAEC}" srcId="{1735D63F-78D1-4665-AB38-99DC9BC16F9B}" destId="{18549911-7BCE-4477-8107-C16F0BE34D62}" srcOrd="2" destOrd="0" parTransId="{35324E4E-DA1F-4A1D-996A-2CDEB2C64D4F}" sibTransId="{36A749A9-EEA4-41A5-9889-29105CEF566D}"/>
    <dgm:cxn modelId="{12A5A6AC-A33B-4563-8652-B9407D6E24F6}" type="presOf" srcId="{A02CF1E9-1514-4D20-AEA1-3095166044C0}" destId="{0B4EED25-D752-4302-9038-DBBF8F9D3B38}" srcOrd="0" destOrd="0" presId="urn:microsoft.com/office/officeart/2005/8/layout/vList2"/>
    <dgm:cxn modelId="{2408A6AD-E093-4EA5-B68C-DCAC3B406AA8}" type="presOf" srcId="{1593C533-0C0F-4ECF-AFC4-9894A9E99CBF}" destId="{7CE1C9AF-BF9C-4148-BD5C-96792D551235}" srcOrd="0" destOrd="0" presId="urn:microsoft.com/office/officeart/2005/8/layout/vList2"/>
    <dgm:cxn modelId="{8530F3B9-C1EF-4A5A-84A0-9829AE712DB9}" srcId="{1735D63F-78D1-4665-AB38-99DC9BC16F9B}" destId="{1593C533-0C0F-4ECF-AFC4-9894A9E99CBF}" srcOrd="1" destOrd="0" parTransId="{E11D3745-4C1B-415C-8436-FFC43A8FA1B3}" sibTransId="{29945DAC-E087-4AE6-B6E2-CDD8468EBB7C}"/>
    <dgm:cxn modelId="{F28A50BD-4322-4641-92B4-60A4D5156D78}" type="presOf" srcId="{55F1278D-0FE9-4A40-BAA2-720A305DAC1C}" destId="{9AAF7CAE-63D8-4233-880C-7BFF335435B9}" srcOrd="0" destOrd="0" presId="urn:microsoft.com/office/officeart/2005/8/layout/vList2"/>
    <dgm:cxn modelId="{982696F3-A911-466B-A376-BA5653548AFD}" srcId="{1593C533-0C0F-4ECF-AFC4-9894A9E99CBF}" destId="{07BFF8F9-A5BE-4689-9BCC-6CE66AF3F4F2}" srcOrd="0" destOrd="0" parTransId="{4BD20978-1FBB-4817-ABF0-30F2DD58E8A2}" sibTransId="{CF9E071C-DF10-401B-AFF8-F7B6F794890D}"/>
    <dgm:cxn modelId="{DAAD9908-312C-4A75-954F-85CDA2AB65E5}" type="presParOf" srcId="{3FEA2E6E-FAA6-407E-82E2-B906286E6A3A}" destId="{86527DC4-3FE3-4CC7-9892-9BD15125DFD7}" srcOrd="0" destOrd="0" presId="urn:microsoft.com/office/officeart/2005/8/layout/vList2"/>
    <dgm:cxn modelId="{14BF12AF-CC12-41FC-B164-90549ED4FA68}" type="presParOf" srcId="{3FEA2E6E-FAA6-407E-82E2-B906286E6A3A}" destId="{E98F6332-078D-4865-8028-D869952DA1CE}" srcOrd="1" destOrd="0" presId="urn:microsoft.com/office/officeart/2005/8/layout/vList2"/>
    <dgm:cxn modelId="{83CBCD43-CE3F-493F-8C29-BA016581D470}" type="presParOf" srcId="{3FEA2E6E-FAA6-407E-82E2-B906286E6A3A}" destId="{7CE1C9AF-BF9C-4148-BD5C-96792D551235}" srcOrd="2" destOrd="0" presId="urn:microsoft.com/office/officeart/2005/8/layout/vList2"/>
    <dgm:cxn modelId="{02C5A2A3-AF4E-4A52-829D-619C8243C3FA}" type="presParOf" srcId="{3FEA2E6E-FAA6-407E-82E2-B906286E6A3A}" destId="{F202D617-DC52-494A-AAE4-40B67E02603C}" srcOrd="3" destOrd="0" presId="urn:microsoft.com/office/officeart/2005/8/layout/vList2"/>
    <dgm:cxn modelId="{B8E3B560-BBCC-46D6-A5C3-90287B74F80D}" type="presParOf" srcId="{3FEA2E6E-FAA6-407E-82E2-B906286E6A3A}" destId="{40C4D1DD-3E50-4ED0-A8A3-49BD2F47A766}" srcOrd="4" destOrd="0" presId="urn:microsoft.com/office/officeart/2005/8/layout/vList2"/>
    <dgm:cxn modelId="{445B1A6C-FE07-4902-BE57-CB595C107C4C}" type="presParOf" srcId="{3FEA2E6E-FAA6-407E-82E2-B906286E6A3A}" destId="{9AAF7CAE-63D8-4233-880C-7BFF335435B9}" srcOrd="5" destOrd="0" presId="urn:microsoft.com/office/officeart/2005/8/layout/vList2"/>
    <dgm:cxn modelId="{23B7D6A2-C30C-45E3-81A6-6ABCD654BE96}" type="presParOf" srcId="{3FEA2E6E-FAA6-407E-82E2-B906286E6A3A}" destId="{AB9B5A7B-BFF0-4902-9525-83B7D01C774E}" srcOrd="6" destOrd="0" presId="urn:microsoft.com/office/officeart/2005/8/layout/vList2"/>
    <dgm:cxn modelId="{630E376B-8EB4-478A-A67D-D223DCFB5DB5}" type="presParOf" srcId="{3FEA2E6E-FAA6-407E-82E2-B906286E6A3A}" destId="{B9684FEE-F073-49DB-B6EF-C54DE43370A2}" srcOrd="7" destOrd="0" presId="urn:microsoft.com/office/officeart/2005/8/layout/vList2"/>
    <dgm:cxn modelId="{C834CB23-B9F0-40F6-8A56-ECC95F28CA17}" type="presParOf" srcId="{3FEA2E6E-FAA6-407E-82E2-B906286E6A3A}" destId="{0B4EED25-D752-4302-9038-DBBF8F9D3B38}" srcOrd="8" destOrd="0" presId="urn:microsoft.com/office/officeart/2005/8/layout/vList2"/>
    <dgm:cxn modelId="{55F70FB2-3B60-4388-A1A0-7F99E1669908}" type="presParOf" srcId="{3FEA2E6E-FAA6-407E-82E2-B906286E6A3A}" destId="{3A88F10C-F614-4934-8769-41069C2BD0E7}" srcOrd="9" destOrd="0" presId="urn:microsoft.com/office/officeart/2005/8/layout/vList2"/>
    <dgm:cxn modelId="{B428A4DB-1753-405A-A69A-4971AD0A24AC}" type="presParOf" srcId="{3FEA2E6E-FAA6-407E-82E2-B906286E6A3A}" destId="{B3DE68D6-AA3C-4DBC-99AD-32DC2FA771A1}" srcOrd="10" destOrd="0" presId="urn:microsoft.com/office/officeart/2005/8/layout/vList2"/>
    <dgm:cxn modelId="{F91558CD-D4BD-435A-90AE-993046C18B64}" type="presParOf" srcId="{3FEA2E6E-FAA6-407E-82E2-B906286E6A3A}" destId="{DC51A7FA-8486-4AC0-8CAC-DD6430FC5F37}"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C51D7C3-3B8F-49BE-9768-5363270688E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C86620C-2DCE-41C0-93A2-9537F3985B1C}">
      <dgm:prSet/>
      <dgm:spPr/>
      <dgm:t>
        <a:bodyPr/>
        <a:lstStyle/>
        <a:p>
          <a:pPr>
            <a:lnSpc>
              <a:spcPct val="100000"/>
            </a:lnSpc>
          </a:pPr>
          <a:r>
            <a:rPr lang="en-US" b="1"/>
            <a:t>The reduced feature set is strong and reliable</a:t>
          </a:r>
          <a:endParaRPr lang="en-US"/>
        </a:p>
      </dgm:t>
    </dgm:pt>
    <dgm:pt modelId="{DBD53421-89EE-4B8C-94B4-D9B527A8C55B}" type="parTrans" cxnId="{C68CCD54-9293-47F7-94AA-4FEDC2D6AD60}">
      <dgm:prSet/>
      <dgm:spPr/>
      <dgm:t>
        <a:bodyPr/>
        <a:lstStyle/>
        <a:p>
          <a:endParaRPr lang="en-US"/>
        </a:p>
      </dgm:t>
    </dgm:pt>
    <dgm:pt modelId="{CD4D0991-E503-404E-811E-D2964CE4FFF4}" type="sibTrans" cxnId="{C68CCD54-9293-47F7-94AA-4FEDC2D6AD60}">
      <dgm:prSet/>
      <dgm:spPr/>
      <dgm:t>
        <a:bodyPr/>
        <a:lstStyle/>
        <a:p>
          <a:endParaRPr lang="en-US"/>
        </a:p>
      </dgm:t>
    </dgm:pt>
    <dgm:pt modelId="{7E0057FD-A444-4E49-A2A5-B4989179BE79}">
      <dgm:prSet/>
      <dgm:spPr/>
      <dgm:t>
        <a:bodyPr/>
        <a:lstStyle/>
        <a:p>
          <a:pPr>
            <a:lnSpc>
              <a:spcPct val="100000"/>
            </a:lnSpc>
          </a:pPr>
          <a:r>
            <a:rPr lang="en-US"/>
            <a:t>Even with fewer inputs, the models performed consistently and captured meaningful salary patterns.</a:t>
          </a:r>
        </a:p>
      </dgm:t>
    </dgm:pt>
    <dgm:pt modelId="{43672612-DF01-453D-85C9-8922FEB8FE2C}" type="parTrans" cxnId="{9F549B68-5F10-4A05-801D-5F8D1059E4AA}">
      <dgm:prSet/>
      <dgm:spPr/>
      <dgm:t>
        <a:bodyPr/>
        <a:lstStyle/>
        <a:p>
          <a:endParaRPr lang="en-US"/>
        </a:p>
      </dgm:t>
    </dgm:pt>
    <dgm:pt modelId="{630E74FE-C553-45A7-AA87-49E7CA026230}" type="sibTrans" cxnId="{9F549B68-5F10-4A05-801D-5F8D1059E4AA}">
      <dgm:prSet/>
      <dgm:spPr/>
      <dgm:t>
        <a:bodyPr/>
        <a:lstStyle/>
        <a:p>
          <a:endParaRPr lang="en-US"/>
        </a:p>
      </dgm:t>
    </dgm:pt>
    <dgm:pt modelId="{98D9761E-13A9-46D2-B9DF-3802EBE1AE12}">
      <dgm:prSet/>
      <dgm:spPr/>
      <dgm:t>
        <a:bodyPr/>
        <a:lstStyle/>
        <a:p>
          <a:pPr>
            <a:lnSpc>
              <a:spcPct val="100000"/>
            </a:lnSpc>
          </a:pPr>
          <a:r>
            <a:rPr lang="en-US" b="1"/>
            <a:t>Gradient Boosting is the best-performing model</a:t>
          </a:r>
          <a:endParaRPr lang="en-US"/>
        </a:p>
      </dgm:t>
    </dgm:pt>
    <dgm:pt modelId="{826A13F5-1A21-478F-A9C5-895D40E70824}" type="parTrans" cxnId="{0D64B94D-472E-45F2-A83A-1602F7BE103B}">
      <dgm:prSet/>
      <dgm:spPr/>
      <dgm:t>
        <a:bodyPr/>
        <a:lstStyle/>
        <a:p>
          <a:endParaRPr lang="en-US"/>
        </a:p>
      </dgm:t>
    </dgm:pt>
    <dgm:pt modelId="{77C1ADA7-6334-428E-A187-34C5E9C68C1D}" type="sibTrans" cxnId="{0D64B94D-472E-45F2-A83A-1602F7BE103B}">
      <dgm:prSet/>
      <dgm:spPr/>
      <dgm:t>
        <a:bodyPr/>
        <a:lstStyle/>
        <a:p>
          <a:endParaRPr lang="en-US"/>
        </a:p>
      </dgm:t>
    </dgm:pt>
    <dgm:pt modelId="{A18C21B1-2006-41E1-83E2-592BF250B15A}">
      <dgm:prSet/>
      <dgm:spPr/>
      <dgm:t>
        <a:bodyPr/>
        <a:lstStyle/>
        <a:p>
          <a:pPr>
            <a:lnSpc>
              <a:spcPct val="100000"/>
            </a:lnSpc>
          </a:pPr>
          <a:r>
            <a:rPr lang="en-US"/>
            <a:t>It delivered the strongest balance of </a:t>
          </a:r>
          <a:r>
            <a:rPr lang="en-US" b="1"/>
            <a:t>F1 Score</a:t>
          </a:r>
          <a:r>
            <a:rPr lang="en-US"/>
            <a:t> and </a:t>
          </a:r>
          <a:r>
            <a:rPr lang="en-US" b="1"/>
            <a:t>ROC‑AUC</a:t>
          </a:r>
          <a:r>
            <a:rPr lang="en-US"/>
            <a:t>, the two criteria used for model selection.</a:t>
          </a:r>
        </a:p>
      </dgm:t>
    </dgm:pt>
    <dgm:pt modelId="{6B52711F-C655-43DD-81C4-481950B43500}" type="parTrans" cxnId="{B0011CDC-4312-41FA-BBFB-8EFFF2EAA215}">
      <dgm:prSet/>
      <dgm:spPr/>
      <dgm:t>
        <a:bodyPr/>
        <a:lstStyle/>
        <a:p>
          <a:endParaRPr lang="en-US"/>
        </a:p>
      </dgm:t>
    </dgm:pt>
    <dgm:pt modelId="{E19DF571-8F41-49D6-92E0-AD5290972358}" type="sibTrans" cxnId="{B0011CDC-4312-41FA-BBFB-8EFFF2EAA215}">
      <dgm:prSet/>
      <dgm:spPr/>
      <dgm:t>
        <a:bodyPr/>
        <a:lstStyle/>
        <a:p>
          <a:endParaRPr lang="en-US"/>
        </a:p>
      </dgm:t>
    </dgm:pt>
    <dgm:pt modelId="{C6B5E986-E9A3-4CBC-BD85-830621235437}">
      <dgm:prSet/>
      <dgm:spPr/>
      <dgm:t>
        <a:bodyPr/>
        <a:lstStyle/>
        <a:p>
          <a:pPr>
            <a:lnSpc>
              <a:spcPct val="100000"/>
            </a:lnSpc>
          </a:pPr>
          <a:r>
            <a:rPr lang="en-US" b="1"/>
            <a:t>Salary predictions align with real-world compensation logic</a:t>
          </a:r>
          <a:endParaRPr lang="en-US"/>
        </a:p>
      </dgm:t>
    </dgm:pt>
    <dgm:pt modelId="{420FE010-7005-42F5-8CDE-215BAF36C87D}" type="parTrans" cxnId="{C250B51D-9754-4482-BBB9-80B92042F8B4}">
      <dgm:prSet/>
      <dgm:spPr/>
      <dgm:t>
        <a:bodyPr/>
        <a:lstStyle/>
        <a:p>
          <a:endParaRPr lang="en-US"/>
        </a:p>
      </dgm:t>
    </dgm:pt>
    <dgm:pt modelId="{4AE74445-786B-45E0-BCDC-E23A807D61D2}" type="sibTrans" cxnId="{C250B51D-9754-4482-BBB9-80B92042F8B4}">
      <dgm:prSet/>
      <dgm:spPr/>
      <dgm:t>
        <a:bodyPr/>
        <a:lstStyle/>
        <a:p>
          <a:endParaRPr lang="en-US"/>
        </a:p>
      </dgm:t>
    </dgm:pt>
    <dgm:pt modelId="{A13F1D34-A504-451F-B7A8-F33C2D6BA8BE}">
      <dgm:prSet/>
      <dgm:spPr/>
      <dgm:t>
        <a:bodyPr/>
        <a:lstStyle/>
        <a:p>
          <a:pPr>
            <a:lnSpc>
              <a:spcPct val="100000"/>
            </a:lnSpc>
          </a:pPr>
          <a:r>
            <a:rPr lang="en-US"/>
            <a:t>Job role, experience level, company size, and remote status were the most influential factors — exactly what compensation teams expect.</a:t>
          </a:r>
        </a:p>
      </dgm:t>
    </dgm:pt>
    <dgm:pt modelId="{8FD52049-1E7B-43EC-8E1E-7750B7081737}" type="parTrans" cxnId="{2FA803CC-2811-4971-92B7-5C5293210559}">
      <dgm:prSet/>
      <dgm:spPr/>
      <dgm:t>
        <a:bodyPr/>
        <a:lstStyle/>
        <a:p>
          <a:endParaRPr lang="en-US"/>
        </a:p>
      </dgm:t>
    </dgm:pt>
    <dgm:pt modelId="{724E3124-E8A6-4B7E-A58B-67B5C097ED5F}" type="sibTrans" cxnId="{2FA803CC-2811-4971-92B7-5C5293210559}">
      <dgm:prSet/>
      <dgm:spPr/>
      <dgm:t>
        <a:bodyPr/>
        <a:lstStyle/>
        <a:p>
          <a:endParaRPr lang="en-US"/>
        </a:p>
      </dgm:t>
    </dgm:pt>
    <dgm:pt modelId="{2514FA8F-F9F4-4E0B-8978-33B5F83FB41C}">
      <dgm:prSet/>
      <dgm:spPr/>
      <dgm:t>
        <a:bodyPr/>
        <a:lstStyle/>
        <a:p>
          <a:pPr>
            <a:lnSpc>
              <a:spcPct val="100000"/>
            </a:lnSpc>
          </a:pPr>
          <a:r>
            <a:rPr lang="en-US" b="1"/>
            <a:t>SHAP results make the model transparent and explainable</a:t>
          </a:r>
          <a:endParaRPr lang="en-US"/>
        </a:p>
      </dgm:t>
    </dgm:pt>
    <dgm:pt modelId="{A5FBCD80-7CBC-42E0-AA38-55895A908C3B}" type="parTrans" cxnId="{9316873F-242A-4103-BEE8-6A80A04A2983}">
      <dgm:prSet/>
      <dgm:spPr/>
      <dgm:t>
        <a:bodyPr/>
        <a:lstStyle/>
        <a:p>
          <a:endParaRPr lang="en-US"/>
        </a:p>
      </dgm:t>
    </dgm:pt>
    <dgm:pt modelId="{7C75C8B9-BC8F-4374-B607-B5F3C2CD72F5}" type="sibTrans" cxnId="{9316873F-242A-4103-BEE8-6A80A04A2983}">
      <dgm:prSet/>
      <dgm:spPr/>
      <dgm:t>
        <a:bodyPr/>
        <a:lstStyle/>
        <a:p>
          <a:endParaRPr lang="en-US"/>
        </a:p>
      </dgm:t>
    </dgm:pt>
    <dgm:pt modelId="{516C6F31-715A-4054-9FD5-BBFCC28D1958}">
      <dgm:prSet/>
      <dgm:spPr/>
      <dgm:t>
        <a:bodyPr/>
        <a:lstStyle/>
        <a:p>
          <a:pPr>
            <a:lnSpc>
              <a:spcPct val="100000"/>
            </a:lnSpc>
          </a:pPr>
          <a:r>
            <a:rPr lang="en-US"/>
            <a:t>We can clearly see how each feature pushes predictions up or down, supporting trust and interpretability.</a:t>
          </a:r>
        </a:p>
      </dgm:t>
    </dgm:pt>
    <dgm:pt modelId="{FF753196-5E4E-47FF-8883-2E7BC8C4378C}" type="parTrans" cxnId="{544D234E-D964-4172-856F-93AA9F073B7B}">
      <dgm:prSet/>
      <dgm:spPr/>
      <dgm:t>
        <a:bodyPr/>
        <a:lstStyle/>
        <a:p>
          <a:endParaRPr lang="en-US"/>
        </a:p>
      </dgm:t>
    </dgm:pt>
    <dgm:pt modelId="{199ABF59-F56F-4A54-96E9-38FB5E9F0146}" type="sibTrans" cxnId="{544D234E-D964-4172-856F-93AA9F073B7B}">
      <dgm:prSet/>
      <dgm:spPr/>
      <dgm:t>
        <a:bodyPr/>
        <a:lstStyle/>
        <a:p>
          <a:endParaRPr lang="en-US"/>
        </a:p>
      </dgm:t>
    </dgm:pt>
    <dgm:pt modelId="{89B37C50-6367-411F-9727-BBB7F159C9C1}">
      <dgm:prSet/>
      <dgm:spPr/>
      <dgm:t>
        <a:bodyPr/>
        <a:lstStyle/>
        <a:p>
          <a:pPr>
            <a:lnSpc>
              <a:spcPct val="100000"/>
            </a:lnSpc>
          </a:pPr>
          <a:r>
            <a:rPr lang="en-US" b="1"/>
            <a:t>A future pipeline can automate everything</a:t>
          </a:r>
          <a:endParaRPr lang="en-US"/>
        </a:p>
      </dgm:t>
    </dgm:pt>
    <dgm:pt modelId="{7B45BAE1-CA41-4987-86D8-A2A05AE3105D}" type="parTrans" cxnId="{BD7CB6F5-D5BB-42A8-A1AE-0A68D6CEE0D9}">
      <dgm:prSet/>
      <dgm:spPr/>
      <dgm:t>
        <a:bodyPr/>
        <a:lstStyle/>
        <a:p>
          <a:endParaRPr lang="en-US"/>
        </a:p>
      </dgm:t>
    </dgm:pt>
    <dgm:pt modelId="{FDE692C1-5401-4638-BED6-2791EB04B0C1}" type="sibTrans" cxnId="{BD7CB6F5-D5BB-42A8-A1AE-0A68D6CEE0D9}">
      <dgm:prSet/>
      <dgm:spPr/>
      <dgm:t>
        <a:bodyPr/>
        <a:lstStyle/>
        <a:p>
          <a:endParaRPr lang="en-US"/>
        </a:p>
      </dgm:t>
    </dgm:pt>
    <dgm:pt modelId="{BBFD1F51-FB68-4FD9-B2F1-1631CBC3CC7E}">
      <dgm:prSet/>
      <dgm:spPr/>
      <dgm:t>
        <a:bodyPr/>
        <a:lstStyle/>
        <a:p>
          <a:pPr>
            <a:lnSpc>
              <a:spcPct val="100000"/>
            </a:lnSpc>
          </a:pPr>
          <a:r>
            <a:rPr lang="en-US"/>
            <a:t>Collect richer data, clean it automatically, retrain models as new rows arrive, and select the best model using F1 + ROC‑AUC.</a:t>
          </a:r>
        </a:p>
      </dgm:t>
    </dgm:pt>
    <dgm:pt modelId="{2284D543-5771-452E-AFAF-BA5DB1D3EFA2}" type="parTrans" cxnId="{70F45B3E-B3A6-4D74-897A-9C758D5238EF}">
      <dgm:prSet/>
      <dgm:spPr/>
      <dgm:t>
        <a:bodyPr/>
        <a:lstStyle/>
        <a:p>
          <a:endParaRPr lang="en-US"/>
        </a:p>
      </dgm:t>
    </dgm:pt>
    <dgm:pt modelId="{895C07B6-07BA-47E7-B6ED-BD5048F7C9B6}" type="sibTrans" cxnId="{70F45B3E-B3A6-4D74-897A-9C758D5238EF}">
      <dgm:prSet/>
      <dgm:spPr/>
      <dgm:t>
        <a:bodyPr/>
        <a:lstStyle/>
        <a:p>
          <a:endParaRPr lang="en-US"/>
        </a:p>
      </dgm:t>
    </dgm:pt>
    <dgm:pt modelId="{59F5C98B-F378-4FCE-9000-E1D57DC8B628}">
      <dgm:prSet/>
      <dgm:spPr/>
      <dgm:t>
        <a:bodyPr/>
        <a:lstStyle/>
        <a:p>
          <a:pPr>
            <a:lnSpc>
              <a:spcPct val="100000"/>
            </a:lnSpc>
          </a:pPr>
          <a:r>
            <a:rPr lang="en-US" b="1"/>
            <a:t>Key Takeaway: This project demonstrates a stable reduced model, clear salary insights, and a path toward a fully automated, continuously improving salary prediction pipeline.</a:t>
          </a:r>
          <a:endParaRPr lang="en-US"/>
        </a:p>
      </dgm:t>
    </dgm:pt>
    <dgm:pt modelId="{E39E3B6D-AF3D-4AA6-9A43-8B96A0708CCE}" type="parTrans" cxnId="{C2CC9792-871F-4DD4-8995-0F33E0A5246B}">
      <dgm:prSet/>
      <dgm:spPr/>
      <dgm:t>
        <a:bodyPr/>
        <a:lstStyle/>
        <a:p>
          <a:endParaRPr lang="en-US"/>
        </a:p>
      </dgm:t>
    </dgm:pt>
    <dgm:pt modelId="{3686A4C6-6AE0-4428-9036-96F5DEA5DF37}" type="sibTrans" cxnId="{C2CC9792-871F-4DD4-8995-0F33E0A5246B}">
      <dgm:prSet/>
      <dgm:spPr/>
      <dgm:t>
        <a:bodyPr/>
        <a:lstStyle/>
        <a:p>
          <a:endParaRPr lang="en-US"/>
        </a:p>
      </dgm:t>
    </dgm:pt>
    <dgm:pt modelId="{4692562D-63EA-43BF-BE38-3D36F9093567}" type="pres">
      <dgm:prSet presAssocID="{5C51D7C3-3B8F-49BE-9768-5363270688E6}" presName="root" presStyleCnt="0">
        <dgm:presLayoutVars>
          <dgm:dir/>
          <dgm:resizeHandles val="exact"/>
        </dgm:presLayoutVars>
      </dgm:prSet>
      <dgm:spPr/>
    </dgm:pt>
    <dgm:pt modelId="{92494B5F-39BE-4B37-A219-9DA2404C8F4F}" type="pres">
      <dgm:prSet presAssocID="{BC86620C-2DCE-41C0-93A2-9537F3985B1C}" presName="compNode" presStyleCnt="0"/>
      <dgm:spPr/>
    </dgm:pt>
    <dgm:pt modelId="{F6656412-1347-4CB7-9C64-8F7A8020A70A}" type="pres">
      <dgm:prSet presAssocID="{BC86620C-2DCE-41C0-93A2-9537F3985B1C}" presName="bgRect" presStyleLbl="bgShp" presStyleIdx="0" presStyleCnt="6"/>
      <dgm:spPr/>
    </dgm:pt>
    <dgm:pt modelId="{F40E78F7-B609-4CE3-857A-B025F1B97549}" type="pres">
      <dgm:prSet presAssocID="{BC86620C-2DCE-41C0-93A2-9537F3985B1C}"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F7A4D707-3030-430C-9FC5-AE9851EA99CA}" type="pres">
      <dgm:prSet presAssocID="{BC86620C-2DCE-41C0-93A2-9537F3985B1C}" presName="spaceRect" presStyleCnt="0"/>
      <dgm:spPr/>
    </dgm:pt>
    <dgm:pt modelId="{A7335331-49B5-44EC-A40A-ECCE61C61ADC}" type="pres">
      <dgm:prSet presAssocID="{BC86620C-2DCE-41C0-93A2-9537F3985B1C}" presName="parTx" presStyleLbl="revTx" presStyleIdx="0" presStyleCnt="11">
        <dgm:presLayoutVars>
          <dgm:chMax val="0"/>
          <dgm:chPref val="0"/>
        </dgm:presLayoutVars>
      </dgm:prSet>
      <dgm:spPr/>
    </dgm:pt>
    <dgm:pt modelId="{59E7AF46-96C3-4ADF-8CCF-8B7909CFFA6A}" type="pres">
      <dgm:prSet presAssocID="{BC86620C-2DCE-41C0-93A2-9537F3985B1C}" presName="desTx" presStyleLbl="revTx" presStyleIdx="1" presStyleCnt="11">
        <dgm:presLayoutVars/>
      </dgm:prSet>
      <dgm:spPr/>
    </dgm:pt>
    <dgm:pt modelId="{3A0E9739-FA15-411D-9D42-B9C0257DEC7B}" type="pres">
      <dgm:prSet presAssocID="{CD4D0991-E503-404E-811E-D2964CE4FFF4}" presName="sibTrans" presStyleCnt="0"/>
      <dgm:spPr/>
    </dgm:pt>
    <dgm:pt modelId="{9672BE27-EF47-493E-AEDE-0D89C5DB7F67}" type="pres">
      <dgm:prSet presAssocID="{98D9761E-13A9-46D2-B9DF-3802EBE1AE12}" presName="compNode" presStyleCnt="0"/>
      <dgm:spPr/>
    </dgm:pt>
    <dgm:pt modelId="{30251DEF-3CB7-4503-AA7F-19B5A93CBD17}" type="pres">
      <dgm:prSet presAssocID="{98D9761E-13A9-46D2-B9DF-3802EBE1AE12}" presName="bgRect" presStyleLbl="bgShp" presStyleIdx="1" presStyleCnt="6"/>
      <dgm:spPr/>
    </dgm:pt>
    <dgm:pt modelId="{B75B35DB-B88D-431F-A5D5-F6043C48C1E0}" type="pres">
      <dgm:prSet presAssocID="{98D9761E-13A9-46D2-B9DF-3802EBE1AE12}"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vron Arrows"/>
        </a:ext>
      </dgm:extLst>
    </dgm:pt>
    <dgm:pt modelId="{35D12D8E-6F9B-4A80-8013-4B2D8572C62B}" type="pres">
      <dgm:prSet presAssocID="{98D9761E-13A9-46D2-B9DF-3802EBE1AE12}" presName="spaceRect" presStyleCnt="0"/>
      <dgm:spPr/>
    </dgm:pt>
    <dgm:pt modelId="{8A90F06A-C31A-4A4E-9A61-1C9E9A5C606F}" type="pres">
      <dgm:prSet presAssocID="{98D9761E-13A9-46D2-B9DF-3802EBE1AE12}" presName="parTx" presStyleLbl="revTx" presStyleIdx="2" presStyleCnt="11">
        <dgm:presLayoutVars>
          <dgm:chMax val="0"/>
          <dgm:chPref val="0"/>
        </dgm:presLayoutVars>
      </dgm:prSet>
      <dgm:spPr/>
    </dgm:pt>
    <dgm:pt modelId="{6B70E237-DD96-48EB-AA2F-FEA9AB1448F9}" type="pres">
      <dgm:prSet presAssocID="{98D9761E-13A9-46D2-B9DF-3802EBE1AE12}" presName="desTx" presStyleLbl="revTx" presStyleIdx="3" presStyleCnt="11">
        <dgm:presLayoutVars/>
      </dgm:prSet>
      <dgm:spPr/>
    </dgm:pt>
    <dgm:pt modelId="{C866E5DB-55B5-434F-88CA-5802594D8CEE}" type="pres">
      <dgm:prSet presAssocID="{77C1ADA7-6334-428E-A187-34C5E9C68C1D}" presName="sibTrans" presStyleCnt="0"/>
      <dgm:spPr/>
    </dgm:pt>
    <dgm:pt modelId="{A694E07F-23FD-4657-BA39-30F213E0809C}" type="pres">
      <dgm:prSet presAssocID="{C6B5E986-E9A3-4CBC-BD85-830621235437}" presName="compNode" presStyleCnt="0"/>
      <dgm:spPr/>
    </dgm:pt>
    <dgm:pt modelId="{0DD87826-E5E5-40DD-93B5-86611FD9B601}" type="pres">
      <dgm:prSet presAssocID="{C6B5E986-E9A3-4CBC-BD85-830621235437}" presName="bgRect" presStyleLbl="bgShp" presStyleIdx="2" presStyleCnt="6"/>
      <dgm:spPr/>
    </dgm:pt>
    <dgm:pt modelId="{1883FE82-5D49-477D-A513-7478DA7FC3B7}" type="pres">
      <dgm:prSet presAssocID="{C6B5E986-E9A3-4CBC-BD85-830621235437}"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obot"/>
        </a:ext>
      </dgm:extLst>
    </dgm:pt>
    <dgm:pt modelId="{ADDE6401-7889-40A1-B882-4D5AD338DF3F}" type="pres">
      <dgm:prSet presAssocID="{C6B5E986-E9A3-4CBC-BD85-830621235437}" presName="spaceRect" presStyleCnt="0"/>
      <dgm:spPr/>
    </dgm:pt>
    <dgm:pt modelId="{892AC55A-0F4E-45D0-83A7-D1C3CB00F2C9}" type="pres">
      <dgm:prSet presAssocID="{C6B5E986-E9A3-4CBC-BD85-830621235437}" presName="parTx" presStyleLbl="revTx" presStyleIdx="4" presStyleCnt="11">
        <dgm:presLayoutVars>
          <dgm:chMax val="0"/>
          <dgm:chPref val="0"/>
        </dgm:presLayoutVars>
      </dgm:prSet>
      <dgm:spPr/>
    </dgm:pt>
    <dgm:pt modelId="{5AFC764E-A1EC-4104-A2E0-536D190A762B}" type="pres">
      <dgm:prSet presAssocID="{C6B5E986-E9A3-4CBC-BD85-830621235437}" presName="desTx" presStyleLbl="revTx" presStyleIdx="5" presStyleCnt="11">
        <dgm:presLayoutVars/>
      </dgm:prSet>
      <dgm:spPr/>
    </dgm:pt>
    <dgm:pt modelId="{40D7222C-B799-4DD9-B60F-2FC97B07CC31}" type="pres">
      <dgm:prSet presAssocID="{4AE74445-786B-45E0-BCDC-E23A807D61D2}" presName="sibTrans" presStyleCnt="0"/>
      <dgm:spPr/>
    </dgm:pt>
    <dgm:pt modelId="{29986E3D-EF90-4476-A667-0E93692A3643}" type="pres">
      <dgm:prSet presAssocID="{2514FA8F-F9F4-4E0B-8978-33B5F83FB41C}" presName="compNode" presStyleCnt="0"/>
      <dgm:spPr/>
    </dgm:pt>
    <dgm:pt modelId="{EDEB86DB-2EF4-4604-BFD5-44F4F2AE5B9C}" type="pres">
      <dgm:prSet presAssocID="{2514FA8F-F9F4-4E0B-8978-33B5F83FB41C}" presName="bgRect" presStyleLbl="bgShp" presStyleIdx="3" presStyleCnt="6"/>
      <dgm:spPr/>
    </dgm:pt>
    <dgm:pt modelId="{F99E6F17-F74A-4789-B353-E6436AA5A507}" type="pres">
      <dgm:prSet presAssocID="{2514FA8F-F9F4-4E0B-8978-33B5F83FB41C}"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52D5506C-1DA3-4D1B-BA1A-61452388AD61}" type="pres">
      <dgm:prSet presAssocID="{2514FA8F-F9F4-4E0B-8978-33B5F83FB41C}" presName="spaceRect" presStyleCnt="0"/>
      <dgm:spPr/>
    </dgm:pt>
    <dgm:pt modelId="{30FAB8D1-3264-439A-8626-CEDF7544276D}" type="pres">
      <dgm:prSet presAssocID="{2514FA8F-F9F4-4E0B-8978-33B5F83FB41C}" presName="parTx" presStyleLbl="revTx" presStyleIdx="6" presStyleCnt="11">
        <dgm:presLayoutVars>
          <dgm:chMax val="0"/>
          <dgm:chPref val="0"/>
        </dgm:presLayoutVars>
      </dgm:prSet>
      <dgm:spPr/>
    </dgm:pt>
    <dgm:pt modelId="{64C9C849-C819-405B-8ABA-D1A4FD43D92B}" type="pres">
      <dgm:prSet presAssocID="{2514FA8F-F9F4-4E0B-8978-33B5F83FB41C}" presName="desTx" presStyleLbl="revTx" presStyleIdx="7" presStyleCnt="11">
        <dgm:presLayoutVars/>
      </dgm:prSet>
      <dgm:spPr/>
    </dgm:pt>
    <dgm:pt modelId="{FC480976-5CB5-4A9B-A8FA-A65B7D55F734}" type="pres">
      <dgm:prSet presAssocID="{7C75C8B9-BC8F-4374-B607-B5F3C2CD72F5}" presName="sibTrans" presStyleCnt="0"/>
      <dgm:spPr/>
    </dgm:pt>
    <dgm:pt modelId="{1C05BAAC-93B5-4EDE-97FB-F14A62933A95}" type="pres">
      <dgm:prSet presAssocID="{89B37C50-6367-411F-9727-BBB7F159C9C1}" presName="compNode" presStyleCnt="0"/>
      <dgm:spPr/>
    </dgm:pt>
    <dgm:pt modelId="{84772C96-C443-4360-9F44-989189DC9A5E}" type="pres">
      <dgm:prSet presAssocID="{89B37C50-6367-411F-9727-BBB7F159C9C1}" presName="bgRect" presStyleLbl="bgShp" presStyleIdx="4" presStyleCnt="6"/>
      <dgm:spPr/>
    </dgm:pt>
    <dgm:pt modelId="{29552D5C-05EF-4276-A977-BC36D92391F6}" type="pres">
      <dgm:prSet presAssocID="{89B37C50-6367-411F-9727-BBB7F159C9C1}"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able"/>
        </a:ext>
      </dgm:extLst>
    </dgm:pt>
    <dgm:pt modelId="{B41E4526-1FB6-45EF-BF2D-B9763C4E5717}" type="pres">
      <dgm:prSet presAssocID="{89B37C50-6367-411F-9727-BBB7F159C9C1}" presName="spaceRect" presStyleCnt="0"/>
      <dgm:spPr/>
    </dgm:pt>
    <dgm:pt modelId="{31BD292F-C0AF-4792-B7CE-03C5414D14D0}" type="pres">
      <dgm:prSet presAssocID="{89B37C50-6367-411F-9727-BBB7F159C9C1}" presName="parTx" presStyleLbl="revTx" presStyleIdx="8" presStyleCnt="11">
        <dgm:presLayoutVars>
          <dgm:chMax val="0"/>
          <dgm:chPref val="0"/>
        </dgm:presLayoutVars>
      </dgm:prSet>
      <dgm:spPr/>
    </dgm:pt>
    <dgm:pt modelId="{44C23185-DBA2-4EE8-9176-A51A0E390E31}" type="pres">
      <dgm:prSet presAssocID="{89B37C50-6367-411F-9727-BBB7F159C9C1}" presName="desTx" presStyleLbl="revTx" presStyleIdx="9" presStyleCnt="11">
        <dgm:presLayoutVars/>
      </dgm:prSet>
      <dgm:spPr/>
    </dgm:pt>
    <dgm:pt modelId="{6778B9E1-E636-49CA-ABAF-4A876A2F7737}" type="pres">
      <dgm:prSet presAssocID="{FDE692C1-5401-4638-BED6-2791EB04B0C1}" presName="sibTrans" presStyleCnt="0"/>
      <dgm:spPr/>
    </dgm:pt>
    <dgm:pt modelId="{F586ED3E-0AAA-43CE-B3D7-D3E216D1F9DB}" type="pres">
      <dgm:prSet presAssocID="{59F5C98B-F378-4FCE-9000-E1D57DC8B628}" presName="compNode" presStyleCnt="0"/>
      <dgm:spPr/>
    </dgm:pt>
    <dgm:pt modelId="{10EB0A1C-E2D5-4257-9D86-71E027E3C4B3}" type="pres">
      <dgm:prSet presAssocID="{59F5C98B-F378-4FCE-9000-E1D57DC8B628}" presName="bgRect" presStyleLbl="bgShp" presStyleIdx="5" presStyleCnt="6"/>
      <dgm:spPr/>
    </dgm:pt>
    <dgm:pt modelId="{5D0DFCC2-C2D4-4455-B6C6-49EA80CE8104}" type="pres">
      <dgm:prSet presAssocID="{59F5C98B-F378-4FCE-9000-E1D57DC8B628}"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orkflow"/>
        </a:ext>
      </dgm:extLst>
    </dgm:pt>
    <dgm:pt modelId="{226EDE1E-6696-4F65-811F-57C7A9474A3A}" type="pres">
      <dgm:prSet presAssocID="{59F5C98B-F378-4FCE-9000-E1D57DC8B628}" presName="spaceRect" presStyleCnt="0"/>
      <dgm:spPr/>
    </dgm:pt>
    <dgm:pt modelId="{613D7DB9-0FC5-4376-9C17-E110A8DAC0F5}" type="pres">
      <dgm:prSet presAssocID="{59F5C98B-F378-4FCE-9000-E1D57DC8B628}" presName="parTx" presStyleLbl="revTx" presStyleIdx="10" presStyleCnt="11">
        <dgm:presLayoutVars>
          <dgm:chMax val="0"/>
          <dgm:chPref val="0"/>
        </dgm:presLayoutVars>
      </dgm:prSet>
      <dgm:spPr/>
    </dgm:pt>
  </dgm:ptLst>
  <dgm:cxnLst>
    <dgm:cxn modelId="{B95C5701-0E7D-4C6E-A599-E527A0858EF9}" type="presOf" srcId="{2514FA8F-F9F4-4E0B-8978-33B5F83FB41C}" destId="{30FAB8D1-3264-439A-8626-CEDF7544276D}" srcOrd="0" destOrd="0" presId="urn:microsoft.com/office/officeart/2018/2/layout/IconVerticalSolidList"/>
    <dgm:cxn modelId="{33166605-6711-413C-9791-6F2093385426}" type="presOf" srcId="{89B37C50-6367-411F-9727-BBB7F159C9C1}" destId="{31BD292F-C0AF-4792-B7CE-03C5414D14D0}" srcOrd="0" destOrd="0" presId="urn:microsoft.com/office/officeart/2018/2/layout/IconVerticalSolidList"/>
    <dgm:cxn modelId="{A0A31813-480F-44EC-B011-E28785114053}" type="presOf" srcId="{59F5C98B-F378-4FCE-9000-E1D57DC8B628}" destId="{613D7DB9-0FC5-4376-9C17-E110A8DAC0F5}" srcOrd="0" destOrd="0" presId="urn:microsoft.com/office/officeart/2018/2/layout/IconVerticalSolidList"/>
    <dgm:cxn modelId="{C250B51D-9754-4482-BBB9-80B92042F8B4}" srcId="{5C51D7C3-3B8F-49BE-9768-5363270688E6}" destId="{C6B5E986-E9A3-4CBC-BD85-830621235437}" srcOrd="2" destOrd="0" parTransId="{420FE010-7005-42F5-8CDE-215BAF36C87D}" sibTransId="{4AE74445-786B-45E0-BCDC-E23A807D61D2}"/>
    <dgm:cxn modelId="{46BD5C28-C52E-4C59-A27A-514BEA5BE4BB}" type="presOf" srcId="{98D9761E-13A9-46D2-B9DF-3802EBE1AE12}" destId="{8A90F06A-C31A-4A4E-9A61-1C9E9A5C606F}" srcOrd="0" destOrd="0" presId="urn:microsoft.com/office/officeart/2018/2/layout/IconVerticalSolidList"/>
    <dgm:cxn modelId="{66195A34-5DB6-41F0-8608-245CDA6C60A9}" type="presOf" srcId="{BC86620C-2DCE-41C0-93A2-9537F3985B1C}" destId="{A7335331-49B5-44EC-A40A-ECCE61C61ADC}" srcOrd="0" destOrd="0" presId="urn:microsoft.com/office/officeart/2018/2/layout/IconVerticalSolidList"/>
    <dgm:cxn modelId="{D01FB135-F063-468D-94B1-BAB8EF5C96C3}" type="presOf" srcId="{7E0057FD-A444-4E49-A2A5-B4989179BE79}" destId="{59E7AF46-96C3-4ADF-8CCF-8B7909CFFA6A}" srcOrd="0" destOrd="0" presId="urn:microsoft.com/office/officeart/2018/2/layout/IconVerticalSolidList"/>
    <dgm:cxn modelId="{70F45B3E-B3A6-4D74-897A-9C758D5238EF}" srcId="{89B37C50-6367-411F-9727-BBB7F159C9C1}" destId="{BBFD1F51-FB68-4FD9-B2F1-1631CBC3CC7E}" srcOrd="0" destOrd="0" parTransId="{2284D543-5771-452E-AFAF-BA5DB1D3EFA2}" sibTransId="{895C07B6-07BA-47E7-B6ED-BD5048F7C9B6}"/>
    <dgm:cxn modelId="{9316873F-242A-4103-BEE8-6A80A04A2983}" srcId="{5C51D7C3-3B8F-49BE-9768-5363270688E6}" destId="{2514FA8F-F9F4-4E0B-8978-33B5F83FB41C}" srcOrd="3" destOrd="0" parTransId="{A5FBCD80-7CBC-42E0-AA38-55895A908C3B}" sibTransId="{7C75C8B9-BC8F-4374-B607-B5F3C2CD72F5}"/>
    <dgm:cxn modelId="{9F549B68-5F10-4A05-801D-5F8D1059E4AA}" srcId="{BC86620C-2DCE-41C0-93A2-9537F3985B1C}" destId="{7E0057FD-A444-4E49-A2A5-B4989179BE79}" srcOrd="0" destOrd="0" parTransId="{43672612-DF01-453D-85C9-8922FEB8FE2C}" sibTransId="{630E74FE-C553-45A7-AA87-49E7CA026230}"/>
    <dgm:cxn modelId="{0D64B94D-472E-45F2-A83A-1602F7BE103B}" srcId="{5C51D7C3-3B8F-49BE-9768-5363270688E6}" destId="{98D9761E-13A9-46D2-B9DF-3802EBE1AE12}" srcOrd="1" destOrd="0" parTransId="{826A13F5-1A21-478F-A9C5-895D40E70824}" sibTransId="{77C1ADA7-6334-428E-A187-34C5E9C68C1D}"/>
    <dgm:cxn modelId="{544D234E-D964-4172-856F-93AA9F073B7B}" srcId="{2514FA8F-F9F4-4E0B-8978-33B5F83FB41C}" destId="{516C6F31-715A-4054-9FD5-BBFCC28D1958}" srcOrd="0" destOrd="0" parTransId="{FF753196-5E4E-47FF-8883-2E7BC8C4378C}" sibTransId="{199ABF59-F56F-4A54-96E9-38FB5E9F0146}"/>
    <dgm:cxn modelId="{8E38136F-CFC3-4545-A55F-D6908BFCA879}" type="presOf" srcId="{5C51D7C3-3B8F-49BE-9768-5363270688E6}" destId="{4692562D-63EA-43BF-BE38-3D36F9093567}" srcOrd="0" destOrd="0" presId="urn:microsoft.com/office/officeart/2018/2/layout/IconVerticalSolidList"/>
    <dgm:cxn modelId="{C68CCD54-9293-47F7-94AA-4FEDC2D6AD60}" srcId="{5C51D7C3-3B8F-49BE-9768-5363270688E6}" destId="{BC86620C-2DCE-41C0-93A2-9537F3985B1C}" srcOrd="0" destOrd="0" parTransId="{DBD53421-89EE-4B8C-94B4-D9B527A8C55B}" sibTransId="{CD4D0991-E503-404E-811E-D2964CE4FFF4}"/>
    <dgm:cxn modelId="{58E7BD75-328E-4895-BED4-D857C58E0649}" type="presOf" srcId="{BBFD1F51-FB68-4FD9-B2F1-1631CBC3CC7E}" destId="{44C23185-DBA2-4EE8-9176-A51A0E390E31}" srcOrd="0" destOrd="0" presId="urn:microsoft.com/office/officeart/2018/2/layout/IconVerticalSolidList"/>
    <dgm:cxn modelId="{01D3F375-380D-438D-B0F4-70BE71D76D63}" type="presOf" srcId="{C6B5E986-E9A3-4CBC-BD85-830621235437}" destId="{892AC55A-0F4E-45D0-83A7-D1C3CB00F2C9}" srcOrd="0" destOrd="0" presId="urn:microsoft.com/office/officeart/2018/2/layout/IconVerticalSolidList"/>
    <dgm:cxn modelId="{C2CC9792-871F-4DD4-8995-0F33E0A5246B}" srcId="{5C51D7C3-3B8F-49BE-9768-5363270688E6}" destId="{59F5C98B-F378-4FCE-9000-E1D57DC8B628}" srcOrd="5" destOrd="0" parTransId="{E39E3B6D-AF3D-4AA6-9A43-8B96A0708CCE}" sibTransId="{3686A4C6-6AE0-4428-9036-96F5DEA5DF37}"/>
    <dgm:cxn modelId="{E7D61AC5-3964-4C9E-8845-62F15FFCFA01}" type="presOf" srcId="{A13F1D34-A504-451F-B7A8-F33C2D6BA8BE}" destId="{5AFC764E-A1EC-4104-A2E0-536D190A762B}" srcOrd="0" destOrd="0" presId="urn:microsoft.com/office/officeart/2018/2/layout/IconVerticalSolidList"/>
    <dgm:cxn modelId="{9DC7E7C6-CD32-4950-920A-CC4566AC7AD5}" type="presOf" srcId="{516C6F31-715A-4054-9FD5-BBFCC28D1958}" destId="{64C9C849-C819-405B-8ABA-D1A4FD43D92B}" srcOrd="0" destOrd="0" presId="urn:microsoft.com/office/officeart/2018/2/layout/IconVerticalSolidList"/>
    <dgm:cxn modelId="{2FA803CC-2811-4971-92B7-5C5293210559}" srcId="{C6B5E986-E9A3-4CBC-BD85-830621235437}" destId="{A13F1D34-A504-451F-B7A8-F33C2D6BA8BE}" srcOrd="0" destOrd="0" parTransId="{8FD52049-1E7B-43EC-8E1E-7750B7081737}" sibTransId="{724E3124-E8A6-4B7E-A58B-67B5C097ED5F}"/>
    <dgm:cxn modelId="{B0011CDC-4312-41FA-BBFB-8EFFF2EAA215}" srcId="{98D9761E-13A9-46D2-B9DF-3802EBE1AE12}" destId="{A18C21B1-2006-41E1-83E2-592BF250B15A}" srcOrd="0" destOrd="0" parTransId="{6B52711F-C655-43DD-81C4-481950B43500}" sibTransId="{E19DF571-8F41-49D6-92E0-AD5290972358}"/>
    <dgm:cxn modelId="{790E68E5-E919-4F86-B379-D01D272A25C3}" type="presOf" srcId="{A18C21B1-2006-41E1-83E2-592BF250B15A}" destId="{6B70E237-DD96-48EB-AA2F-FEA9AB1448F9}" srcOrd="0" destOrd="0" presId="urn:microsoft.com/office/officeart/2018/2/layout/IconVerticalSolidList"/>
    <dgm:cxn modelId="{BD7CB6F5-D5BB-42A8-A1AE-0A68D6CEE0D9}" srcId="{5C51D7C3-3B8F-49BE-9768-5363270688E6}" destId="{89B37C50-6367-411F-9727-BBB7F159C9C1}" srcOrd="4" destOrd="0" parTransId="{7B45BAE1-CA41-4987-86D8-A2A05AE3105D}" sibTransId="{FDE692C1-5401-4638-BED6-2791EB04B0C1}"/>
    <dgm:cxn modelId="{6FA7D4FB-5D05-4AF9-A457-1CB4BF3757D1}" type="presParOf" srcId="{4692562D-63EA-43BF-BE38-3D36F9093567}" destId="{92494B5F-39BE-4B37-A219-9DA2404C8F4F}" srcOrd="0" destOrd="0" presId="urn:microsoft.com/office/officeart/2018/2/layout/IconVerticalSolidList"/>
    <dgm:cxn modelId="{6B8EAC33-09F1-42B2-A505-89515156C862}" type="presParOf" srcId="{92494B5F-39BE-4B37-A219-9DA2404C8F4F}" destId="{F6656412-1347-4CB7-9C64-8F7A8020A70A}" srcOrd="0" destOrd="0" presId="urn:microsoft.com/office/officeart/2018/2/layout/IconVerticalSolidList"/>
    <dgm:cxn modelId="{16CE06E6-7365-4CAC-8E75-EFBAB7A347C2}" type="presParOf" srcId="{92494B5F-39BE-4B37-A219-9DA2404C8F4F}" destId="{F40E78F7-B609-4CE3-857A-B025F1B97549}" srcOrd="1" destOrd="0" presId="urn:microsoft.com/office/officeart/2018/2/layout/IconVerticalSolidList"/>
    <dgm:cxn modelId="{4C9A75F8-21A9-4EC8-9773-06C0510AA8C9}" type="presParOf" srcId="{92494B5F-39BE-4B37-A219-9DA2404C8F4F}" destId="{F7A4D707-3030-430C-9FC5-AE9851EA99CA}" srcOrd="2" destOrd="0" presId="urn:microsoft.com/office/officeart/2018/2/layout/IconVerticalSolidList"/>
    <dgm:cxn modelId="{7EF4CF0B-AF99-44AF-999F-DF2C9E78E0BC}" type="presParOf" srcId="{92494B5F-39BE-4B37-A219-9DA2404C8F4F}" destId="{A7335331-49B5-44EC-A40A-ECCE61C61ADC}" srcOrd="3" destOrd="0" presId="urn:microsoft.com/office/officeart/2018/2/layout/IconVerticalSolidList"/>
    <dgm:cxn modelId="{15E01728-E602-496A-AC90-33CC9AD545C0}" type="presParOf" srcId="{92494B5F-39BE-4B37-A219-9DA2404C8F4F}" destId="{59E7AF46-96C3-4ADF-8CCF-8B7909CFFA6A}" srcOrd="4" destOrd="0" presId="urn:microsoft.com/office/officeart/2018/2/layout/IconVerticalSolidList"/>
    <dgm:cxn modelId="{57146499-BF59-4A57-A008-E2D118972D80}" type="presParOf" srcId="{4692562D-63EA-43BF-BE38-3D36F9093567}" destId="{3A0E9739-FA15-411D-9D42-B9C0257DEC7B}" srcOrd="1" destOrd="0" presId="urn:microsoft.com/office/officeart/2018/2/layout/IconVerticalSolidList"/>
    <dgm:cxn modelId="{F025311E-024B-42A5-9C5C-85D3505209FC}" type="presParOf" srcId="{4692562D-63EA-43BF-BE38-3D36F9093567}" destId="{9672BE27-EF47-493E-AEDE-0D89C5DB7F67}" srcOrd="2" destOrd="0" presId="urn:microsoft.com/office/officeart/2018/2/layout/IconVerticalSolidList"/>
    <dgm:cxn modelId="{961FD916-E1C5-4BF3-8F49-D7545378A534}" type="presParOf" srcId="{9672BE27-EF47-493E-AEDE-0D89C5DB7F67}" destId="{30251DEF-3CB7-4503-AA7F-19B5A93CBD17}" srcOrd="0" destOrd="0" presId="urn:microsoft.com/office/officeart/2018/2/layout/IconVerticalSolidList"/>
    <dgm:cxn modelId="{669DF8F8-A347-48A5-8369-8A4C9592B31B}" type="presParOf" srcId="{9672BE27-EF47-493E-AEDE-0D89C5DB7F67}" destId="{B75B35DB-B88D-431F-A5D5-F6043C48C1E0}" srcOrd="1" destOrd="0" presId="urn:microsoft.com/office/officeart/2018/2/layout/IconVerticalSolidList"/>
    <dgm:cxn modelId="{DF85B291-E23A-46CB-A53E-A457EA805485}" type="presParOf" srcId="{9672BE27-EF47-493E-AEDE-0D89C5DB7F67}" destId="{35D12D8E-6F9B-4A80-8013-4B2D8572C62B}" srcOrd="2" destOrd="0" presId="urn:microsoft.com/office/officeart/2018/2/layout/IconVerticalSolidList"/>
    <dgm:cxn modelId="{7B22AF16-19EB-4102-95A0-33709AA4E86C}" type="presParOf" srcId="{9672BE27-EF47-493E-AEDE-0D89C5DB7F67}" destId="{8A90F06A-C31A-4A4E-9A61-1C9E9A5C606F}" srcOrd="3" destOrd="0" presId="urn:microsoft.com/office/officeart/2018/2/layout/IconVerticalSolidList"/>
    <dgm:cxn modelId="{AFA99AED-7177-4001-BFBA-8E45884F1790}" type="presParOf" srcId="{9672BE27-EF47-493E-AEDE-0D89C5DB7F67}" destId="{6B70E237-DD96-48EB-AA2F-FEA9AB1448F9}" srcOrd="4" destOrd="0" presId="urn:microsoft.com/office/officeart/2018/2/layout/IconVerticalSolidList"/>
    <dgm:cxn modelId="{1123946E-0357-47B2-9A5A-A3F20E5E572C}" type="presParOf" srcId="{4692562D-63EA-43BF-BE38-3D36F9093567}" destId="{C866E5DB-55B5-434F-88CA-5802594D8CEE}" srcOrd="3" destOrd="0" presId="urn:microsoft.com/office/officeart/2018/2/layout/IconVerticalSolidList"/>
    <dgm:cxn modelId="{B2B00BB0-EB99-4A21-A400-F641C54FD9C1}" type="presParOf" srcId="{4692562D-63EA-43BF-BE38-3D36F9093567}" destId="{A694E07F-23FD-4657-BA39-30F213E0809C}" srcOrd="4" destOrd="0" presId="urn:microsoft.com/office/officeart/2018/2/layout/IconVerticalSolidList"/>
    <dgm:cxn modelId="{543776DB-342A-4C52-9DFC-36F5922FD2DC}" type="presParOf" srcId="{A694E07F-23FD-4657-BA39-30F213E0809C}" destId="{0DD87826-E5E5-40DD-93B5-86611FD9B601}" srcOrd="0" destOrd="0" presId="urn:microsoft.com/office/officeart/2018/2/layout/IconVerticalSolidList"/>
    <dgm:cxn modelId="{DCF80D47-0AAA-4EAF-B204-7B6F09866DF4}" type="presParOf" srcId="{A694E07F-23FD-4657-BA39-30F213E0809C}" destId="{1883FE82-5D49-477D-A513-7478DA7FC3B7}" srcOrd="1" destOrd="0" presId="urn:microsoft.com/office/officeart/2018/2/layout/IconVerticalSolidList"/>
    <dgm:cxn modelId="{F4D51B3A-6FD0-4296-9CBA-084E697EFB22}" type="presParOf" srcId="{A694E07F-23FD-4657-BA39-30F213E0809C}" destId="{ADDE6401-7889-40A1-B882-4D5AD338DF3F}" srcOrd="2" destOrd="0" presId="urn:microsoft.com/office/officeart/2018/2/layout/IconVerticalSolidList"/>
    <dgm:cxn modelId="{3E27C4F6-11AF-4C65-823C-47F8E69CF73A}" type="presParOf" srcId="{A694E07F-23FD-4657-BA39-30F213E0809C}" destId="{892AC55A-0F4E-45D0-83A7-D1C3CB00F2C9}" srcOrd="3" destOrd="0" presId="urn:microsoft.com/office/officeart/2018/2/layout/IconVerticalSolidList"/>
    <dgm:cxn modelId="{AF39BFC7-DBB6-4113-96E8-6E4421447FBD}" type="presParOf" srcId="{A694E07F-23FD-4657-BA39-30F213E0809C}" destId="{5AFC764E-A1EC-4104-A2E0-536D190A762B}" srcOrd="4" destOrd="0" presId="urn:microsoft.com/office/officeart/2018/2/layout/IconVerticalSolidList"/>
    <dgm:cxn modelId="{1CBA7FB1-5EF9-4947-8DB5-221150318346}" type="presParOf" srcId="{4692562D-63EA-43BF-BE38-3D36F9093567}" destId="{40D7222C-B799-4DD9-B60F-2FC97B07CC31}" srcOrd="5" destOrd="0" presId="urn:microsoft.com/office/officeart/2018/2/layout/IconVerticalSolidList"/>
    <dgm:cxn modelId="{A22B9EF7-D568-4040-9CAA-70F79F3B8D76}" type="presParOf" srcId="{4692562D-63EA-43BF-BE38-3D36F9093567}" destId="{29986E3D-EF90-4476-A667-0E93692A3643}" srcOrd="6" destOrd="0" presId="urn:microsoft.com/office/officeart/2018/2/layout/IconVerticalSolidList"/>
    <dgm:cxn modelId="{49997812-5302-4ECE-B58D-AC8D037CF06E}" type="presParOf" srcId="{29986E3D-EF90-4476-A667-0E93692A3643}" destId="{EDEB86DB-2EF4-4604-BFD5-44F4F2AE5B9C}" srcOrd="0" destOrd="0" presId="urn:microsoft.com/office/officeart/2018/2/layout/IconVerticalSolidList"/>
    <dgm:cxn modelId="{0167B2AB-1423-4332-AC45-D68F809B0393}" type="presParOf" srcId="{29986E3D-EF90-4476-A667-0E93692A3643}" destId="{F99E6F17-F74A-4789-B353-E6436AA5A507}" srcOrd="1" destOrd="0" presId="urn:microsoft.com/office/officeart/2018/2/layout/IconVerticalSolidList"/>
    <dgm:cxn modelId="{E9D4AEC3-9C74-4C82-88A7-D8F1EBCB34EE}" type="presParOf" srcId="{29986E3D-EF90-4476-A667-0E93692A3643}" destId="{52D5506C-1DA3-4D1B-BA1A-61452388AD61}" srcOrd="2" destOrd="0" presId="urn:microsoft.com/office/officeart/2018/2/layout/IconVerticalSolidList"/>
    <dgm:cxn modelId="{DFF0E384-2450-4FB0-A22C-5CF14375178F}" type="presParOf" srcId="{29986E3D-EF90-4476-A667-0E93692A3643}" destId="{30FAB8D1-3264-439A-8626-CEDF7544276D}" srcOrd="3" destOrd="0" presId="urn:microsoft.com/office/officeart/2018/2/layout/IconVerticalSolidList"/>
    <dgm:cxn modelId="{D58DC05E-45B5-4B5C-966B-6C914DEC5C74}" type="presParOf" srcId="{29986E3D-EF90-4476-A667-0E93692A3643}" destId="{64C9C849-C819-405B-8ABA-D1A4FD43D92B}" srcOrd="4" destOrd="0" presId="urn:microsoft.com/office/officeart/2018/2/layout/IconVerticalSolidList"/>
    <dgm:cxn modelId="{6BC41178-121F-463F-A0AB-96FF3379F92A}" type="presParOf" srcId="{4692562D-63EA-43BF-BE38-3D36F9093567}" destId="{FC480976-5CB5-4A9B-A8FA-A65B7D55F734}" srcOrd="7" destOrd="0" presId="urn:microsoft.com/office/officeart/2018/2/layout/IconVerticalSolidList"/>
    <dgm:cxn modelId="{2D272AF2-9F15-47B3-BCC6-3F94AA6A0ADF}" type="presParOf" srcId="{4692562D-63EA-43BF-BE38-3D36F9093567}" destId="{1C05BAAC-93B5-4EDE-97FB-F14A62933A95}" srcOrd="8" destOrd="0" presId="urn:microsoft.com/office/officeart/2018/2/layout/IconVerticalSolidList"/>
    <dgm:cxn modelId="{88263F49-CA5B-4E76-BCBC-45E114CE187E}" type="presParOf" srcId="{1C05BAAC-93B5-4EDE-97FB-F14A62933A95}" destId="{84772C96-C443-4360-9F44-989189DC9A5E}" srcOrd="0" destOrd="0" presId="urn:microsoft.com/office/officeart/2018/2/layout/IconVerticalSolidList"/>
    <dgm:cxn modelId="{0B4C55D6-0DC0-45F6-92F4-2B65F7B0435F}" type="presParOf" srcId="{1C05BAAC-93B5-4EDE-97FB-F14A62933A95}" destId="{29552D5C-05EF-4276-A977-BC36D92391F6}" srcOrd="1" destOrd="0" presId="urn:microsoft.com/office/officeart/2018/2/layout/IconVerticalSolidList"/>
    <dgm:cxn modelId="{BE05182C-1F0C-47D0-AE4C-3F4A7645FB50}" type="presParOf" srcId="{1C05BAAC-93B5-4EDE-97FB-F14A62933A95}" destId="{B41E4526-1FB6-45EF-BF2D-B9763C4E5717}" srcOrd="2" destOrd="0" presId="urn:microsoft.com/office/officeart/2018/2/layout/IconVerticalSolidList"/>
    <dgm:cxn modelId="{86BF1290-68C6-46CB-A88E-D2872125B3B8}" type="presParOf" srcId="{1C05BAAC-93B5-4EDE-97FB-F14A62933A95}" destId="{31BD292F-C0AF-4792-B7CE-03C5414D14D0}" srcOrd="3" destOrd="0" presId="urn:microsoft.com/office/officeart/2018/2/layout/IconVerticalSolidList"/>
    <dgm:cxn modelId="{DA7BBA6B-75B1-4C8A-8B7D-A1867A93B65A}" type="presParOf" srcId="{1C05BAAC-93B5-4EDE-97FB-F14A62933A95}" destId="{44C23185-DBA2-4EE8-9176-A51A0E390E31}" srcOrd="4" destOrd="0" presId="urn:microsoft.com/office/officeart/2018/2/layout/IconVerticalSolidList"/>
    <dgm:cxn modelId="{6DDC3974-ADD9-4CFC-B032-C208837DC114}" type="presParOf" srcId="{4692562D-63EA-43BF-BE38-3D36F9093567}" destId="{6778B9E1-E636-49CA-ABAF-4A876A2F7737}" srcOrd="9" destOrd="0" presId="urn:microsoft.com/office/officeart/2018/2/layout/IconVerticalSolidList"/>
    <dgm:cxn modelId="{E45CC25A-0686-40C1-B64F-B4C478D8F40F}" type="presParOf" srcId="{4692562D-63EA-43BF-BE38-3D36F9093567}" destId="{F586ED3E-0AAA-43CE-B3D7-D3E216D1F9DB}" srcOrd="10" destOrd="0" presId="urn:microsoft.com/office/officeart/2018/2/layout/IconVerticalSolidList"/>
    <dgm:cxn modelId="{51A8CF6B-9C45-4A9A-9F0D-65FB764DF806}" type="presParOf" srcId="{F586ED3E-0AAA-43CE-B3D7-D3E216D1F9DB}" destId="{10EB0A1C-E2D5-4257-9D86-71E027E3C4B3}" srcOrd="0" destOrd="0" presId="urn:microsoft.com/office/officeart/2018/2/layout/IconVerticalSolidList"/>
    <dgm:cxn modelId="{605365F5-EECA-4B38-864B-8A8AB5276C31}" type="presParOf" srcId="{F586ED3E-0AAA-43CE-B3D7-D3E216D1F9DB}" destId="{5D0DFCC2-C2D4-4455-B6C6-49EA80CE8104}" srcOrd="1" destOrd="0" presId="urn:microsoft.com/office/officeart/2018/2/layout/IconVerticalSolidList"/>
    <dgm:cxn modelId="{C44EF1BE-93E6-4B7C-A78C-423D1824D19D}" type="presParOf" srcId="{F586ED3E-0AAA-43CE-B3D7-D3E216D1F9DB}" destId="{226EDE1E-6696-4F65-811F-57C7A9474A3A}" srcOrd="2" destOrd="0" presId="urn:microsoft.com/office/officeart/2018/2/layout/IconVerticalSolidList"/>
    <dgm:cxn modelId="{D7E30910-4A91-4938-AE33-5A146C16558C}" type="presParOf" srcId="{F586ED3E-0AAA-43CE-B3D7-D3E216D1F9DB}" destId="{613D7DB9-0FC5-4376-9C17-E110A8DAC0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1487DD-970C-4F71-AD74-0AC4E6CDAC2F}">
      <dsp:nvSpPr>
        <dsp:cNvPr id="0" name=""/>
        <dsp:cNvSpPr/>
      </dsp:nvSpPr>
      <dsp:spPr>
        <a:xfrm>
          <a:off x="0" y="77561"/>
          <a:ext cx="10515600" cy="7160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Goal:</a:t>
          </a:r>
          <a:r>
            <a:rPr lang="en-US" sz="1800" kern="1200" dirty="0"/>
            <a:t> Classify whether a data‑science professional earns above or below the median salary using machine‑learning models.</a:t>
          </a:r>
        </a:p>
      </dsp:txBody>
      <dsp:txXfrm>
        <a:off x="34954" y="112515"/>
        <a:ext cx="10445692" cy="646132"/>
      </dsp:txXfrm>
    </dsp:sp>
    <dsp:sp modelId="{713224BF-828B-41B4-AE52-FE069967D013}">
      <dsp:nvSpPr>
        <dsp:cNvPr id="0" name=""/>
        <dsp:cNvSpPr/>
      </dsp:nvSpPr>
      <dsp:spPr>
        <a:xfrm>
          <a:off x="0" y="845442"/>
          <a:ext cx="10515600" cy="7160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r>
            <a:rPr lang="en-US" sz="1800" kern="1200"/>
            <a:t> Organizations need clear, data‑driven insights to support compensation planning, pay equity, and competitive hiring.</a:t>
          </a:r>
        </a:p>
      </dsp:txBody>
      <dsp:txXfrm>
        <a:off x="34954" y="880396"/>
        <a:ext cx="10445692" cy="646132"/>
      </dsp:txXfrm>
    </dsp:sp>
    <dsp:sp modelId="{49F4DC88-CD07-4EC8-B7E9-CA938CB53082}">
      <dsp:nvSpPr>
        <dsp:cNvPr id="0" name=""/>
        <dsp:cNvSpPr/>
      </dsp:nvSpPr>
      <dsp:spPr>
        <a:xfrm>
          <a:off x="0" y="1613321"/>
          <a:ext cx="10515600" cy="7160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What This Project Covers:</a:t>
          </a:r>
          <a:endParaRPr lang="en-US" sz="1800" kern="1200"/>
        </a:p>
      </dsp:txBody>
      <dsp:txXfrm>
        <a:off x="34954" y="1648275"/>
        <a:ext cx="10445692" cy="646132"/>
      </dsp:txXfrm>
    </dsp:sp>
    <dsp:sp modelId="{9A8D5B6B-982B-4793-AA2D-33FCB1480902}">
      <dsp:nvSpPr>
        <dsp:cNvPr id="0" name=""/>
        <dsp:cNvSpPr/>
      </dsp:nvSpPr>
      <dsp:spPr>
        <a:xfrm>
          <a:off x="0" y="2329362"/>
          <a:ext cx="10515600" cy="1229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Understanding the dataset and key salary‑related features</a:t>
          </a:r>
        </a:p>
        <a:p>
          <a:pPr marL="114300" lvl="1" indent="-114300" algn="l" defTabSz="622300">
            <a:lnSpc>
              <a:spcPct val="90000"/>
            </a:lnSpc>
            <a:spcBef>
              <a:spcPct val="0"/>
            </a:spcBef>
            <a:spcAft>
              <a:spcPct val="20000"/>
            </a:spcAft>
            <a:buChar char="•"/>
          </a:pPr>
          <a:r>
            <a:rPr lang="en-US" sz="1400" kern="1200"/>
            <a:t>Building and comparing multiple ML classification models</a:t>
          </a:r>
        </a:p>
        <a:p>
          <a:pPr marL="114300" lvl="1" indent="-114300" algn="l" defTabSz="622300">
            <a:lnSpc>
              <a:spcPct val="90000"/>
            </a:lnSpc>
            <a:spcBef>
              <a:spcPct val="0"/>
            </a:spcBef>
            <a:spcAft>
              <a:spcPct val="20000"/>
            </a:spcAft>
            <a:buChar char="•"/>
          </a:pPr>
          <a:r>
            <a:rPr lang="en-US" sz="1400" kern="1200"/>
            <a:t>Identifying the strongest predictors of higher salary outcomes</a:t>
          </a:r>
        </a:p>
        <a:p>
          <a:pPr marL="114300" lvl="1" indent="-114300" algn="l" defTabSz="622300">
            <a:lnSpc>
              <a:spcPct val="90000"/>
            </a:lnSpc>
            <a:spcBef>
              <a:spcPct val="0"/>
            </a:spcBef>
            <a:spcAft>
              <a:spcPct val="20000"/>
            </a:spcAft>
            <a:buChar char="•"/>
          </a:pPr>
          <a:r>
            <a:rPr lang="en-US" sz="1400" kern="1200"/>
            <a:t>Selecting the best model for accuracy and interpretability</a:t>
          </a:r>
        </a:p>
        <a:p>
          <a:pPr marL="114300" lvl="1" indent="-114300" algn="l" defTabSz="622300">
            <a:lnSpc>
              <a:spcPct val="90000"/>
            </a:lnSpc>
            <a:spcBef>
              <a:spcPct val="0"/>
            </a:spcBef>
            <a:spcAft>
              <a:spcPct val="20000"/>
            </a:spcAft>
            <a:buChar char="•"/>
          </a:pPr>
          <a:r>
            <a:rPr lang="en-US" sz="1400" kern="1200"/>
            <a:t>Providing actionable insights for HR, recruiting, and workforce strategy</a:t>
          </a:r>
        </a:p>
      </dsp:txBody>
      <dsp:txXfrm>
        <a:off x="0" y="2329362"/>
        <a:ext cx="10515600" cy="1229580"/>
      </dsp:txXfrm>
    </dsp:sp>
    <dsp:sp modelId="{AE4413CF-2BA9-49E3-8111-4128671872CD}">
      <dsp:nvSpPr>
        <dsp:cNvPr id="0" name=""/>
        <dsp:cNvSpPr/>
      </dsp:nvSpPr>
      <dsp:spPr>
        <a:xfrm>
          <a:off x="0" y="3558942"/>
          <a:ext cx="10515600" cy="7160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Outcome:</a:t>
          </a:r>
          <a:r>
            <a:rPr lang="en-US" sz="1800" kern="1200"/>
            <a:t> A reliable, interpretable salary‑classification model that highlights the factors most strongly associated with higher compensation.</a:t>
          </a:r>
        </a:p>
      </dsp:txBody>
      <dsp:txXfrm>
        <a:off x="34954" y="3593896"/>
        <a:ext cx="10445692" cy="6461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2119C-1E77-4230-A6BA-4B84C92FC23F}">
      <dsp:nvSpPr>
        <dsp:cNvPr id="0" name=""/>
        <dsp:cNvSpPr/>
      </dsp:nvSpPr>
      <dsp:spPr>
        <a:xfrm rot="5400000">
          <a:off x="6589693" y="-2661723"/>
          <a:ext cx="1121829"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Real salary records for U.S. data‑science and analytics professionals</a:t>
          </a:r>
        </a:p>
        <a:p>
          <a:pPr marL="114300" lvl="1" indent="-114300" algn="l" defTabSz="666750">
            <a:lnSpc>
              <a:spcPct val="90000"/>
            </a:lnSpc>
            <a:spcBef>
              <a:spcPct val="0"/>
            </a:spcBef>
            <a:spcAft>
              <a:spcPct val="15000"/>
            </a:spcAft>
            <a:buChar char="•"/>
          </a:pPr>
          <a:r>
            <a:rPr lang="en-US" sz="1500" kern="1200"/>
            <a:t>Includes job titles, experience levels, company size, remote work, and employment type</a:t>
          </a:r>
        </a:p>
        <a:p>
          <a:pPr marL="114300" lvl="1" indent="-114300" algn="l" defTabSz="666750">
            <a:lnSpc>
              <a:spcPct val="90000"/>
            </a:lnSpc>
            <a:spcBef>
              <a:spcPct val="0"/>
            </a:spcBef>
            <a:spcAft>
              <a:spcPct val="15000"/>
            </a:spcAft>
            <a:buChar char="•"/>
          </a:pPr>
          <a:r>
            <a:rPr lang="en-US" sz="1500" kern="1200"/>
            <a:t>Median salary category used as a stable classification target</a:t>
          </a:r>
        </a:p>
      </dsp:txBody>
      <dsp:txXfrm rot="-5400000">
        <a:off x="3785616" y="197117"/>
        <a:ext cx="6675221" cy="1012303"/>
      </dsp:txXfrm>
    </dsp:sp>
    <dsp:sp modelId="{6CE83C24-B6FE-4074-9EB1-405AB2D359B5}">
      <dsp:nvSpPr>
        <dsp:cNvPr id="0" name=""/>
        <dsp:cNvSpPr/>
      </dsp:nvSpPr>
      <dsp:spPr>
        <a:xfrm>
          <a:off x="0" y="2124"/>
          <a:ext cx="3785616" cy="1402286"/>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defRPr b="1"/>
          </a:pPr>
          <a:r>
            <a:rPr lang="en-US" sz="3200" b="1" kern="1200" dirty="0"/>
            <a:t>What This Dataset Represents</a:t>
          </a:r>
          <a:endParaRPr lang="en-US" sz="3200" kern="1200" dirty="0"/>
        </a:p>
      </dsp:txBody>
      <dsp:txXfrm>
        <a:off x="68454" y="70578"/>
        <a:ext cx="3648708" cy="1265378"/>
      </dsp:txXfrm>
    </dsp:sp>
    <dsp:sp modelId="{C7DDBB2D-3023-4618-B9F6-40D7C9C25C33}">
      <dsp:nvSpPr>
        <dsp:cNvPr id="0" name=""/>
        <dsp:cNvSpPr/>
      </dsp:nvSpPr>
      <dsp:spPr>
        <a:xfrm rot="5400000">
          <a:off x="6589693" y="-1189323"/>
          <a:ext cx="1121829"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Salary variation is large across roles, industries, and experience levels</a:t>
          </a:r>
        </a:p>
        <a:p>
          <a:pPr marL="114300" lvl="1" indent="-114300" algn="l" defTabSz="666750">
            <a:lnSpc>
              <a:spcPct val="90000"/>
            </a:lnSpc>
            <a:spcBef>
              <a:spcPct val="0"/>
            </a:spcBef>
            <a:spcAft>
              <a:spcPct val="15000"/>
            </a:spcAft>
            <a:buChar char="•"/>
          </a:pPr>
          <a:r>
            <a:rPr lang="en-US" sz="1500" kern="1200"/>
            <a:t>Companies need data‑driven compensation benchmarks</a:t>
          </a:r>
        </a:p>
        <a:p>
          <a:pPr marL="114300" lvl="1" indent="-114300" algn="l" defTabSz="666750">
            <a:lnSpc>
              <a:spcPct val="90000"/>
            </a:lnSpc>
            <a:spcBef>
              <a:spcPct val="0"/>
            </a:spcBef>
            <a:spcAft>
              <a:spcPct val="15000"/>
            </a:spcAft>
            <a:buChar char="•"/>
          </a:pPr>
          <a:r>
            <a:rPr lang="en-US" sz="1500" kern="1200"/>
            <a:t>Job seekers want clarity on what drives higher pay</a:t>
          </a:r>
        </a:p>
        <a:p>
          <a:pPr marL="114300" lvl="1" indent="-114300" algn="l" defTabSz="666750">
            <a:lnSpc>
              <a:spcPct val="90000"/>
            </a:lnSpc>
            <a:spcBef>
              <a:spcPct val="0"/>
            </a:spcBef>
            <a:spcAft>
              <a:spcPct val="15000"/>
            </a:spcAft>
            <a:buChar char="•"/>
          </a:pPr>
          <a:r>
            <a:rPr lang="en-US" sz="1500" kern="1200"/>
            <a:t>Supports pay‑equity, hiring strategy, and workforce planning</a:t>
          </a:r>
        </a:p>
      </dsp:txBody>
      <dsp:txXfrm rot="-5400000">
        <a:off x="3785616" y="1669517"/>
        <a:ext cx="6675221" cy="1012303"/>
      </dsp:txXfrm>
    </dsp:sp>
    <dsp:sp modelId="{F7239554-D397-45BC-B2E8-D7A0D11F2632}">
      <dsp:nvSpPr>
        <dsp:cNvPr id="0" name=""/>
        <dsp:cNvSpPr/>
      </dsp:nvSpPr>
      <dsp:spPr>
        <a:xfrm>
          <a:off x="0" y="1474525"/>
          <a:ext cx="3785616" cy="1402286"/>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defRPr b="1"/>
          </a:pPr>
          <a:r>
            <a:rPr lang="en-US" sz="3200" b="1" kern="1200"/>
            <a:t>Why Salary Analysis Matters</a:t>
          </a:r>
          <a:endParaRPr lang="en-US" sz="3200" kern="1200"/>
        </a:p>
      </dsp:txBody>
      <dsp:txXfrm>
        <a:off x="68454" y="1542979"/>
        <a:ext cx="3648708" cy="1265378"/>
      </dsp:txXfrm>
    </dsp:sp>
    <dsp:sp modelId="{1EAD5F0D-3478-4527-9ADB-3F1B2462A74F}">
      <dsp:nvSpPr>
        <dsp:cNvPr id="0" name=""/>
        <dsp:cNvSpPr/>
      </dsp:nvSpPr>
      <dsp:spPr>
        <a:xfrm rot="5400000">
          <a:off x="6589693" y="283077"/>
          <a:ext cx="1121829"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Build machine‑learning models to classify salaries as above or below median</a:t>
          </a:r>
        </a:p>
        <a:p>
          <a:pPr marL="114300" lvl="1" indent="-114300" algn="l" defTabSz="666750">
            <a:lnSpc>
              <a:spcPct val="90000"/>
            </a:lnSpc>
            <a:spcBef>
              <a:spcPct val="0"/>
            </a:spcBef>
            <a:spcAft>
              <a:spcPct val="15000"/>
            </a:spcAft>
            <a:buChar char="•"/>
          </a:pPr>
          <a:r>
            <a:rPr lang="en-US" sz="1500" kern="1200"/>
            <a:t>Identify the strongest predictors of higher compensation</a:t>
          </a:r>
        </a:p>
        <a:p>
          <a:pPr marL="114300" lvl="1" indent="-114300" algn="l" defTabSz="666750">
            <a:lnSpc>
              <a:spcPct val="90000"/>
            </a:lnSpc>
            <a:spcBef>
              <a:spcPct val="0"/>
            </a:spcBef>
            <a:spcAft>
              <a:spcPct val="15000"/>
            </a:spcAft>
            <a:buChar char="•"/>
          </a:pPr>
          <a:r>
            <a:rPr lang="en-US" sz="1500" kern="1200"/>
            <a:t>Provide interpretable insights for HR, recruiting, and leadership</a:t>
          </a:r>
        </a:p>
      </dsp:txBody>
      <dsp:txXfrm rot="-5400000">
        <a:off x="3785616" y="3141918"/>
        <a:ext cx="6675221" cy="1012303"/>
      </dsp:txXfrm>
    </dsp:sp>
    <dsp:sp modelId="{F69C8493-BA04-4435-829F-CDC5E21E18AB}">
      <dsp:nvSpPr>
        <dsp:cNvPr id="0" name=""/>
        <dsp:cNvSpPr/>
      </dsp:nvSpPr>
      <dsp:spPr>
        <a:xfrm>
          <a:off x="0" y="2946926"/>
          <a:ext cx="3785616" cy="1402286"/>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defRPr b="1"/>
          </a:pPr>
          <a:r>
            <a:rPr lang="en-US" sz="3200" b="1" kern="1200"/>
            <a:t>Purpose of This Analysis</a:t>
          </a:r>
          <a:endParaRPr lang="en-US" sz="3200" kern="1200"/>
        </a:p>
      </dsp:txBody>
      <dsp:txXfrm>
        <a:off x="68454" y="3015380"/>
        <a:ext cx="3648708" cy="12653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73FB3B-DBAB-4526-AA76-49510014591F}">
      <dsp:nvSpPr>
        <dsp:cNvPr id="0" name=""/>
        <dsp:cNvSpPr/>
      </dsp:nvSpPr>
      <dsp:spPr>
        <a:xfrm>
          <a:off x="0" y="1974438"/>
          <a:ext cx="10515600" cy="0"/>
        </a:xfrm>
        <a:prstGeom prst="lin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2A0C8A-4A35-4963-B4B1-F5ED9F653112}">
      <dsp:nvSpPr>
        <dsp:cNvPr id="0" name=""/>
        <dsp:cNvSpPr/>
      </dsp:nvSpPr>
      <dsp:spPr>
        <a:xfrm>
          <a:off x="181507" y="1224151"/>
          <a:ext cx="2643276" cy="473865"/>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2010–2014</a:t>
          </a:r>
        </a:p>
      </dsp:txBody>
      <dsp:txXfrm>
        <a:off x="181507" y="1224151"/>
        <a:ext cx="2643276" cy="473865"/>
      </dsp:txXfrm>
    </dsp:sp>
    <dsp:sp modelId="{05088F65-0C60-47F2-AE9C-C5458B0D7048}">
      <dsp:nvSpPr>
        <dsp:cNvPr id="0" name=""/>
        <dsp:cNvSpPr/>
      </dsp:nvSpPr>
      <dsp:spPr>
        <a:xfrm>
          <a:off x="181507" y="328990"/>
          <a:ext cx="2643276" cy="89516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Big Data Era</a:t>
          </a:r>
        </a:p>
        <a:p>
          <a:pPr marL="57150" lvl="1" indent="-57150" algn="l" defTabSz="400050">
            <a:lnSpc>
              <a:spcPct val="90000"/>
            </a:lnSpc>
            <a:spcBef>
              <a:spcPct val="0"/>
            </a:spcBef>
            <a:spcAft>
              <a:spcPct val="15000"/>
            </a:spcAft>
            <a:buChar char="•"/>
          </a:pPr>
          <a:r>
            <a:rPr lang="en-US" sz="900" kern="1200"/>
            <a:t>Companies adopt Hadoop/Spark</a:t>
          </a:r>
        </a:p>
        <a:p>
          <a:pPr marL="57150" lvl="1" indent="-57150" algn="l" defTabSz="400050">
            <a:lnSpc>
              <a:spcPct val="90000"/>
            </a:lnSpc>
            <a:spcBef>
              <a:spcPct val="0"/>
            </a:spcBef>
            <a:spcAft>
              <a:spcPct val="15000"/>
            </a:spcAft>
            <a:buChar char="•"/>
          </a:pPr>
          <a:r>
            <a:rPr lang="en-US" sz="900" kern="1200"/>
            <a:t>Demand for data talent surges</a:t>
          </a:r>
        </a:p>
        <a:p>
          <a:pPr marL="57150" lvl="1" indent="-57150" algn="l" defTabSz="400050">
            <a:lnSpc>
              <a:spcPct val="90000"/>
            </a:lnSpc>
            <a:spcBef>
              <a:spcPct val="0"/>
            </a:spcBef>
            <a:spcAft>
              <a:spcPct val="15000"/>
            </a:spcAft>
            <a:buChar char="•"/>
          </a:pPr>
          <a:r>
            <a:rPr lang="en-US" sz="900" kern="1200"/>
            <a:t>Salaries rise due to scarcity</a:t>
          </a:r>
        </a:p>
      </dsp:txBody>
      <dsp:txXfrm>
        <a:off x="181507" y="328990"/>
        <a:ext cx="2643276" cy="895160"/>
      </dsp:txXfrm>
    </dsp:sp>
    <dsp:sp modelId="{ED456B51-235D-4ADF-A5A6-B463AF2A1179}">
      <dsp:nvSpPr>
        <dsp:cNvPr id="0" name=""/>
        <dsp:cNvSpPr/>
      </dsp:nvSpPr>
      <dsp:spPr>
        <a:xfrm>
          <a:off x="1503145" y="1698016"/>
          <a:ext cx="0" cy="276421"/>
        </a:xfrm>
        <a:prstGeom prst="line">
          <a:avLst/>
        </a:pr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8B00AD1-DEAB-43F3-AF4F-2275A39D98B7}">
      <dsp:nvSpPr>
        <dsp:cNvPr id="0" name=""/>
        <dsp:cNvSpPr/>
      </dsp:nvSpPr>
      <dsp:spPr>
        <a:xfrm>
          <a:off x="1683368" y="2250859"/>
          <a:ext cx="2643276" cy="473865"/>
        </a:xfrm>
        <a:prstGeom prst="rect">
          <a:avLst/>
        </a:prstGeom>
        <a:solidFill>
          <a:schemeClr val="accent2">
            <a:hueOff val="1288723"/>
            <a:satOff val="-3699"/>
            <a:lumOff val="-5922"/>
            <a:alphaOff val="0"/>
          </a:schemeClr>
        </a:solidFill>
        <a:ln w="19050" cap="flat" cmpd="sng" algn="ctr">
          <a:solidFill>
            <a:schemeClr val="accent2">
              <a:hueOff val="1288723"/>
              <a:satOff val="-3699"/>
              <a:lumOff val="-5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2015–2018</a:t>
          </a:r>
        </a:p>
      </dsp:txBody>
      <dsp:txXfrm>
        <a:off x="1683368" y="2250859"/>
        <a:ext cx="2643276" cy="473865"/>
      </dsp:txXfrm>
    </dsp:sp>
    <dsp:sp modelId="{A6CF4211-5CC0-4919-A677-684820176A3C}">
      <dsp:nvSpPr>
        <dsp:cNvPr id="0" name=""/>
        <dsp:cNvSpPr/>
      </dsp:nvSpPr>
      <dsp:spPr>
        <a:xfrm>
          <a:off x="1683368" y="2724724"/>
          <a:ext cx="2643276" cy="895160"/>
        </a:xfrm>
        <a:prstGeom prst="rect">
          <a:avLst/>
        </a:prstGeom>
        <a:solidFill>
          <a:schemeClr val="accent2">
            <a:tint val="40000"/>
            <a:alpha val="90000"/>
            <a:hueOff val="1346944"/>
            <a:satOff val="-12446"/>
            <a:lumOff val="-1403"/>
            <a:alphaOff val="0"/>
          </a:schemeClr>
        </a:solidFill>
        <a:ln w="19050" cap="flat" cmpd="sng" algn="ctr">
          <a:solidFill>
            <a:schemeClr val="accent2">
              <a:tint val="40000"/>
              <a:alpha val="90000"/>
              <a:hueOff val="1346944"/>
              <a:satOff val="-12446"/>
              <a:lumOff val="-14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ML Goes Mainstream</a:t>
          </a:r>
        </a:p>
        <a:p>
          <a:pPr marL="57150" lvl="1" indent="-57150" algn="l" defTabSz="400050">
            <a:lnSpc>
              <a:spcPct val="90000"/>
            </a:lnSpc>
            <a:spcBef>
              <a:spcPct val="0"/>
            </a:spcBef>
            <a:spcAft>
              <a:spcPct val="15000"/>
            </a:spcAft>
            <a:buChar char="•"/>
          </a:pPr>
          <a:r>
            <a:rPr lang="en-US" sz="900" kern="1200"/>
            <a:t>Python + ML libraries mature</a:t>
          </a:r>
        </a:p>
        <a:p>
          <a:pPr marL="57150" lvl="1" indent="-57150" algn="l" defTabSz="400050">
            <a:lnSpc>
              <a:spcPct val="90000"/>
            </a:lnSpc>
            <a:spcBef>
              <a:spcPct val="0"/>
            </a:spcBef>
            <a:spcAft>
              <a:spcPct val="15000"/>
            </a:spcAft>
            <a:buChar char="•"/>
          </a:pPr>
          <a:r>
            <a:rPr lang="en-US" sz="900" kern="1200"/>
            <a:t>Specialized roles emerge</a:t>
          </a:r>
        </a:p>
        <a:p>
          <a:pPr marL="57150" lvl="1" indent="-57150" algn="l" defTabSz="400050">
            <a:lnSpc>
              <a:spcPct val="90000"/>
            </a:lnSpc>
            <a:spcBef>
              <a:spcPct val="0"/>
            </a:spcBef>
            <a:spcAft>
              <a:spcPct val="15000"/>
            </a:spcAft>
            <a:buChar char="•"/>
          </a:pPr>
          <a:r>
            <a:rPr lang="en-US" sz="900" kern="1200"/>
            <a:t>Salary gaps widen</a:t>
          </a:r>
        </a:p>
      </dsp:txBody>
      <dsp:txXfrm>
        <a:off x="1683368" y="2724724"/>
        <a:ext cx="2643276" cy="895160"/>
      </dsp:txXfrm>
    </dsp:sp>
    <dsp:sp modelId="{61C29056-6D09-46DD-A56F-8D6D3671F63F}">
      <dsp:nvSpPr>
        <dsp:cNvPr id="0" name=""/>
        <dsp:cNvSpPr/>
      </dsp:nvSpPr>
      <dsp:spPr>
        <a:xfrm>
          <a:off x="3005007" y="1974437"/>
          <a:ext cx="0" cy="276421"/>
        </a:xfrm>
        <a:prstGeom prst="line">
          <a:avLst/>
        </a:prstGeom>
        <a:noFill/>
        <a:ln w="12700" cap="flat" cmpd="sng" algn="ctr">
          <a:solidFill>
            <a:schemeClr val="accent2">
              <a:hueOff val="1288723"/>
              <a:satOff val="-3699"/>
              <a:lumOff val="-5922"/>
              <a:alphaOff val="0"/>
            </a:schemeClr>
          </a:solidFill>
          <a:prstDash val="solid"/>
          <a:miter lim="800000"/>
        </a:ln>
        <a:effectLst/>
      </dsp:spPr>
      <dsp:style>
        <a:lnRef idx="1">
          <a:scrgbClr r="0" g="0" b="0"/>
        </a:lnRef>
        <a:fillRef idx="0">
          <a:scrgbClr r="0" g="0" b="0"/>
        </a:fillRef>
        <a:effectRef idx="0">
          <a:scrgbClr r="0" g="0" b="0"/>
        </a:effectRef>
        <a:fontRef idx="minor"/>
      </dsp:style>
    </dsp:sp>
    <dsp:sp modelId="{100C1844-1894-4B90-A12B-6D37CCA84D39}">
      <dsp:nvSpPr>
        <dsp:cNvPr id="0" name=""/>
        <dsp:cNvSpPr/>
      </dsp:nvSpPr>
      <dsp:spPr>
        <a:xfrm rot="2700000">
          <a:off x="1472430" y="1943722"/>
          <a:ext cx="61430" cy="61430"/>
        </a:xfrm>
        <a:prstGeom prst="rect">
          <a:avLst/>
        </a:prstGeom>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8318B6-9A04-4BFB-8C16-5EA644ED22A6}">
      <dsp:nvSpPr>
        <dsp:cNvPr id="0" name=""/>
        <dsp:cNvSpPr/>
      </dsp:nvSpPr>
      <dsp:spPr>
        <a:xfrm rot="2700000">
          <a:off x="2974292" y="1943722"/>
          <a:ext cx="61430" cy="61430"/>
        </a:xfrm>
        <a:prstGeom prst="rect">
          <a:avLst/>
        </a:prstGeom>
        <a:solidFill>
          <a:schemeClr val="accent2">
            <a:hueOff val="1288723"/>
            <a:satOff val="-3699"/>
            <a:lumOff val="-5922"/>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F17D2E-9829-4F7A-82A4-3B5FACBEC271}">
      <dsp:nvSpPr>
        <dsp:cNvPr id="0" name=""/>
        <dsp:cNvSpPr/>
      </dsp:nvSpPr>
      <dsp:spPr>
        <a:xfrm>
          <a:off x="3185230" y="1224151"/>
          <a:ext cx="2643276" cy="473865"/>
        </a:xfrm>
        <a:prstGeom prst="rect">
          <a:avLst/>
        </a:prstGeom>
        <a:solidFill>
          <a:schemeClr val="accent2">
            <a:hueOff val="2577445"/>
            <a:satOff val="-7397"/>
            <a:lumOff val="-11844"/>
            <a:alphaOff val="0"/>
          </a:schemeClr>
        </a:solidFill>
        <a:ln w="19050" cap="flat" cmpd="sng" algn="ctr">
          <a:solidFill>
            <a:schemeClr val="accent2">
              <a:hueOff val="2577445"/>
              <a:satOff val="-7397"/>
              <a:lumOff val="-118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2018–2020</a:t>
          </a:r>
        </a:p>
      </dsp:txBody>
      <dsp:txXfrm>
        <a:off x="3185230" y="1224151"/>
        <a:ext cx="2643276" cy="473865"/>
      </dsp:txXfrm>
    </dsp:sp>
    <dsp:sp modelId="{F1468C7A-03EC-4B8A-859B-BDCDD8788F4E}">
      <dsp:nvSpPr>
        <dsp:cNvPr id="0" name=""/>
        <dsp:cNvSpPr/>
      </dsp:nvSpPr>
      <dsp:spPr>
        <a:xfrm>
          <a:off x="3185230" y="478184"/>
          <a:ext cx="2643276" cy="745967"/>
        </a:xfrm>
        <a:prstGeom prst="rect">
          <a:avLst/>
        </a:prstGeom>
        <a:solidFill>
          <a:schemeClr val="accent2">
            <a:tint val="40000"/>
            <a:alpha val="90000"/>
            <a:hueOff val="2693887"/>
            <a:satOff val="-24893"/>
            <a:lumOff val="-2806"/>
            <a:alphaOff val="0"/>
          </a:schemeClr>
        </a:solidFill>
        <a:ln w="19050" cap="flat" cmpd="sng" algn="ctr">
          <a:solidFill>
            <a:schemeClr val="accent2">
              <a:tint val="40000"/>
              <a:alpha val="90000"/>
              <a:hueOff val="2693887"/>
              <a:satOff val="-24893"/>
              <a:lumOff val="-28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Tech Giants Inflate Pay</a:t>
          </a:r>
        </a:p>
        <a:p>
          <a:pPr marL="57150" lvl="1" indent="-57150" algn="l" defTabSz="400050">
            <a:lnSpc>
              <a:spcPct val="90000"/>
            </a:lnSpc>
            <a:spcBef>
              <a:spcPct val="0"/>
            </a:spcBef>
            <a:spcAft>
              <a:spcPct val="15000"/>
            </a:spcAft>
            <a:buChar char="•"/>
          </a:pPr>
          <a:r>
            <a:rPr lang="en-US" sz="900" kern="1200"/>
            <a:t>FAANG compensation spikes</a:t>
          </a:r>
        </a:p>
        <a:p>
          <a:pPr marL="57150" lvl="1" indent="-57150" algn="l" defTabSz="400050">
            <a:lnSpc>
              <a:spcPct val="90000"/>
            </a:lnSpc>
            <a:spcBef>
              <a:spcPct val="0"/>
            </a:spcBef>
            <a:spcAft>
              <a:spcPct val="15000"/>
            </a:spcAft>
            <a:buChar char="•"/>
          </a:pPr>
          <a:r>
            <a:rPr lang="en-US" sz="900" kern="1200"/>
            <a:t>Equity packages reshape salary norms</a:t>
          </a:r>
        </a:p>
      </dsp:txBody>
      <dsp:txXfrm>
        <a:off x="3185230" y="478184"/>
        <a:ext cx="2643276" cy="745967"/>
      </dsp:txXfrm>
    </dsp:sp>
    <dsp:sp modelId="{3194E422-2979-4ED5-B490-DDD0BD660873}">
      <dsp:nvSpPr>
        <dsp:cNvPr id="0" name=""/>
        <dsp:cNvSpPr/>
      </dsp:nvSpPr>
      <dsp:spPr>
        <a:xfrm>
          <a:off x="4506869" y="1698016"/>
          <a:ext cx="0" cy="276421"/>
        </a:xfrm>
        <a:prstGeom prst="line">
          <a:avLst/>
        </a:prstGeom>
        <a:noFill/>
        <a:ln w="12700" cap="flat" cmpd="sng" algn="ctr">
          <a:solidFill>
            <a:schemeClr val="accent2">
              <a:hueOff val="2577445"/>
              <a:satOff val="-7397"/>
              <a:lumOff val="-11844"/>
              <a:alphaOff val="0"/>
            </a:schemeClr>
          </a:solidFill>
          <a:prstDash val="solid"/>
          <a:miter lim="800000"/>
        </a:ln>
        <a:effectLst/>
      </dsp:spPr>
      <dsp:style>
        <a:lnRef idx="1">
          <a:scrgbClr r="0" g="0" b="0"/>
        </a:lnRef>
        <a:fillRef idx="0">
          <a:scrgbClr r="0" g="0" b="0"/>
        </a:fillRef>
        <a:effectRef idx="0">
          <a:scrgbClr r="0" g="0" b="0"/>
        </a:effectRef>
        <a:fontRef idx="minor"/>
      </dsp:style>
    </dsp:sp>
    <dsp:sp modelId="{C622D010-0D69-4232-AA70-2AA85CD50F06}">
      <dsp:nvSpPr>
        <dsp:cNvPr id="0" name=""/>
        <dsp:cNvSpPr/>
      </dsp:nvSpPr>
      <dsp:spPr>
        <a:xfrm>
          <a:off x="4687092" y="2250859"/>
          <a:ext cx="2643276" cy="473865"/>
        </a:xfrm>
        <a:prstGeom prst="rect">
          <a:avLst/>
        </a:prstGeom>
        <a:solidFill>
          <a:schemeClr val="accent2">
            <a:hueOff val="3866169"/>
            <a:satOff val="-11096"/>
            <a:lumOff val="-17765"/>
            <a:alphaOff val="0"/>
          </a:schemeClr>
        </a:solidFill>
        <a:ln w="19050" cap="flat" cmpd="sng" algn="ctr">
          <a:solidFill>
            <a:schemeClr val="accent2">
              <a:hueOff val="3866169"/>
              <a:satOff val="-11096"/>
              <a:lumOff val="-17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2020–2022</a:t>
          </a:r>
        </a:p>
      </dsp:txBody>
      <dsp:txXfrm>
        <a:off x="4687092" y="2250859"/>
        <a:ext cx="2643276" cy="473865"/>
      </dsp:txXfrm>
    </dsp:sp>
    <dsp:sp modelId="{00A6492E-A900-4E73-B9EA-DB40343CECC4}">
      <dsp:nvSpPr>
        <dsp:cNvPr id="0" name=""/>
        <dsp:cNvSpPr/>
      </dsp:nvSpPr>
      <dsp:spPr>
        <a:xfrm>
          <a:off x="4687092" y="2724724"/>
          <a:ext cx="2643276" cy="745967"/>
        </a:xfrm>
        <a:prstGeom prst="rect">
          <a:avLst/>
        </a:prstGeom>
        <a:solidFill>
          <a:schemeClr val="accent2">
            <a:tint val="40000"/>
            <a:alpha val="90000"/>
            <a:hueOff val="4040831"/>
            <a:satOff val="-37339"/>
            <a:lumOff val="-4209"/>
            <a:alphaOff val="0"/>
          </a:schemeClr>
        </a:solidFill>
        <a:ln w="19050" cap="flat" cmpd="sng" algn="ctr">
          <a:solidFill>
            <a:schemeClr val="accent2">
              <a:tint val="40000"/>
              <a:alpha val="90000"/>
              <a:hueOff val="4040831"/>
              <a:satOff val="-37339"/>
              <a:lumOff val="-42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Remote Work Shift</a:t>
          </a:r>
        </a:p>
        <a:p>
          <a:pPr marL="57150" lvl="1" indent="-57150" algn="l" defTabSz="400050">
            <a:lnSpc>
              <a:spcPct val="90000"/>
            </a:lnSpc>
            <a:spcBef>
              <a:spcPct val="0"/>
            </a:spcBef>
            <a:spcAft>
              <a:spcPct val="15000"/>
            </a:spcAft>
            <a:buChar char="•"/>
          </a:pPr>
          <a:r>
            <a:rPr lang="en-US" sz="900" kern="1200"/>
            <a:t>National hiring equalizes pay</a:t>
          </a:r>
        </a:p>
        <a:p>
          <a:pPr marL="57150" lvl="1" indent="-57150" algn="l" defTabSz="400050">
            <a:lnSpc>
              <a:spcPct val="90000"/>
            </a:lnSpc>
            <a:spcBef>
              <a:spcPct val="0"/>
            </a:spcBef>
            <a:spcAft>
              <a:spcPct val="15000"/>
            </a:spcAft>
            <a:buChar char="•"/>
          </a:pPr>
          <a:r>
            <a:rPr lang="en-US" sz="900" kern="1200"/>
            <a:t>Remote roles often pay more</a:t>
          </a:r>
        </a:p>
      </dsp:txBody>
      <dsp:txXfrm>
        <a:off x="4687092" y="2724724"/>
        <a:ext cx="2643276" cy="745967"/>
      </dsp:txXfrm>
    </dsp:sp>
    <dsp:sp modelId="{E1706467-0C68-4914-A7E3-02B2911948D5}">
      <dsp:nvSpPr>
        <dsp:cNvPr id="0" name=""/>
        <dsp:cNvSpPr/>
      </dsp:nvSpPr>
      <dsp:spPr>
        <a:xfrm>
          <a:off x="6008730" y="1974437"/>
          <a:ext cx="0" cy="276421"/>
        </a:xfrm>
        <a:prstGeom prst="line">
          <a:avLst/>
        </a:prstGeom>
        <a:noFill/>
        <a:ln w="12700" cap="flat" cmpd="sng" algn="ctr">
          <a:solidFill>
            <a:schemeClr val="accent2">
              <a:hueOff val="3866169"/>
              <a:satOff val="-11096"/>
              <a:lumOff val="-17765"/>
              <a:alphaOff val="0"/>
            </a:schemeClr>
          </a:solidFill>
          <a:prstDash val="solid"/>
          <a:miter lim="800000"/>
        </a:ln>
        <a:effectLst/>
      </dsp:spPr>
      <dsp:style>
        <a:lnRef idx="1">
          <a:scrgbClr r="0" g="0" b="0"/>
        </a:lnRef>
        <a:fillRef idx="0">
          <a:scrgbClr r="0" g="0" b="0"/>
        </a:fillRef>
        <a:effectRef idx="0">
          <a:scrgbClr r="0" g="0" b="0"/>
        </a:effectRef>
        <a:fontRef idx="minor"/>
      </dsp:style>
    </dsp:sp>
    <dsp:sp modelId="{6392E809-1E55-4D6B-9786-A83F084346CA}">
      <dsp:nvSpPr>
        <dsp:cNvPr id="0" name=""/>
        <dsp:cNvSpPr/>
      </dsp:nvSpPr>
      <dsp:spPr>
        <a:xfrm rot="2700000">
          <a:off x="4476154" y="1943722"/>
          <a:ext cx="61430" cy="61430"/>
        </a:xfrm>
        <a:prstGeom prst="rect">
          <a:avLst/>
        </a:prstGeom>
        <a:solidFill>
          <a:schemeClr val="accent2">
            <a:hueOff val="2577445"/>
            <a:satOff val="-7397"/>
            <a:lumOff val="-11844"/>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A8DCFB-5A12-4EC2-88F9-36DBCE066AC2}">
      <dsp:nvSpPr>
        <dsp:cNvPr id="0" name=""/>
        <dsp:cNvSpPr/>
      </dsp:nvSpPr>
      <dsp:spPr>
        <a:xfrm rot="2700000">
          <a:off x="5978015" y="1943722"/>
          <a:ext cx="61430" cy="61430"/>
        </a:xfrm>
        <a:prstGeom prst="rect">
          <a:avLst/>
        </a:prstGeom>
        <a:solidFill>
          <a:schemeClr val="accent2">
            <a:hueOff val="3866169"/>
            <a:satOff val="-11096"/>
            <a:lumOff val="-17765"/>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125637-3446-4C02-A7A9-4BF8D1B2F3E4}">
      <dsp:nvSpPr>
        <dsp:cNvPr id="0" name=""/>
        <dsp:cNvSpPr/>
      </dsp:nvSpPr>
      <dsp:spPr>
        <a:xfrm>
          <a:off x="6188954" y="1224151"/>
          <a:ext cx="2643276" cy="473865"/>
        </a:xfrm>
        <a:prstGeom prst="rect">
          <a:avLst/>
        </a:prstGeom>
        <a:solidFill>
          <a:schemeClr val="accent2">
            <a:hueOff val="5154891"/>
            <a:satOff val="-14794"/>
            <a:lumOff val="-23687"/>
            <a:alphaOff val="0"/>
          </a:schemeClr>
        </a:solidFill>
        <a:ln w="19050" cap="flat" cmpd="sng" algn="ctr">
          <a:solidFill>
            <a:schemeClr val="accent2">
              <a:hueOff val="5154891"/>
              <a:satOff val="-14794"/>
              <a:lumOff val="-236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2023–2025</a:t>
          </a:r>
        </a:p>
      </dsp:txBody>
      <dsp:txXfrm>
        <a:off x="6188954" y="1224151"/>
        <a:ext cx="2643276" cy="473865"/>
      </dsp:txXfrm>
    </dsp:sp>
    <dsp:sp modelId="{3C28CB50-E47A-4CAB-9D70-8C5997F6102E}">
      <dsp:nvSpPr>
        <dsp:cNvPr id="0" name=""/>
        <dsp:cNvSpPr/>
      </dsp:nvSpPr>
      <dsp:spPr>
        <a:xfrm>
          <a:off x="6188954" y="478184"/>
          <a:ext cx="2643276" cy="745967"/>
        </a:xfrm>
        <a:prstGeom prst="rect">
          <a:avLst/>
        </a:prstGeom>
        <a:solidFill>
          <a:schemeClr val="accent2">
            <a:tint val="40000"/>
            <a:alpha val="90000"/>
            <a:hueOff val="5387775"/>
            <a:satOff val="-49786"/>
            <a:lumOff val="-5612"/>
            <a:alphaOff val="0"/>
          </a:schemeClr>
        </a:solidFill>
        <a:ln w="19050" cap="flat" cmpd="sng" algn="ctr">
          <a:solidFill>
            <a:schemeClr val="accent2">
              <a:tint val="40000"/>
              <a:alpha val="90000"/>
              <a:hueOff val="5387775"/>
              <a:satOff val="-49786"/>
              <a:lumOff val="-56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AI &amp; LLM Boom</a:t>
          </a:r>
        </a:p>
        <a:p>
          <a:pPr marL="57150" lvl="1" indent="-57150" algn="l" defTabSz="400050">
            <a:lnSpc>
              <a:spcPct val="90000"/>
            </a:lnSpc>
            <a:spcBef>
              <a:spcPct val="0"/>
            </a:spcBef>
            <a:spcAft>
              <a:spcPct val="15000"/>
            </a:spcAft>
            <a:buChar char="•"/>
          </a:pPr>
          <a:r>
            <a:rPr lang="en-US" sz="900" kern="1200"/>
            <a:t>New high‑pay AI roles appear</a:t>
          </a:r>
        </a:p>
        <a:p>
          <a:pPr marL="57150" lvl="1" indent="-57150" algn="l" defTabSz="400050">
            <a:lnSpc>
              <a:spcPct val="90000"/>
            </a:lnSpc>
            <a:spcBef>
              <a:spcPct val="0"/>
            </a:spcBef>
            <a:spcAft>
              <a:spcPct val="15000"/>
            </a:spcAft>
            <a:buChar char="•"/>
          </a:pPr>
          <a:r>
            <a:rPr lang="en-US" sz="900" kern="1200"/>
            <a:t>Salary volatility increases</a:t>
          </a:r>
        </a:p>
      </dsp:txBody>
      <dsp:txXfrm>
        <a:off x="6188954" y="478184"/>
        <a:ext cx="2643276" cy="745967"/>
      </dsp:txXfrm>
    </dsp:sp>
    <dsp:sp modelId="{E3B301BF-5D80-4C1E-B58F-1BBE3BA57F8A}">
      <dsp:nvSpPr>
        <dsp:cNvPr id="0" name=""/>
        <dsp:cNvSpPr/>
      </dsp:nvSpPr>
      <dsp:spPr>
        <a:xfrm>
          <a:off x="7510592" y="1698016"/>
          <a:ext cx="0" cy="276421"/>
        </a:xfrm>
        <a:prstGeom prst="line">
          <a:avLst/>
        </a:prstGeom>
        <a:noFill/>
        <a:ln w="12700" cap="flat" cmpd="sng" algn="ctr">
          <a:solidFill>
            <a:schemeClr val="accent2">
              <a:hueOff val="5154891"/>
              <a:satOff val="-14794"/>
              <a:lumOff val="-23687"/>
              <a:alphaOff val="0"/>
            </a:schemeClr>
          </a:solidFill>
          <a:prstDash val="solid"/>
          <a:miter lim="800000"/>
        </a:ln>
        <a:effectLst/>
      </dsp:spPr>
      <dsp:style>
        <a:lnRef idx="1">
          <a:scrgbClr r="0" g="0" b="0"/>
        </a:lnRef>
        <a:fillRef idx="0">
          <a:scrgbClr r="0" g="0" b="0"/>
        </a:fillRef>
        <a:effectRef idx="0">
          <a:scrgbClr r="0" g="0" b="0"/>
        </a:effectRef>
        <a:fontRef idx="minor"/>
      </dsp:style>
    </dsp:sp>
    <dsp:sp modelId="{A7408E52-74E3-4BB7-AF2A-4E5471FADE8C}">
      <dsp:nvSpPr>
        <dsp:cNvPr id="0" name=""/>
        <dsp:cNvSpPr/>
      </dsp:nvSpPr>
      <dsp:spPr>
        <a:xfrm>
          <a:off x="7690816" y="2250859"/>
          <a:ext cx="2643276" cy="473865"/>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2026</a:t>
          </a:r>
        </a:p>
      </dsp:txBody>
      <dsp:txXfrm>
        <a:off x="7690816" y="2250859"/>
        <a:ext cx="2643276" cy="473865"/>
      </dsp:txXfrm>
    </dsp:sp>
    <dsp:sp modelId="{14842776-2054-4D69-A6B9-8E5B775F8B8F}">
      <dsp:nvSpPr>
        <dsp:cNvPr id="0" name=""/>
        <dsp:cNvSpPr/>
      </dsp:nvSpPr>
      <dsp:spPr>
        <a:xfrm>
          <a:off x="7690816" y="2724724"/>
          <a:ext cx="2643276" cy="1224151"/>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Why This Analysis Now</a:t>
          </a:r>
        </a:p>
        <a:p>
          <a:pPr marL="57150" lvl="1" indent="-57150" algn="l" defTabSz="444500">
            <a:lnSpc>
              <a:spcPct val="90000"/>
            </a:lnSpc>
            <a:spcBef>
              <a:spcPct val="0"/>
            </a:spcBef>
            <a:spcAft>
              <a:spcPct val="15000"/>
            </a:spcAft>
            <a:buChar char="•"/>
          </a:pPr>
          <a:r>
            <a:rPr lang="en-US" sz="1000" kern="1200"/>
            <a:t>AI automation reshapes job duties</a:t>
          </a:r>
        </a:p>
        <a:p>
          <a:pPr marL="57150" lvl="1" indent="-57150" algn="l" defTabSz="444500">
            <a:lnSpc>
              <a:spcPct val="90000"/>
            </a:lnSpc>
            <a:spcBef>
              <a:spcPct val="0"/>
            </a:spcBef>
            <a:spcAft>
              <a:spcPct val="15000"/>
            </a:spcAft>
            <a:buChar char="•"/>
          </a:pPr>
          <a:r>
            <a:rPr lang="en-US" sz="1000" kern="1200"/>
            <a:t>Hybrid work becomes standard</a:t>
          </a:r>
        </a:p>
        <a:p>
          <a:pPr marL="57150" lvl="1" indent="-57150" algn="l" defTabSz="444500">
            <a:lnSpc>
              <a:spcPct val="90000"/>
            </a:lnSpc>
            <a:spcBef>
              <a:spcPct val="0"/>
            </a:spcBef>
            <a:spcAft>
              <a:spcPct val="15000"/>
            </a:spcAft>
            <a:buChar char="•"/>
          </a:pPr>
          <a:r>
            <a:rPr lang="en-US" sz="1000" kern="1200"/>
            <a:t>Senior talent remains competitive</a:t>
          </a:r>
        </a:p>
        <a:p>
          <a:pPr marL="57150" lvl="1" indent="-57150" algn="l" defTabSz="444500">
            <a:lnSpc>
              <a:spcPct val="90000"/>
            </a:lnSpc>
            <a:spcBef>
              <a:spcPct val="0"/>
            </a:spcBef>
            <a:spcAft>
              <a:spcPct val="15000"/>
            </a:spcAft>
            <a:buChar char="•"/>
          </a:pPr>
          <a:r>
            <a:rPr lang="en-US" sz="1000" kern="1200"/>
            <a:t>Entry‑level supply grows</a:t>
          </a:r>
        </a:p>
        <a:p>
          <a:pPr marL="57150" lvl="1" indent="-57150" algn="l" defTabSz="444500">
            <a:lnSpc>
              <a:spcPct val="90000"/>
            </a:lnSpc>
            <a:spcBef>
              <a:spcPct val="0"/>
            </a:spcBef>
            <a:spcAft>
              <a:spcPct val="15000"/>
            </a:spcAft>
            <a:buChar char="•"/>
          </a:pPr>
          <a:r>
            <a:rPr lang="en-US" sz="1000" kern="1200"/>
            <a:t>Organizations need data‑driven salary benchmarks</a:t>
          </a:r>
        </a:p>
      </dsp:txBody>
      <dsp:txXfrm>
        <a:off x="7690816" y="2724724"/>
        <a:ext cx="2643276" cy="1224151"/>
      </dsp:txXfrm>
    </dsp:sp>
    <dsp:sp modelId="{D39E8D76-BB72-4E10-93CB-80B1AAF70F04}">
      <dsp:nvSpPr>
        <dsp:cNvPr id="0" name=""/>
        <dsp:cNvSpPr/>
      </dsp:nvSpPr>
      <dsp:spPr>
        <a:xfrm>
          <a:off x="9012454" y="1974437"/>
          <a:ext cx="0" cy="276421"/>
        </a:xfrm>
        <a:prstGeom prst="line">
          <a:avLst/>
        </a:prstGeom>
        <a:no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0">
          <a:scrgbClr r="0" g="0" b="0"/>
        </a:fillRef>
        <a:effectRef idx="0">
          <a:scrgbClr r="0" g="0" b="0"/>
        </a:effectRef>
        <a:fontRef idx="minor"/>
      </dsp:style>
    </dsp:sp>
    <dsp:sp modelId="{9C0D5690-5DC4-4E9B-8DFA-8117CEDBACFA}">
      <dsp:nvSpPr>
        <dsp:cNvPr id="0" name=""/>
        <dsp:cNvSpPr/>
      </dsp:nvSpPr>
      <dsp:spPr>
        <a:xfrm rot="2700000">
          <a:off x="7479877" y="1943722"/>
          <a:ext cx="61430" cy="61430"/>
        </a:xfrm>
        <a:prstGeom prst="rect">
          <a:avLst/>
        </a:prstGeom>
        <a:solidFill>
          <a:schemeClr val="accent2">
            <a:hueOff val="5154891"/>
            <a:satOff val="-14794"/>
            <a:lumOff val="-23687"/>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9484EA-8517-4569-A213-81745F795B9F}">
      <dsp:nvSpPr>
        <dsp:cNvPr id="0" name=""/>
        <dsp:cNvSpPr/>
      </dsp:nvSpPr>
      <dsp:spPr>
        <a:xfrm rot="2700000">
          <a:off x="8981739" y="1943722"/>
          <a:ext cx="61430" cy="61430"/>
        </a:xfrm>
        <a:prstGeom prst="rect">
          <a:avLst/>
        </a:prstGeom>
        <a:solidFill>
          <a:schemeClr val="accent2">
            <a:hueOff val="6443614"/>
            <a:satOff val="-18493"/>
            <a:lumOff val="-29609"/>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4AF8E-E784-4B5A-A858-A8DF4E67A20B}">
      <dsp:nvSpPr>
        <dsp:cNvPr id="0" name=""/>
        <dsp:cNvSpPr/>
      </dsp:nvSpPr>
      <dsp:spPr>
        <a:xfrm>
          <a:off x="4929"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dirty="0"/>
            <a:t>Goal:</a:t>
          </a:r>
        </a:p>
      </dsp:txBody>
      <dsp:txXfrm>
        <a:off x="4929" y="12687"/>
        <a:ext cx="1889521" cy="469752"/>
      </dsp:txXfrm>
    </dsp:sp>
    <dsp:sp modelId="{6071D970-E41B-4E82-877C-98F73299255A}">
      <dsp:nvSpPr>
        <dsp:cNvPr id="0" name=""/>
        <dsp:cNvSpPr/>
      </dsp:nvSpPr>
      <dsp:spPr>
        <a:xfrm>
          <a:off x="4929"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To identify the most reliable salary‑classification model, we evaluated a diverse set of machine‑learning algorithms — from simple interpretable models to advanced nonlinear ensembles.</a:t>
          </a:r>
        </a:p>
      </dsp:txBody>
      <dsp:txXfrm>
        <a:off x="4929" y="482439"/>
        <a:ext cx="1889521" cy="3856210"/>
      </dsp:txXfrm>
    </dsp:sp>
    <dsp:sp modelId="{57ED9E97-18CC-4895-8ED0-F6216341549D}">
      <dsp:nvSpPr>
        <dsp:cNvPr id="0" name=""/>
        <dsp:cNvSpPr/>
      </dsp:nvSpPr>
      <dsp:spPr>
        <a:xfrm>
          <a:off x="2158984"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a:t>Models Tested</a:t>
          </a:r>
        </a:p>
      </dsp:txBody>
      <dsp:txXfrm>
        <a:off x="2158984" y="12687"/>
        <a:ext cx="1889521" cy="469752"/>
      </dsp:txXfrm>
    </dsp:sp>
    <dsp:sp modelId="{F184A28E-8C0B-47A9-B479-DE6F8C3AF102}">
      <dsp:nvSpPr>
        <dsp:cNvPr id="0" name=""/>
        <dsp:cNvSpPr/>
      </dsp:nvSpPr>
      <dsp:spPr>
        <a:xfrm>
          <a:off x="2158984"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Interpretable Models</a:t>
          </a:r>
        </a:p>
        <a:p>
          <a:pPr marL="228600" lvl="2" indent="-114300" algn="l" defTabSz="577850">
            <a:lnSpc>
              <a:spcPct val="90000"/>
            </a:lnSpc>
            <a:spcBef>
              <a:spcPct val="0"/>
            </a:spcBef>
            <a:spcAft>
              <a:spcPct val="15000"/>
            </a:spcAft>
            <a:buChar char="•"/>
          </a:pPr>
          <a:r>
            <a:rPr lang="en-US" sz="1300" kern="1200" dirty="0"/>
            <a:t>Logistic Regression</a:t>
          </a:r>
        </a:p>
        <a:p>
          <a:pPr marL="228600" lvl="2" indent="-114300" algn="l" defTabSz="577850">
            <a:lnSpc>
              <a:spcPct val="90000"/>
            </a:lnSpc>
            <a:spcBef>
              <a:spcPct val="0"/>
            </a:spcBef>
            <a:spcAft>
              <a:spcPct val="15000"/>
            </a:spcAft>
            <a:buChar char="•"/>
          </a:pPr>
          <a:r>
            <a:rPr lang="en-US" sz="1300" kern="1200" dirty="0"/>
            <a:t>Naive Bayes</a:t>
          </a:r>
        </a:p>
        <a:p>
          <a:pPr marL="114300" lvl="1" indent="-114300" algn="l" defTabSz="577850">
            <a:lnSpc>
              <a:spcPct val="90000"/>
            </a:lnSpc>
            <a:spcBef>
              <a:spcPct val="0"/>
            </a:spcBef>
            <a:spcAft>
              <a:spcPct val="15000"/>
            </a:spcAft>
            <a:buChar char="•"/>
          </a:pPr>
          <a:r>
            <a:rPr lang="en-US" sz="1300" kern="1200" dirty="0"/>
            <a:t>Distance &amp; Margin‑Based Models</a:t>
          </a:r>
        </a:p>
        <a:p>
          <a:pPr marL="228600" lvl="2" indent="-114300" algn="l" defTabSz="577850">
            <a:lnSpc>
              <a:spcPct val="90000"/>
            </a:lnSpc>
            <a:spcBef>
              <a:spcPct val="0"/>
            </a:spcBef>
            <a:spcAft>
              <a:spcPct val="15000"/>
            </a:spcAft>
            <a:buChar char="•"/>
          </a:pPr>
          <a:r>
            <a:rPr lang="en-US" sz="1300" kern="1200"/>
            <a:t>K‑Nearest Neighbors</a:t>
          </a:r>
        </a:p>
        <a:p>
          <a:pPr marL="228600" lvl="2" indent="-114300" algn="l" defTabSz="577850">
            <a:lnSpc>
              <a:spcPct val="90000"/>
            </a:lnSpc>
            <a:spcBef>
              <a:spcPct val="0"/>
            </a:spcBef>
            <a:spcAft>
              <a:spcPct val="15000"/>
            </a:spcAft>
            <a:buChar char="•"/>
          </a:pPr>
          <a:r>
            <a:rPr lang="en-US" sz="1300" kern="1200" dirty="0"/>
            <a:t>Support Vector Machines (Linear &amp; RBF)</a:t>
          </a:r>
        </a:p>
        <a:p>
          <a:pPr marL="114300" lvl="1" indent="-114300" algn="l" defTabSz="577850">
            <a:lnSpc>
              <a:spcPct val="90000"/>
            </a:lnSpc>
            <a:spcBef>
              <a:spcPct val="0"/>
            </a:spcBef>
            <a:spcAft>
              <a:spcPct val="15000"/>
            </a:spcAft>
            <a:buChar char="•"/>
          </a:pPr>
          <a:r>
            <a:rPr lang="en-US" sz="1300" kern="1200"/>
            <a:t>Ensemble Models</a:t>
          </a:r>
        </a:p>
        <a:p>
          <a:pPr marL="228600" lvl="2" indent="-114300" algn="l" defTabSz="577850">
            <a:lnSpc>
              <a:spcPct val="90000"/>
            </a:lnSpc>
            <a:spcBef>
              <a:spcPct val="0"/>
            </a:spcBef>
            <a:spcAft>
              <a:spcPct val="15000"/>
            </a:spcAft>
            <a:buChar char="•"/>
          </a:pPr>
          <a:r>
            <a:rPr lang="en-US" sz="1300" kern="1200"/>
            <a:t>Decision Tree</a:t>
          </a:r>
        </a:p>
        <a:p>
          <a:pPr marL="228600" lvl="2" indent="-114300" algn="l" defTabSz="577850">
            <a:lnSpc>
              <a:spcPct val="90000"/>
            </a:lnSpc>
            <a:spcBef>
              <a:spcPct val="0"/>
            </a:spcBef>
            <a:spcAft>
              <a:spcPct val="15000"/>
            </a:spcAft>
            <a:buChar char="•"/>
          </a:pPr>
          <a:r>
            <a:rPr lang="en-US" sz="1300" kern="1200"/>
            <a:t>Random Forest</a:t>
          </a:r>
        </a:p>
        <a:p>
          <a:pPr marL="228600" lvl="2" indent="-114300" algn="l" defTabSz="577850">
            <a:lnSpc>
              <a:spcPct val="90000"/>
            </a:lnSpc>
            <a:spcBef>
              <a:spcPct val="0"/>
            </a:spcBef>
            <a:spcAft>
              <a:spcPct val="15000"/>
            </a:spcAft>
            <a:buChar char="•"/>
          </a:pPr>
          <a:r>
            <a:rPr lang="en-US" sz="1300" kern="1200"/>
            <a:t>Gradient Boosting</a:t>
          </a:r>
        </a:p>
        <a:p>
          <a:pPr marL="228600" lvl="2" indent="-114300" algn="l" defTabSz="577850">
            <a:lnSpc>
              <a:spcPct val="90000"/>
            </a:lnSpc>
            <a:spcBef>
              <a:spcPct val="0"/>
            </a:spcBef>
            <a:spcAft>
              <a:spcPct val="15000"/>
            </a:spcAft>
            <a:buChar char="•"/>
          </a:pPr>
          <a:r>
            <a:rPr lang="en-US" sz="1300" kern="1200"/>
            <a:t>AdaBoost</a:t>
          </a:r>
        </a:p>
        <a:p>
          <a:pPr marL="228600" lvl="2" indent="-114300" algn="l" defTabSz="577850">
            <a:lnSpc>
              <a:spcPct val="90000"/>
            </a:lnSpc>
            <a:spcBef>
              <a:spcPct val="0"/>
            </a:spcBef>
            <a:spcAft>
              <a:spcPct val="15000"/>
            </a:spcAft>
            <a:buChar char="•"/>
          </a:pPr>
          <a:r>
            <a:rPr lang="en-US" sz="1300" kern="1200"/>
            <a:t>Extra Trees</a:t>
          </a:r>
        </a:p>
      </dsp:txBody>
      <dsp:txXfrm>
        <a:off x="2158984" y="482439"/>
        <a:ext cx="1889521" cy="3856210"/>
      </dsp:txXfrm>
    </dsp:sp>
    <dsp:sp modelId="{A033B8F4-B819-4B84-946A-A3E70DCD87FE}">
      <dsp:nvSpPr>
        <dsp:cNvPr id="0" name=""/>
        <dsp:cNvSpPr/>
      </dsp:nvSpPr>
      <dsp:spPr>
        <a:xfrm>
          <a:off x="4313039"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a:t>How We Evaluated Performance</a:t>
          </a:r>
        </a:p>
      </dsp:txBody>
      <dsp:txXfrm>
        <a:off x="4313039" y="12687"/>
        <a:ext cx="1889521" cy="469752"/>
      </dsp:txXfrm>
    </dsp:sp>
    <dsp:sp modelId="{5FC194EE-9719-4771-A058-8F93C6C29DD5}">
      <dsp:nvSpPr>
        <dsp:cNvPr id="0" name=""/>
        <dsp:cNvSpPr/>
      </dsp:nvSpPr>
      <dsp:spPr>
        <a:xfrm>
          <a:off x="4313039"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Each model was trained on the same data split (70/30) and assessed using:</a:t>
          </a:r>
        </a:p>
        <a:p>
          <a:pPr marL="114300" lvl="1" indent="-114300" algn="l" defTabSz="577850">
            <a:lnSpc>
              <a:spcPct val="90000"/>
            </a:lnSpc>
            <a:spcBef>
              <a:spcPct val="0"/>
            </a:spcBef>
            <a:spcAft>
              <a:spcPct val="15000"/>
            </a:spcAft>
            <a:buChar char="•"/>
          </a:pPr>
          <a:r>
            <a:rPr lang="en-US" sz="1300" kern="1200"/>
            <a:t>Accuracy — overall correctness</a:t>
          </a:r>
        </a:p>
        <a:p>
          <a:pPr marL="114300" lvl="1" indent="-114300" algn="l" defTabSz="577850">
            <a:lnSpc>
              <a:spcPct val="90000"/>
            </a:lnSpc>
            <a:spcBef>
              <a:spcPct val="0"/>
            </a:spcBef>
            <a:spcAft>
              <a:spcPct val="15000"/>
            </a:spcAft>
            <a:buChar char="•"/>
          </a:pPr>
          <a:r>
            <a:rPr lang="en-US" sz="1300" kern="1200"/>
            <a:t>Precision — correctness of above‑median predictions</a:t>
          </a:r>
        </a:p>
        <a:p>
          <a:pPr marL="114300" lvl="1" indent="-114300" algn="l" defTabSz="577850">
            <a:lnSpc>
              <a:spcPct val="90000"/>
            </a:lnSpc>
            <a:spcBef>
              <a:spcPct val="0"/>
            </a:spcBef>
            <a:spcAft>
              <a:spcPct val="15000"/>
            </a:spcAft>
            <a:buChar char="•"/>
          </a:pPr>
          <a:r>
            <a:rPr lang="en-US" sz="1300" kern="1200"/>
            <a:t>Recall — ability to find true above‑median earners</a:t>
          </a:r>
        </a:p>
        <a:p>
          <a:pPr marL="114300" lvl="1" indent="-114300" algn="l" defTabSz="577850">
            <a:lnSpc>
              <a:spcPct val="90000"/>
            </a:lnSpc>
            <a:spcBef>
              <a:spcPct val="0"/>
            </a:spcBef>
            <a:spcAft>
              <a:spcPct val="15000"/>
            </a:spcAft>
            <a:buChar char="•"/>
          </a:pPr>
          <a:r>
            <a:rPr lang="en-US" sz="1300" kern="1200" dirty="0"/>
            <a:t>F1 Score — balance of precision and recall</a:t>
          </a:r>
        </a:p>
        <a:p>
          <a:pPr marL="114300" lvl="1" indent="-114300" algn="l" defTabSz="577850">
            <a:lnSpc>
              <a:spcPct val="90000"/>
            </a:lnSpc>
            <a:spcBef>
              <a:spcPct val="0"/>
            </a:spcBef>
            <a:spcAft>
              <a:spcPct val="15000"/>
            </a:spcAft>
            <a:buChar char="•"/>
          </a:pPr>
          <a:r>
            <a:rPr lang="en-US" sz="1300" kern="1200" dirty="0"/>
            <a:t>Area under the Curve (AUC) — overall ranking ability (most reliable metric)</a:t>
          </a:r>
        </a:p>
      </dsp:txBody>
      <dsp:txXfrm>
        <a:off x="4313039" y="482439"/>
        <a:ext cx="1889521" cy="3856210"/>
      </dsp:txXfrm>
    </dsp:sp>
    <dsp:sp modelId="{7AF519C6-C420-4DAD-B3CD-5FD2C9E408D0}">
      <dsp:nvSpPr>
        <dsp:cNvPr id="0" name=""/>
        <dsp:cNvSpPr/>
      </dsp:nvSpPr>
      <dsp:spPr>
        <a:xfrm>
          <a:off x="6467094"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a:t>Final Model Variables Used:  </a:t>
          </a:r>
        </a:p>
      </dsp:txBody>
      <dsp:txXfrm>
        <a:off x="6467094" y="12687"/>
        <a:ext cx="1889521" cy="469752"/>
      </dsp:txXfrm>
    </dsp:sp>
    <dsp:sp modelId="{0C4EE437-868B-45A2-907D-1387EF49957E}">
      <dsp:nvSpPr>
        <dsp:cNvPr id="0" name=""/>
        <dsp:cNvSpPr/>
      </dsp:nvSpPr>
      <dsp:spPr>
        <a:xfrm>
          <a:off x="6467094"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Experience Level</a:t>
          </a:r>
        </a:p>
        <a:p>
          <a:pPr marL="114300" lvl="1" indent="-114300" algn="l" defTabSz="577850">
            <a:lnSpc>
              <a:spcPct val="90000"/>
            </a:lnSpc>
            <a:spcBef>
              <a:spcPct val="0"/>
            </a:spcBef>
            <a:spcAft>
              <a:spcPct val="15000"/>
            </a:spcAft>
            <a:buChar char="•"/>
          </a:pPr>
          <a:r>
            <a:rPr lang="en-US" sz="1300" kern="1200" dirty="0"/>
            <a:t>Employment Type</a:t>
          </a:r>
        </a:p>
        <a:p>
          <a:pPr marL="114300" lvl="1" indent="-114300" algn="l" defTabSz="577850">
            <a:lnSpc>
              <a:spcPct val="90000"/>
            </a:lnSpc>
            <a:spcBef>
              <a:spcPct val="0"/>
            </a:spcBef>
            <a:spcAft>
              <a:spcPct val="15000"/>
            </a:spcAft>
            <a:buChar char="•"/>
          </a:pPr>
          <a:r>
            <a:rPr lang="en-US" sz="1300" kern="1200" dirty="0"/>
            <a:t>Job Title by Group</a:t>
          </a:r>
        </a:p>
        <a:p>
          <a:pPr marL="114300" lvl="1" indent="-114300" algn="l" defTabSz="577850">
            <a:lnSpc>
              <a:spcPct val="90000"/>
            </a:lnSpc>
            <a:spcBef>
              <a:spcPct val="0"/>
            </a:spcBef>
            <a:spcAft>
              <a:spcPct val="15000"/>
            </a:spcAft>
            <a:buChar char="•"/>
          </a:pPr>
          <a:r>
            <a:rPr lang="en-US" sz="1300" kern="1200" dirty="0"/>
            <a:t>Employee residence</a:t>
          </a:r>
        </a:p>
        <a:p>
          <a:pPr marL="114300" lvl="1" indent="-114300" algn="l" defTabSz="577850">
            <a:lnSpc>
              <a:spcPct val="90000"/>
            </a:lnSpc>
            <a:spcBef>
              <a:spcPct val="0"/>
            </a:spcBef>
            <a:spcAft>
              <a:spcPct val="15000"/>
            </a:spcAft>
            <a:buChar char="•"/>
          </a:pPr>
          <a:r>
            <a:rPr lang="en-US" sz="1300" kern="1200" dirty="0"/>
            <a:t>Company Size</a:t>
          </a:r>
        </a:p>
        <a:p>
          <a:pPr marL="114300" lvl="1" indent="-114300" algn="l" defTabSz="577850">
            <a:lnSpc>
              <a:spcPct val="90000"/>
            </a:lnSpc>
            <a:spcBef>
              <a:spcPct val="0"/>
            </a:spcBef>
            <a:spcAft>
              <a:spcPct val="15000"/>
            </a:spcAft>
            <a:buChar char="•"/>
          </a:pPr>
          <a:r>
            <a:rPr lang="en-US" sz="1300" kern="1200" dirty="0"/>
            <a:t>Work Calendar Year</a:t>
          </a:r>
        </a:p>
        <a:p>
          <a:pPr marL="114300" lvl="1" indent="-114300" algn="l" defTabSz="577850">
            <a:lnSpc>
              <a:spcPct val="90000"/>
            </a:lnSpc>
            <a:spcBef>
              <a:spcPct val="0"/>
            </a:spcBef>
            <a:spcAft>
              <a:spcPct val="15000"/>
            </a:spcAft>
            <a:buChar char="•"/>
          </a:pPr>
          <a:r>
            <a:rPr lang="en-US" sz="1300" kern="1200" dirty="0"/>
            <a:t>Employer Remote Type</a:t>
          </a:r>
        </a:p>
      </dsp:txBody>
      <dsp:txXfrm>
        <a:off x="6467094" y="482439"/>
        <a:ext cx="1889521" cy="3856210"/>
      </dsp:txXfrm>
    </dsp:sp>
    <dsp:sp modelId="{74FA2D48-0091-4D23-8746-F4C01B8BB5D2}">
      <dsp:nvSpPr>
        <dsp:cNvPr id="0" name=""/>
        <dsp:cNvSpPr/>
      </dsp:nvSpPr>
      <dsp:spPr>
        <a:xfrm>
          <a:off x="8621148"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a:t>Why This Matters</a:t>
          </a:r>
        </a:p>
      </dsp:txBody>
      <dsp:txXfrm>
        <a:off x="8621148" y="12687"/>
        <a:ext cx="1889521" cy="469752"/>
      </dsp:txXfrm>
    </dsp:sp>
    <dsp:sp modelId="{9B2366A0-4D9C-4A9F-8E3C-83B31EF08935}">
      <dsp:nvSpPr>
        <dsp:cNvPr id="0" name=""/>
        <dsp:cNvSpPr/>
      </dsp:nvSpPr>
      <dsp:spPr>
        <a:xfrm>
          <a:off x="8621148"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Testing multiple model families ensures we select the most accurate, stable, and interpretable approach for salary classification — not just the first model that works.</a:t>
          </a:r>
        </a:p>
      </dsp:txBody>
      <dsp:txXfrm>
        <a:off x="8621148" y="482439"/>
        <a:ext cx="1889521" cy="38562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C2FC2-0AE0-4D5F-A9C4-533052DC51D9}">
      <dsp:nvSpPr>
        <dsp:cNvPr id="0" name=""/>
        <dsp:cNvSpPr/>
      </dsp:nvSpPr>
      <dsp:spPr>
        <a:xfrm rot="5400000">
          <a:off x="6816091" y="-2944933"/>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How often the model is right.</a:t>
          </a:r>
        </a:p>
      </dsp:txBody>
      <dsp:txXfrm rot="-5400000">
        <a:off x="3785616" y="118201"/>
        <a:ext cx="6697325" cy="603715"/>
      </dsp:txXfrm>
    </dsp:sp>
    <dsp:sp modelId="{F8C9416E-F109-478C-BF1B-80DCEABD4018}">
      <dsp:nvSpPr>
        <dsp:cNvPr id="0" name=""/>
        <dsp:cNvSpPr/>
      </dsp:nvSpPr>
      <dsp:spPr>
        <a:xfrm>
          <a:off x="0" y="1912"/>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Accuracy — Overall Correctness</a:t>
          </a:r>
        </a:p>
      </dsp:txBody>
      <dsp:txXfrm>
        <a:off x="40824" y="42736"/>
        <a:ext cx="3703968" cy="754644"/>
      </dsp:txXfrm>
    </dsp:sp>
    <dsp:sp modelId="{FFD111F6-CD45-4571-84D2-8C252B415022}">
      <dsp:nvSpPr>
        <dsp:cNvPr id="0" name=""/>
        <dsp:cNvSpPr/>
      </dsp:nvSpPr>
      <dsp:spPr>
        <a:xfrm rot="5400000">
          <a:off x="6816091" y="-2066826"/>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When the model predicts “above median,” how often it’s correct.</a:t>
          </a:r>
        </a:p>
      </dsp:txBody>
      <dsp:txXfrm rot="-5400000">
        <a:off x="3785616" y="996308"/>
        <a:ext cx="6697325" cy="603715"/>
      </dsp:txXfrm>
    </dsp:sp>
    <dsp:sp modelId="{89A3C0D5-15A2-47DF-9043-EACA5BBBA97F}">
      <dsp:nvSpPr>
        <dsp:cNvPr id="0" name=""/>
        <dsp:cNvSpPr/>
      </dsp:nvSpPr>
      <dsp:spPr>
        <a:xfrm>
          <a:off x="0" y="880019"/>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a:t>Precision — Correct High‑Salary Predictions</a:t>
          </a:r>
        </a:p>
      </dsp:txBody>
      <dsp:txXfrm>
        <a:off x="40824" y="920843"/>
        <a:ext cx="3703968" cy="754644"/>
      </dsp:txXfrm>
    </dsp:sp>
    <dsp:sp modelId="{EA8E1673-047E-4307-B9F8-68797B0D4437}">
      <dsp:nvSpPr>
        <dsp:cNvPr id="0" name=""/>
        <dsp:cNvSpPr/>
      </dsp:nvSpPr>
      <dsp:spPr>
        <a:xfrm rot="5400000">
          <a:off x="6816091" y="-1188720"/>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How many real above‑median earners the model successfully identifies.</a:t>
          </a:r>
        </a:p>
      </dsp:txBody>
      <dsp:txXfrm rot="-5400000">
        <a:off x="3785616" y="1874414"/>
        <a:ext cx="6697325" cy="603715"/>
      </dsp:txXfrm>
    </dsp:sp>
    <dsp:sp modelId="{4F972F32-60DA-4D4F-8653-CBF028FB15A9}">
      <dsp:nvSpPr>
        <dsp:cNvPr id="0" name=""/>
        <dsp:cNvSpPr/>
      </dsp:nvSpPr>
      <dsp:spPr>
        <a:xfrm>
          <a:off x="0" y="1758125"/>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a:t>Recall — Ability to Find High Earners</a:t>
          </a:r>
        </a:p>
      </dsp:txBody>
      <dsp:txXfrm>
        <a:off x="40824" y="1798949"/>
        <a:ext cx="3703968" cy="754644"/>
      </dsp:txXfrm>
    </dsp:sp>
    <dsp:sp modelId="{69038075-0847-4A52-90CF-CBA5115D640A}">
      <dsp:nvSpPr>
        <dsp:cNvPr id="0" name=""/>
        <dsp:cNvSpPr/>
      </dsp:nvSpPr>
      <dsp:spPr>
        <a:xfrm rot="5400000">
          <a:off x="6816091" y="-310613"/>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A balance of precision and recall — useful when classes differ.</a:t>
          </a:r>
        </a:p>
      </dsp:txBody>
      <dsp:txXfrm rot="-5400000">
        <a:off x="3785616" y="2752521"/>
        <a:ext cx="6697325" cy="603715"/>
      </dsp:txXfrm>
    </dsp:sp>
    <dsp:sp modelId="{D638D3D3-7C34-42F2-9FAE-43B48C722B38}">
      <dsp:nvSpPr>
        <dsp:cNvPr id="0" name=""/>
        <dsp:cNvSpPr/>
      </dsp:nvSpPr>
      <dsp:spPr>
        <a:xfrm>
          <a:off x="0" y="2636232"/>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a:t>F1 Score — Balanced Quality</a:t>
          </a:r>
        </a:p>
      </dsp:txBody>
      <dsp:txXfrm>
        <a:off x="40824" y="2677056"/>
        <a:ext cx="3703968" cy="754644"/>
      </dsp:txXfrm>
    </dsp:sp>
    <dsp:sp modelId="{9DA55583-A496-4164-A29E-156D9D94B3CB}">
      <dsp:nvSpPr>
        <dsp:cNvPr id="0" name=""/>
        <dsp:cNvSpPr/>
      </dsp:nvSpPr>
      <dsp:spPr>
        <a:xfrm rot="5400000">
          <a:off x="6816091" y="567493"/>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How well the model distinguishes between high and low earners.</a:t>
          </a:r>
        </a:p>
        <a:p>
          <a:pPr marL="114300" lvl="1" indent="-114300" algn="l" defTabSz="533400">
            <a:lnSpc>
              <a:spcPct val="90000"/>
            </a:lnSpc>
            <a:spcBef>
              <a:spcPct val="0"/>
            </a:spcBef>
            <a:spcAft>
              <a:spcPct val="15000"/>
            </a:spcAft>
            <a:buChar char="•"/>
          </a:pPr>
          <a:r>
            <a:rPr lang="en-US" sz="1200" kern="1200" dirty="0" err="1"/>
            <a:t>Iinitial</a:t>
          </a:r>
          <a:r>
            <a:rPr lang="en-US" sz="1200" kern="1200" dirty="0"/>
            <a:t> most important metric for this project because it measures how well the model separates above‑median vs. below‑median earners.</a:t>
          </a:r>
        </a:p>
      </dsp:txBody>
      <dsp:txXfrm rot="-5400000">
        <a:off x="3785616" y="3630628"/>
        <a:ext cx="6697325" cy="603715"/>
      </dsp:txXfrm>
    </dsp:sp>
    <dsp:sp modelId="{F67E16C6-0EB6-473B-805C-65E24BF3186E}">
      <dsp:nvSpPr>
        <dsp:cNvPr id="0" name=""/>
        <dsp:cNvSpPr/>
      </dsp:nvSpPr>
      <dsp:spPr>
        <a:xfrm>
          <a:off x="0" y="3514339"/>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a:t>ROC‑AUC — Separation Strength</a:t>
          </a:r>
        </a:p>
      </dsp:txBody>
      <dsp:txXfrm>
        <a:off x="40824" y="3555163"/>
        <a:ext cx="3703968" cy="7546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8776"/>
          <a:ext cx="7426036" cy="46683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What is it?</a:t>
          </a:r>
          <a:endParaRPr lang="en-US" sz="1900" kern="1200" dirty="0"/>
        </a:p>
      </dsp:txBody>
      <dsp:txXfrm>
        <a:off x="22789" y="31565"/>
        <a:ext cx="7380458" cy="421252"/>
      </dsp:txXfrm>
    </dsp:sp>
    <dsp:sp modelId="{27E56ABA-57EA-4829-B58F-7EF2C9D69ED6}">
      <dsp:nvSpPr>
        <dsp:cNvPr id="0" name=""/>
        <dsp:cNvSpPr/>
      </dsp:nvSpPr>
      <dsp:spPr>
        <a:xfrm>
          <a:off x="0" y="475606"/>
          <a:ext cx="7426036" cy="471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4130" rIns="135128" bIns="24130" numCol="1" spcCol="1270" anchor="t" anchorCtr="0">
          <a:noAutofit/>
        </a:bodyPr>
        <a:lstStyle/>
        <a:p>
          <a:pPr marL="114300" lvl="1" indent="-114300" algn="l" defTabSz="666750">
            <a:lnSpc>
              <a:spcPct val="90000"/>
            </a:lnSpc>
            <a:spcBef>
              <a:spcPct val="0"/>
            </a:spcBef>
            <a:spcAft>
              <a:spcPct val="20000"/>
            </a:spcAft>
            <a:buNone/>
          </a:pPr>
          <a:r>
            <a:rPr lang="en-US" sz="1500" kern="1200" dirty="0"/>
            <a:t>A simple, interpretable model that predicts whether salary is above or below the median</a:t>
          </a:r>
        </a:p>
      </dsp:txBody>
      <dsp:txXfrm>
        <a:off x="0" y="475606"/>
        <a:ext cx="7426036" cy="471960"/>
      </dsp:txXfrm>
    </dsp:sp>
    <dsp:sp modelId="{BB43A5AA-EDBB-4D04-8D81-E67BF613AE06}">
      <dsp:nvSpPr>
        <dsp:cNvPr id="0" name=""/>
        <dsp:cNvSpPr/>
      </dsp:nvSpPr>
      <dsp:spPr>
        <a:xfrm>
          <a:off x="0" y="947566"/>
          <a:ext cx="7426036" cy="46683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Why It’s Useful</a:t>
          </a:r>
        </a:p>
      </dsp:txBody>
      <dsp:txXfrm>
        <a:off x="22789" y="970355"/>
        <a:ext cx="7380458" cy="421252"/>
      </dsp:txXfrm>
    </dsp:sp>
    <dsp:sp modelId="{9C562FED-2BD2-4549-8928-97ECCEA6AAC2}">
      <dsp:nvSpPr>
        <dsp:cNvPr id="0" name=""/>
        <dsp:cNvSpPr/>
      </dsp:nvSpPr>
      <dsp:spPr>
        <a:xfrm>
          <a:off x="0" y="1414396"/>
          <a:ext cx="7426036"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Provides a clear baseline for comparison</a:t>
          </a:r>
          <a:endParaRPr lang="en-US" sz="1500" b="0" kern="1200" dirty="0"/>
        </a:p>
        <a:p>
          <a:pPr marL="114300" lvl="1" indent="-114300" algn="l" defTabSz="666750">
            <a:lnSpc>
              <a:spcPct val="90000"/>
            </a:lnSpc>
            <a:spcBef>
              <a:spcPct val="0"/>
            </a:spcBef>
            <a:spcAft>
              <a:spcPct val="20000"/>
            </a:spcAft>
            <a:buChar char="•"/>
          </a:pPr>
          <a:r>
            <a:rPr lang="en-US" sz="1500" kern="1200"/>
            <a:t>Shows how well linear patterns explain salary outcomes</a:t>
          </a:r>
        </a:p>
        <a:p>
          <a:pPr marL="114300" lvl="1" indent="-114300" algn="l" defTabSz="666750">
            <a:lnSpc>
              <a:spcPct val="90000"/>
            </a:lnSpc>
            <a:spcBef>
              <a:spcPct val="0"/>
            </a:spcBef>
            <a:spcAft>
              <a:spcPct val="20000"/>
            </a:spcAft>
            <a:buChar char="•"/>
          </a:pPr>
          <a:r>
            <a:rPr lang="en-US" sz="1500" kern="1200" dirty="0"/>
            <a:t>Produces interpretable coefficients (direction + strength of influence)</a:t>
          </a:r>
        </a:p>
      </dsp:txBody>
      <dsp:txXfrm>
        <a:off x="0" y="1414396"/>
        <a:ext cx="7426036" cy="786599"/>
      </dsp:txXfrm>
    </dsp:sp>
    <dsp:sp modelId="{69453D6A-4C08-458C-BA87-B2A437496B42}">
      <dsp:nvSpPr>
        <dsp:cNvPr id="0" name=""/>
        <dsp:cNvSpPr/>
      </dsp:nvSpPr>
      <dsp:spPr>
        <a:xfrm>
          <a:off x="0" y="2200996"/>
          <a:ext cx="7426036" cy="46683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Key Takeaway</a:t>
          </a:r>
          <a:endParaRPr lang="en-US" sz="1900" kern="1200" dirty="0"/>
        </a:p>
      </dsp:txBody>
      <dsp:txXfrm>
        <a:off x="22789" y="2223785"/>
        <a:ext cx="7380458" cy="421252"/>
      </dsp:txXfrm>
    </dsp:sp>
    <dsp:sp modelId="{5F8F4BD2-CF4E-4F69-BCE3-6E9ECE7250B0}">
      <dsp:nvSpPr>
        <dsp:cNvPr id="0" name=""/>
        <dsp:cNvSpPr/>
      </dsp:nvSpPr>
      <dsp:spPr>
        <a:xfrm>
          <a:off x="0" y="2667826"/>
          <a:ext cx="7426036" cy="471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Logistic Regression gives us a clean, interpretable view of salary drivers — essential for compensation strategy and pay‑equity analysis.</a:t>
          </a:r>
        </a:p>
      </dsp:txBody>
      <dsp:txXfrm>
        <a:off x="0" y="2667826"/>
        <a:ext cx="7426036" cy="471960"/>
      </dsp:txXfrm>
    </dsp:sp>
    <dsp:sp modelId="{285F6CF5-41C2-482E-98E1-9CCBE2D30E86}">
      <dsp:nvSpPr>
        <dsp:cNvPr id="0" name=""/>
        <dsp:cNvSpPr/>
      </dsp:nvSpPr>
      <dsp:spPr>
        <a:xfrm>
          <a:off x="0" y="3139786"/>
          <a:ext cx="7426036" cy="46683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Why This Matters</a:t>
          </a:r>
          <a:endParaRPr lang="en-US" sz="1900" kern="1200"/>
        </a:p>
      </dsp:txBody>
      <dsp:txXfrm>
        <a:off x="22789" y="3162575"/>
        <a:ext cx="7380458" cy="421252"/>
      </dsp:txXfrm>
    </dsp:sp>
    <dsp:sp modelId="{94B9AB2B-E3A2-4D49-90DF-FAD7F840A1A8}">
      <dsp:nvSpPr>
        <dsp:cNvPr id="0" name=""/>
        <dsp:cNvSpPr/>
      </dsp:nvSpPr>
      <dsp:spPr>
        <a:xfrm>
          <a:off x="0" y="3606616"/>
          <a:ext cx="7426036"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Helps identify which features push salary up or down</a:t>
          </a:r>
          <a:endParaRPr lang="en-US" sz="1500" kern="1200" dirty="0"/>
        </a:p>
        <a:p>
          <a:pPr marL="114300" lvl="1" indent="-114300" algn="l" defTabSz="666750">
            <a:lnSpc>
              <a:spcPct val="90000"/>
            </a:lnSpc>
            <a:spcBef>
              <a:spcPct val="0"/>
            </a:spcBef>
            <a:spcAft>
              <a:spcPct val="20000"/>
            </a:spcAft>
            <a:buChar char="•"/>
          </a:pPr>
          <a:r>
            <a:rPr lang="en-US" sz="1500" kern="1200"/>
            <a:t>Supports transparent, policy‑driven decisions (HR, compensation, pay equity)</a:t>
          </a:r>
          <a:endParaRPr lang="en-US" sz="1500" kern="1200" dirty="0"/>
        </a:p>
        <a:p>
          <a:pPr marL="114300" lvl="1" indent="-114300" algn="l" defTabSz="666750">
            <a:lnSpc>
              <a:spcPct val="90000"/>
            </a:lnSpc>
            <a:spcBef>
              <a:spcPct val="0"/>
            </a:spcBef>
            <a:spcAft>
              <a:spcPct val="20000"/>
            </a:spcAft>
            <a:buChar char="•"/>
          </a:pPr>
          <a:r>
            <a:rPr lang="en-US" sz="1500" kern="1200" dirty="0"/>
            <a:t>Serves as the foundation for the reduced GLM model used later</a:t>
          </a:r>
        </a:p>
      </dsp:txBody>
      <dsp:txXfrm>
        <a:off x="0" y="3606616"/>
        <a:ext cx="7426036" cy="78659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7719"/>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29308"/>
        <a:ext cx="7382858" cy="399082"/>
      </dsp:txXfrm>
    </dsp:sp>
    <dsp:sp modelId="{27E56ABA-57EA-4829-B58F-7EF2C9D69ED6}">
      <dsp:nvSpPr>
        <dsp:cNvPr id="0" name=""/>
        <dsp:cNvSpPr/>
      </dsp:nvSpPr>
      <dsp:spPr>
        <a:xfrm>
          <a:off x="0" y="449979"/>
          <a:ext cx="7426036"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A fast, simple model that makes predictions based on probability patterns in the data.</a:t>
          </a:r>
        </a:p>
      </dsp:txBody>
      <dsp:txXfrm>
        <a:off x="0" y="449979"/>
        <a:ext cx="7426036" cy="298080"/>
      </dsp:txXfrm>
    </dsp:sp>
    <dsp:sp modelId="{BB43A5AA-EDBB-4D04-8D81-E67BF613AE06}">
      <dsp:nvSpPr>
        <dsp:cNvPr id="0" name=""/>
        <dsp:cNvSpPr/>
      </dsp:nvSpPr>
      <dsp:spPr>
        <a:xfrm>
          <a:off x="0" y="748059"/>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endParaRPr lang="en-US" sz="1800" kern="1200" dirty="0"/>
        </a:p>
      </dsp:txBody>
      <dsp:txXfrm>
        <a:off x="21589" y="769648"/>
        <a:ext cx="7382858" cy="399082"/>
      </dsp:txXfrm>
    </dsp:sp>
    <dsp:sp modelId="{9C562FED-2BD2-4549-8928-97ECCEA6AAC2}">
      <dsp:nvSpPr>
        <dsp:cNvPr id="0" name=""/>
        <dsp:cNvSpPr/>
      </dsp:nvSpPr>
      <dsp:spPr>
        <a:xfrm>
          <a:off x="0" y="1190319"/>
          <a:ext cx="7426036" cy="1155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Extremely quick to train</a:t>
          </a:r>
          <a:endParaRPr lang="en-US" sz="1400" b="0" kern="1200" dirty="0"/>
        </a:p>
        <a:p>
          <a:pPr marL="114300" lvl="1" indent="-114300" algn="l" defTabSz="622300">
            <a:lnSpc>
              <a:spcPct val="90000"/>
            </a:lnSpc>
            <a:spcBef>
              <a:spcPct val="0"/>
            </a:spcBef>
            <a:spcAft>
              <a:spcPct val="20000"/>
            </a:spcAft>
            <a:buChar char="•"/>
          </a:pPr>
          <a:r>
            <a:rPr lang="en-US" sz="1400" kern="1200"/>
            <a:t>Provides a lightweight benchmark</a:t>
          </a:r>
          <a:endParaRPr lang="en-US" sz="1400" kern="1200" dirty="0"/>
        </a:p>
        <a:p>
          <a:pPr marL="114300" lvl="1" indent="-114300" algn="l" defTabSz="622300">
            <a:lnSpc>
              <a:spcPct val="90000"/>
            </a:lnSpc>
            <a:spcBef>
              <a:spcPct val="0"/>
            </a:spcBef>
            <a:spcAft>
              <a:spcPct val="20000"/>
            </a:spcAft>
            <a:buChar char="•"/>
          </a:pPr>
          <a:r>
            <a:rPr lang="en-US" sz="1400" kern="1200"/>
            <a:t>Helps confirm whether simple statistical patterns can separate above‑ vs. below‑median salaries</a:t>
          </a:r>
        </a:p>
        <a:p>
          <a:pPr marL="114300" lvl="1" indent="-114300" algn="l" defTabSz="622300">
            <a:lnSpc>
              <a:spcPct val="90000"/>
            </a:lnSpc>
            <a:spcBef>
              <a:spcPct val="0"/>
            </a:spcBef>
            <a:spcAft>
              <a:spcPct val="20000"/>
            </a:spcAft>
            <a:buChar char="•"/>
          </a:pPr>
          <a:r>
            <a:rPr lang="en-US" sz="1400" kern="1200" dirty="0"/>
            <a:t>Useful for comparison against more complex models</a:t>
          </a:r>
        </a:p>
      </dsp:txBody>
      <dsp:txXfrm>
        <a:off x="0" y="1190319"/>
        <a:ext cx="7426036" cy="1155060"/>
      </dsp:txXfrm>
    </dsp:sp>
    <dsp:sp modelId="{69453D6A-4C08-458C-BA87-B2A437496B42}">
      <dsp:nvSpPr>
        <dsp:cNvPr id="0" name=""/>
        <dsp:cNvSpPr/>
      </dsp:nvSpPr>
      <dsp:spPr>
        <a:xfrm>
          <a:off x="0" y="2345379"/>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Key Takeaway</a:t>
          </a:r>
          <a:endParaRPr lang="en-US" sz="1800" kern="1200"/>
        </a:p>
      </dsp:txBody>
      <dsp:txXfrm>
        <a:off x="21589" y="2366968"/>
        <a:ext cx="7382858" cy="399082"/>
      </dsp:txXfrm>
    </dsp:sp>
    <dsp:sp modelId="{5F8F4BD2-CF4E-4F69-BCE3-6E9ECE7250B0}">
      <dsp:nvSpPr>
        <dsp:cNvPr id="0" name=""/>
        <dsp:cNvSpPr/>
      </dsp:nvSpPr>
      <dsp:spPr>
        <a:xfrm>
          <a:off x="0" y="2787639"/>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b="0" kern="1200" dirty="0"/>
            <a:t>Naive Bayes provides a fast, simple benchmark but struggles with correlated features — making it less accurate than Logistic Regression and tree‑based models.</a:t>
          </a:r>
          <a:endParaRPr lang="en-US" sz="1400" kern="1200" dirty="0"/>
        </a:p>
      </dsp:txBody>
      <dsp:txXfrm>
        <a:off x="0" y="2787639"/>
        <a:ext cx="7426036" cy="437805"/>
      </dsp:txXfrm>
    </dsp:sp>
    <dsp:sp modelId="{285F6CF5-41C2-482E-98E1-9CCBE2D30E86}">
      <dsp:nvSpPr>
        <dsp:cNvPr id="0" name=""/>
        <dsp:cNvSpPr/>
      </dsp:nvSpPr>
      <dsp:spPr>
        <a:xfrm>
          <a:off x="0" y="3225443"/>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47032"/>
        <a:ext cx="7382858" cy="399082"/>
      </dsp:txXfrm>
    </dsp:sp>
    <dsp:sp modelId="{94B9AB2B-E3A2-4D49-90DF-FAD7F840A1A8}">
      <dsp:nvSpPr>
        <dsp:cNvPr id="0" name=""/>
        <dsp:cNvSpPr/>
      </dsp:nvSpPr>
      <dsp:spPr>
        <a:xfrm>
          <a:off x="0" y="3667703"/>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Confirms that salary patterns are not purely independent</a:t>
          </a:r>
          <a:endParaRPr lang="en-US" sz="1400" kern="1200" dirty="0"/>
        </a:p>
        <a:p>
          <a:pPr marL="114300" lvl="1" indent="-114300" algn="l" defTabSz="622300">
            <a:lnSpc>
              <a:spcPct val="90000"/>
            </a:lnSpc>
            <a:spcBef>
              <a:spcPct val="0"/>
            </a:spcBef>
            <a:spcAft>
              <a:spcPct val="20000"/>
            </a:spcAft>
            <a:buChar char="•"/>
          </a:pPr>
          <a:r>
            <a:rPr lang="en-US" sz="1400" kern="1200"/>
            <a:t>Reinforces the need for more flexible models</a:t>
          </a:r>
        </a:p>
        <a:p>
          <a:pPr marL="114300" lvl="1" indent="-114300" algn="l" defTabSz="622300">
            <a:lnSpc>
              <a:spcPct val="90000"/>
            </a:lnSpc>
            <a:spcBef>
              <a:spcPct val="0"/>
            </a:spcBef>
            <a:spcAft>
              <a:spcPct val="20000"/>
            </a:spcAft>
            <a:buChar char="•"/>
          </a:pPr>
          <a:r>
            <a:rPr lang="en-US" sz="1400" kern="1200" dirty="0"/>
            <a:t>Helps validate that improvements in later models are meaningful</a:t>
          </a:r>
        </a:p>
      </dsp:txBody>
      <dsp:txXfrm>
        <a:off x="0" y="3667703"/>
        <a:ext cx="7426036" cy="72657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3100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52595"/>
        <a:ext cx="7382858" cy="399082"/>
      </dsp:txXfrm>
    </dsp:sp>
    <dsp:sp modelId="{27E56ABA-57EA-4829-B58F-7EF2C9D69ED6}">
      <dsp:nvSpPr>
        <dsp:cNvPr id="0" name=""/>
        <dsp:cNvSpPr/>
      </dsp:nvSpPr>
      <dsp:spPr>
        <a:xfrm>
          <a:off x="0" y="473266"/>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KNN predicts salary category by looking at the most similar past cases and choosing the salary group that those neighbors belong to.</a:t>
          </a:r>
        </a:p>
      </dsp:txBody>
      <dsp:txXfrm>
        <a:off x="0" y="473266"/>
        <a:ext cx="7426036" cy="437805"/>
      </dsp:txXfrm>
    </dsp:sp>
    <dsp:sp modelId="{BB43A5AA-EDBB-4D04-8D81-E67BF613AE06}">
      <dsp:nvSpPr>
        <dsp:cNvPr id="0" name=""/>
        <dsp:cNvSpPr/>
      </dsp:nvSpPr>
      <dsp:spPr>
        <a:xfrm>
          <a:off x="0" y="91107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endParaRPr lang="en-US" sz="1800" kern="1200" dirty="0"/>
        </a:p>
      </dsp:txBody>
      <dsp:txXfrm>
        <a:off x="21589" y="932660"/>
        <a:ext cx="7382858" cy="399082"/>
      </dsp:txXfrm>
    </dsp:sp>
    <dsp:sp modelId="{9C562FED-2BD2-4549-8928-97ECCEA6AAC2}">
      <dsp:nvSpPr>
        <dsp:cNvPr id="0" name=""/>
        <dsp:cNvSpPr/>
      </dsp:nvSpPr>
      <dsp:spPr>
        <a:xfrm>
          <a:off x="0" y="1353331"/>
          <a:ext cx="7426036"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b="0" kern="1200" dirty="0"/>
            <a:t>Captures nonlinear patterns in salary data</a:t>
          </a:r>
        </a:p>
        <a:p>
          <a:pPr marL="114300" lvl="1" indent="-114300" algn="l" defTabSz="622300">
            <a:lnSpc>
              <a:spcPct val="90000"/>
            </a:lnSpc>
            <a:spcBef>
              <a:spcPct val="0"/>
            </a:spcBef>
            <a:spcAft>
              <a:spcPct val="20000"/>
            </a:spcAft>
            <a:buChar char="•"/>
          </a:pPr>
          <a:r>
            <a:rPr lang="en-US" sz="1400" b="0" kern="1200" dirty="0"/>
            <a:t>Compares each job record to its closest neighbors</a:t>
          </a:r>
        </a:p>
        <a:p>
          <a:pPr marL="114300" lvl="1" indent="-114300" algn="l" defTabSz="622300">
            <a:lnSpc>
              <a:spcPct val="90000"/>
            </a:lnSpc>
            <a:spcBef>
              <a:spcPct val="0"/>
            </a:spcBef>
            <a:spcAft>
              <a:spcPct val="20000"/>
            </a:spcAft>
            <a:buChar char="•"/>
          </a:pPr>
          <a:r>
            <a:rPr lang="en-US" sz="1400" b="0" kern="1200" dirty="0"/>
            <a:t>Provides contrast to linear models (Logistic Regression)</a:t>
          </a:r>
        </a:p>
        <a:p>
          <a:pPr marL="114300" lvl="1" indent="-114300" algn="l" defTabSz="622300">
            <a:lnSpc>
              <a:spcPct val="90000"/>
            </a:lnSpc>
            <a:spcBef>
              <a:spcPct val="0"/>
            </a:spcBef>
            <a:spcAft>
              <a:spcPct val="20000"/>
            </a:spcAft>
            <a:buChar char="•"/>
          </a:pPr>
          <a:r>
            <a:rPr lang="en-US" sz="1400" b="0" kern="1200" dirty="0"/>
            <a:t>Helps test whether local similarity predicts salary category</a:t>
          </a:r>
        </a:p>
      </dsp:txBody>
      <dsp:txXfrm>
        <a:off x="0" y="1353331"/>
        <a:ext cx="7426036" cy="968760"/>
      </dsp:txXfrm>
    </dsp:sp>
    <dsp:sp modelId="{69453D6A-4C08-458C-BA87-B2A437496B42}">
      <dsp:nvSpPr>
        <dsp:cNvPr id="0" name=""/>
        <dsp:cNvSpPr/>
      </dsp:nvSpPr>
      <dsp:spPr>
        <a:xfrm>
          <a:off x="0" y="232209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Key Takeaway</a:t>
          </a:r>
          <a:endParaRPr lang="en-US" sz="1800" kern="1200"/>
        </a:p>
      </dsp:txBody>
      <dsp:txXfrm>
        <a:off x="21589" y="2343680"/>
        <a:ext cx="7382858" cy="399082"/>
      </dsp:txXfrm>
    </dsp:sp>
    <dsp:sp modelId="{5F8F4BD2-CF4E-4F69-BCE3-6E9ECE7250B0}">
      <dsp:nvSpPr>
        <dsp:cNvPr id="0" name=""/>
        <dsp:cNvSpPr/>
      </dsp:nvSpPr>
      <dsp:spPr>
        <a:xfrm>
          <a:off x="0" y="2764351"/>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KNN identifies some nonlinear salary patterns but is sensitive to scaling and noise, resulting in moderate performance compared to ensemble models.</a:t>
          </a:r>
        </a:p>
      </dsp:txBody>
      <dsp:txXfrm>
        <a:off x="0" y="2764351"/>
        <a:ext cx="7426036" cy="437805"/>
      </dsp:txXfrm>
    </dsp:sp>
    <dsp:sp modelId="{285F6CF5-41C2-482E-98E1-9CCBE2D30E86}">
      <dsp:nvSpPr>
        <dsp:cNvPr id="0" name=""/>
        <dsp:cNvSpPr/>
      </dsp:nvSpPr>
      <dsp:spPr>
        <a:xfrm>
          <a:off x="0" y="320215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23745"/>
        <a:ext cx="7382858" cy="399082"/>
      </dsp:txXfrm>
    </dsp:sp>
    <dsp:sp modelId="{94B9AB2B-E3A2-4D49-90DF-FAD7F840A1A8}">
      <dsp:nvSpPr>
        <dsp:cNvPr id="0" name=""/>
        <dsp:cNvSpPr/>
      </dsp:nvSpPr>
      <dsp:spPr>
        <a:xfrm>
          <a:off x="0" y="3644416"/>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Shows salary patterns are </a:t>
          </a:r>
          <a:r>
            <a:rPr lang="en-US" sz="1400" b="1" kern="1200"/>
            <a:t>not purely linear</a:t>
          </a:r>
          <a:endParaRPr lang="en-US" sz="1400" kern="1200"/>
        </a:p>
        <a:p>
          <a:pPr marL="114300" lvl="1" indent="-114300" algn="l" defTabSz="622300">
            <a:lnSpc>
              <a:spcPct val="90000"/>
            </a:lnSpc>
            <a:spcBef>
              <a:spcPct val="0"/>
            </a:spcBef>
            <a:spcAft>
              <a:spcPct val="20000"/>
            </a:spcAft>
            <a:buChar char="•"/>
          </a:pPr>
          <a:r>
            <a:rPr lang="en-US" sz="1400" kern="1200"/>
            <a:t>Confirms that </a:t>
          </a:r>
          <a:r>
            <a:rPr lang="en-US" sz="1400" b="1" kern="1200"/>
            <a:t>local role similarity</a:t>
          </a:r>
          <a:r>
            <a:rPr lang="en-US" sz="1400" kern="1200"/>
            <a:t> helps but isn’t enough</a:t>
          </a:r>
        </a:p>
        <a:p>
          <a:pPr marL="114300" lvl="1" indent="-114300" algn="l" defTabSz="622300">
            <a:lnSpc>
              <a:spcPct val="90000"/>
            </a:lnSpc>
            <a:spcBef>
              <a:spcPct val="0"/>
            </a:spcBef>
            <a:spcAft>
              <a:spcPct val="20000"/>
            </a:spcAft>
            <a:buChar char="•"/>
          </a:pPr>
          <a:r>
            <a:rPr lang="en-US" sz="1400" kern="1200"/>
            <a:t>Sets the stage for more powerful nonlinear models (SVM, ensembles)</a:t>
          </a:r>
        </a:p>
      </dsp:txBody>
      <dsp:txXfrm>
        <a:off x="0" y="3644416"/>
        <a:ext cx="7426036" cy="72657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88D0B7-3005-49C7-B72A-71F23BFDE9C9}">
      <dsp:nvSpPr>
        <dsp:cNvPr id="0" name=""/>
        <dsp:cNvSpPr/>
      </dsp:nvSpPr>
      <dsp:spPr>
        <a:xfrm>
          <a:off x="0" y="72703"/>
          <a:ext cx="11450781"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p>
      </dsp:txBody>
      <dsp:txXfrm>
        <a:off x="21589" y="94292"/>
        <a:ext cx="11407603" cy="399082"/>
      </dsp:txXfrm>
    </dsp:sp>
    <dsp:sp modelId="{7EC58E8B-3C71-4EB1-A06C-C3A7561484D4}">
      <dsp:nvSpPr>
        <dsp:cNvPr id="0" name=""/>
        <dsp:cNvSpPr/>
      </dsp:nvSpPr>
      <dsp:spPr>
        <a:xfrm>
          <a:off x="0" y="514963"/>
          <a:ext cx="11450781"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562"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a:t>Support Vector Machines classify salary groups by finding the best boundary that separates higher‑salary and lower‑salary cases.</a:t>
          </a:r>
          <a:endParaRPr lang="en-US" sz="14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a:t>Linear SVM</a:t>
          </a:r>
          <a:r>
            <a:rPr lang="en-US" sz="1400" kern="1200"/>
            <a:t> uses a straight-line boundary.</a:t>
          </a:r>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a:t>RBF SVM</a:t>
          </a:r>
          <a:r>
            <a:rPr lang="en-US" sz="1400" kern="1200"/>
            <a:t> uses a curved boundary that adapts to complex patterns.</a:t>
          </a:r>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dirty="0"/>
            <a:t>Polynomial SVM</a:t>
          </a:r>
          <a:r>
            <a:rPr lang="en-US" sz="1400" kern="1200" dirty="0"/>
            <a:t> uses a curved boundary shaped by polynomial interactions between features.</a:t>
          </a:r>
        </a:p>
      </dsp:txBody>
      <dsp:txXfrm>
        <a:off x="0" y="514963"/>
        <a:ext cx="11450781" cy="968760"/>
      </dsp:txXfrm>
    </dsp:sp>
    <dsp:sp modelId="{02527B4E-EF55-4AF3-ACE5-7FCFC5406B17}">
      <dsp:nvSpPr>
        <dsp:cNvPr id="0" name=""/>
        <dsp:cNvSpPr/>
      </dsp:nvSpPr>
      <dsp:spPr>
        <a:xfrm>
          <a:off x="0" y="1483723"/>
          <a:ext cx="11450781"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endParaRPr lang="en-US" sz="1800" kern="1200" dirty="0"/>
        </a:p>
      </dsp:txBody>
      <dsp:txXfrm>
        <a:off x="21589" y="1505312"/>
        <a:ext cx="11407603" cy="399082"/>
      </dsp:txXfrm>
    </dsp:sp>
    <dsp:sp modelId="{8328D837-2E45-4A89-9A5A-CCACC14B5F95}">
      <dsp:nvSpPr>
        <dsp:cNvPr id="0" name=""/>
        <dsp:cNvSpPr/>
      </dsp:nvSpPr>
      <dsp:spPr>
        <a:xfrm>
          <a:off x="0" y="1925983"/>
          <a:ext cx="11450781"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56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SVMs are powerful when salary patterns aren’t perfectly linear.</a:t>
          </a:r>
          <a:endParaRPr lang="en-US" sz="14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a:t>Linear SVM</a:t>
          </a:r>
          <a:r>
            <a:rPr lang="en-US" sz="1400" kern="1200"/>
            <a:t> works well when features separate cleanly.</a:t>
          </a:r>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dirty="0"/>
            <a:t>RBF SVM</a:t>
          </a:r>
          <a:r>
            <a:rPr lang="en-US" sz="1400" kern="1200" dirty="0"/>
            <a:t> handles nonlinear relationships and subtle patterns.</a:t>
          </a:r>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dirty="0"/>
            <a:t>Polynomial SVM</a:t>
          </a:r>
          <a:r>
            <a:rPr lang="en-US" sz="1400" kern="1200" dirty="0"/>
            <a:t> captures interactions between features (e.g., job title × experience) that influence salary together.</a:t>
          </a:r>
        </a:p>
      </dsp:txBody>
      <dsp:txXfrm>
        <a:off x="0" y="1925983"/>
        <a:ext cx="11450781" cy="968760"/>
      </dsp:txXfrm>
    </dsp:sp>
    <dsp:sp modelId="{9D892083-2125-4245-93BD-7B42A60DAD3A}">
      <dsp:nvSpPr>
        <dsp:cNvPr id="0" name=""/>
        <dsp:cNvSpPr/>
      </dsp:nvSpPr>
      <dsp:spPr>
        <a:xfrm>
          <a:off x="0" y="2894743"/>
          <a:ext cx="11450781"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Key Takeaway</a:t>
          </a:r>
          <a:endParaRPr lang="en-US" sz="1800" kern="1200"/>
        </a:p>
      </dsp:txBody>
      <dsp:txXfrm>
        <a:off x="21589" y="2916332"/>
        <a:ext cx="11407603" cy="399082"/>
      </dsp:txXfrm>
    </dsp:sp>
    <dsp:sp modelId="{822C921D-F893-4EE6-A491-2E85DFFE5193}">
      <dsp:nvSpPr>
        <dsp:cNvPr id="0" name=""/>
        <dsp:cNvSpPr/>
      </dsp:nvSpPr>
      <dsp:spPr>
        <a:xfrm>
          <a:off x="0" y="3337003"/>
          <a:ext cx="11450781"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56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Polynomial SVM adds flexibility by modeling </a:t>
          </a:r>
          <a:r>
            <a:rPr lang="en-US" sz="1400" b="1" kern="1200" dirty="0"/>
            <a:t>feature interactions</a:t>
          </a:r>
          <a:r>
            <a:rPr lang="en-US" sz="1400" kern="1200" dirty="0"/>
            <a:t>, making it more expressive than Linear SVM and sometimes more stable than RBF SVM when patterns follow structured curves.</a:t>
          </a:r>
          <a:endParaRPr lang="en-US" sz="1400" b="0" kern="1200" dirty="0"/>
        </a:p>
      </dsp:txBody>
      <dsp:txXfrm>
        <a:off x="0" y="3337003"/>
        <a:ext cx="11450781" cy="437805"/>
      </dsp:txXfrm>
    </dsp:sp>
    <dsp:sp modelId="{2D7BADB5-5A67-4754-B9C2-B581983CF4D8}">
      <dsp:nvSpPr>
        <dsp:cNvPr id="0" name=""/>
        <dsp:cNvSpPr/>
      </dsp:nvSpPr>
      <dsp:spPr>
        <a:xfrm>
          <a:off x="0" y="3774808"/>
          <a:ext cx="11450781"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796397"/>
        <a:ext cx="11407603" cy="399082"/>
      </dsp:txXfrm>
    </dsp:sp>
    <dsp:sp modelId="{0F020807-BF35-40F2-A5C9-74F630F9B1F0}">
      <dsp:nvSpPr>
        <dsp:cNvPr id="0" name=""/>
        <dsp:cNvSpPr/>
      </dsp:nvSpPr>
      <dsp:spPr>
        <a:xfrm>
          <a:off x="0" y="4217068"/>
          <a:ext cx="11450781"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56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Including Polynomial SVM shows how salary classification changes when the model considers </a:t>
          </a:r>
          <a:r>
            <a:rPr lang="en-US" sz="1400" b="1" kern="1200" dirty="0"/>
            <a:t>combined effects</a:t>
          </a:r>
          <a:r>
            <a:rPr lang="en-US" sz="1400" kern="1200" dirty="0"/>
            <a:t> of features — not just individual contributions. This helps reveal deeper salary patterns that simpler boundaries might miss.</a:t>
          </a:r>
        </a:p>
      </dsp:txBody>
      <dsp:txXfrm>
        <a:off x="0" y="4217068"/>
        <a:ext cx="11450781" cy="43780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45991"/>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What is it?</a:t>
          </a:r>
          <a:endParaRPr lang="en-US" sz="1700" kern="1200" dirty="0"/>
        </a:p>
      </dsp:txBody>
      <dsp:txXfrm>
        <a:off x="20390" y="66381"/>
        <a:ext cx="7385256" cy="376910"/>
      </dsp:txXfrm>
    </dsp:sp>
    <dsp:sp modelId="{27E56ABA-57EA-4829-B58F-7EF2C9D69ED6}">
      <dsp:nvSpPr>
        <dsp:cNvPr id="0" name=""/>
        <dsp:cNvSpPr/>
      </dsp:nvSpPr>
      <dsp:spPr>
        <a:xfrm>
          <a:off x="0" y="463681"/>
          <a:ext cx="7426036"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None/>
          </a:pPr>
          <a:r>
            <a:rPr lang="en-US" sz="1300" kern="1200" dirty="0"/>
            <a:t>A Decision Tree makes choices step‑by‑step, like a flowchart. It splits the data into groups based on factors such as job title and experience</a:t>
          </a:r>
        </a:p>
      </dsp:txBody>
      <dsp:txXfrm>
        <a:off x="0" y="463681"/>
        <a:ext cx="7426036" cy="413482"/>
      </dsp:txXfrm>
    </dsp:sp>
    <dsp:sp modelId="{BB43A5AA-EDBB-4D04-8D81-E67BF613AE06}">
      <dsp:nvSpPr>
        <dsp:cNvPr id="0" name=""/>
        <dsp:cNvSpPr/>
      </dsp:nvSpPr>
      <dsp:spPr>
        <a:xfrm>
          <a:off x="0" y="877163"/>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Why It’s Useful</a:t>
          </a:r>
        </a:p>
      </dsp:txBody>
      <dsp:txXfrm>
        <a:off x="20390" y="897553"/>
        <a:ext cx="7385256" cy="376910"/>
      </dsp:txXfrm>
    </dsp:sp>
    <dsp:sp modelId="{9C562FED-2BD2-4549-8928-97ECCEA6AAC2}">
      <dsp:nvSpPr>
        <dsp:cNvPr id="0" name=""/>
        <dsp:cNvSpPr/>
      </dsp:nvSpPr>
      <dsp:spPr>
        <a:xfrm>
          <a:off x="0" y="1294853"/>
          <a:ext cx="7426036" cy="1126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b="0" kern="1200"/>
            <a:t>Provides a simple, interpretable nonlinear model</a:t>
          </a:r>
          <a:endParaRPr lang="en-US" sz="1300" b="0" kern="1200" dirty="0"/>
        </a:p>
        <a:p>
          <a:pPr marL="114300" lvl="1" indent="-114300" algn="l" defTabSz="577850">
            <a:lnSpc>
              <a:spcPct val="90000"/>
            </a:lnSpc>
            <a:spcBef>
              <a:spcPct val="0"/>
            </a:spcBef>
            <a:spcAft>
              <a:spcPct val="20000"/>
            </a:spcAft>
            <a:buChar char="•"/>
          </a:pPr>
          <a:r>
            <a:rPr lang="en-US" sz="1300" b="0" kern="1200"/>
            <a:t>Shows how features split the population into salary groups</a:t>
          </a:r>
          <a:endParaRPr lang="en-US" sz="1300" b="0" kern="1200" dirty="0"/>
        </a:p>
        <a:p>
          <a:pPr marL="114300" lvl="1" indent="-114300" algn="l" defTabSz="577850">
            <a:lnSpc>
              <a:spcPct val="90000"/>
            </a:lnSpc>
            <a:spcBef>
              <a:spcPct val="0"/>
            </a:spcBef>
            <a:spcAft>
              <a:spcPct val="20000"/>
            </a:spcAft>
            <a:buChar char="•"/>
          </a:pPr>
          <a:r>
            <a:rPr lang="en-US" sz="1300" b="0" kern="1200"/>
            <a:t>Serves as the foundation for all ensemble methods</a:t>
          </a:r>
          <a:endParaRPr lang="en-US" sz="1300" b="0" kern="1200" dirty="0"/>
        </a:p>
        <a:p>
          <a:pPr marL="114300" lvl="1" indent="-114300" algn="l" defTabSz="577850">
            <a:lnSpc>
              <a:spcPct val="90000"/>
            </a:lnSpc>
            <a:spcBef>
              <a:spcPct val="0"/>
            </a:spcBef>
            <a:spcAft>
              <a:spcPct val="20000"/>
            </a:spcAft>
            <a:buChar char="•"/>
          </a:pPr>
          <a:r>
            <a:rPr lang="en-US" sz="1300" b="0" kern="1200"/>
            <a:t>Helps visualize hierarchical salary decision patterns</a:t>
          </a:r>
          <a:endParaRPr lang="en-US" sz="1300" b="0" kern="1200" dirty="0"/>
        </a:p>
        <a:p>
          <a:pPr marL="114300" lvl="1" indent="-114300" algn="l" defTabSz="577850">
            <a:lnSpc>
              <a:spcPct val="90000"/>
            </a:lnSpc>
            <a:spcBef>
              <a:spcPct val="0"/>
            </a:spcBef>
            <a:spcAft>
              <a:spcPct val="20000"/>
            </a:spcAft>
            <a:buChar char="•"/>
          </a:pPr>
          <a:r>
            <a:rPr lang="en-US" sz="1300" b="0" kern="1200" dirty="0"/>
            <a:t>Sets the stage for Random Forest, Gradient Boosting, and Extra Trees</a:t>
          </a:r>
        </a:p>
      </dsp:txBody>
      <dsp:txXfrm>
        <a:off x="0" y="1294853"/>
        <a:ext cx="7426036" cy="1126080"/>
      </dsp:txXfrm>
    </dsp:sp>
    <dsp:sp modelId="{69453D6A-4C08-458C-BA87-B2A437496B42}">
      <dsp:nvSpPr>
        <dsp:cNvPr id="0" name=""/>
        <dsp:cNvSpPr/>
      </dsp:nvSpPr>
      <dsp:spPr>
        <a:xfrm>
          <a:off x="0" y="2420934"/>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Key Takeaway</a:t>
          </a:r>
          <a:endParaRPr lang="en-US" sz="1700" kern="1200" dirty="0"/>
        </a:p>
      </dsp:txBody>
      <dsp:txXfrm>
        <a:off x="20390" y="2441324"/>
        <a:ext cx="7385256" cy="376910"/>
      </dsp:txXfrm>
    </dsp:sp>
    <dsp:sp modelId="{5F8F4BD2-CF4E-4F69-BCE3-6E9ECE7250B0}">
      <dsp:nvSpPr>
        <dsp:cNvPr id="0" name=""/>
        <dsp:cNvSpPr/>
      </dsp:nvSpPr>
      <dsp:spPr>
        <a:xfrm>
          <a:off x="0" y="2838624"/>
          <a:ext cx="7426036"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Decision Trees capture nonlinear salary relationships but tend to overfit, making them less stable than ensemble models</a:t>
          </a:r>
        </a:p>
      </dsp:txBody>
      <dsp:txXfrm>
        <a:off x="0" y="2838624"/>
        <a:ext cx="7426036" cy="413482"/>
      </dsp:txXfrm>
    </dsp:sp>
    <dsp:sp modelId="{285F6CF5-41C2-482E-98E1-9CCBE2D30E86}">
      <dsp:nvSpPr>
        <dsp:cNvPr id="0" name=""/>
        <dsp:cNvSpPr/>
      </dsp:nvSpPr>
      <dsp:spPr>
        <a:xfrm>
          <a:off x="0" y="3252106"/>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Why This Matters</a:t>
          </a:r>
          <a:endParaRPr lang="en-US" sz="1700" kern="1200"/>
        </a:p>
      </dsp:txBody>
      <dsp:txXfrm>
        <a:off x="20390" y="3272496"/>
        <a:ext cx="7385256" cy="376910"/>
      </dsp:txXfrm>
    </dsp:sp>
    <dsp:sp modelId="{94B9AB2B-E3A2-4D49-90DF-FAD7F840A1A8}">
      <dsp:nvSpPr>
        <dsp:cNvPr id="0" name=""/>
        <dsp:cNvSpPr/>
      </dsp:nvSpPr>
      <dsp:spPr>
        <a:xfrm>
          <a:off x="0" y="3669796"/>
          <a:ext cx="7426036" cy="686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Shows ensemble averaging boosts reliability</a:t>
          </a:r>
          <a:endParaRPr lang="en-US" sz="1300" kern="1200" dirty="0"/>
        </a:p>
        <a:p>
          <a:pPr marL="114300" lvl="1" indent="-114300" algn="l" defTabSz="577850">
            <a:lnSpc>
              <a:spcPct val="90000"/>
            </a:lnSpc>
            <a:spcBef>
              <a:spcPct val="0"/>
            </a:spcBef>
            <a:spcAft>
              <a:spcPct val="20000"/>
            </a:spcAft>
            <a:buChar char="•"/>
          </a:pPr>
          <a:r>
            <a:rPr lang="en-US" sz="1300" kern="1200"/>
            <a:t>Demonstrates strong nonlinear modeling capability</a:t>
          </a:r>
          <a:endParaRPr lang="en-US" sz="1300" kern="1200" dirty="0"/>
        </a:p>
        <a:p>
          <a:pPr marL="114300" lvl="1" indent="-114300" algn="l" defTabSz="577850">
            <a:lnSpc>
              <a:spcPct val="90000"/>
            </a:lnSpc>
            <a:spcBef>
              <a:spcPct val="0"/>
            </a:spcBef>
            <a:spcAft>
              <a:spcPct val="20000"/>
            </a:spcAft>
            <a:buChar char="•"/>
          </a:pPr>
          <a:r>
            <a:rPr lang="en-US" sz="1300" kern="1200" dirty="0"/>
            <a:t>Provides a benchmark for more advanced ensembles</a:t>
          </a:r>
        </a:p>
      </dsp:txBody>
      <dsp:txXfrm>
        <a:off x="0" y="3669796"/>
        <a:ext cx="7426036" cy="68620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3100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52595"/>
        <a:ext cx="7382858" cy="399082"/>
      </dsp:txXfrm>
    </dsp:sp>
    <dsp:sp modelId="{27E56ABA-57EA-4829-B58F-7EF2C9D69ED6}">
      <dsp:nvSpPr>
        <dsp:cNvPr id="0" name=""/>
        <dsp:cNvSpPr/>
      </dsp:nvSpPr>
      <dsp:spPr>
        <a:xfrm>
          <a:off x="0" y="473266"/>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Random Forest uses many decision trees and combines their answers. Think of it like getting multiple opinions instead of relying on just one.</a:t>
          </a:r>
        </a:p>
      </dsp:txBody>
      <dsp:txXfrm>
        <a:off x="0" y="473266"/>
        <a:ext cx="7426036" cy="437805"/>
      </dsp:txXfrm>
    </dsp:sp>
    <dsp:sp modelId="{BB43A5AA-EDBB-4D04-8D81-E67BF613AE06}">
      <dsp:nvSpPr>
        <dsp:cNvPr id="0" name=""/>
        <dsp:cNvSpPr/>
      </dsp:nvSpPr>
      <dsp:spPr>
        <a:xfrm>
          <a:off x="0" y="91107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p>
      </dsp:txBody>
      <dsp:txXfrm>
        <a:off x="21589" y="932660"/>
        <a:ext cx="7382858" cy="399082"/>
      </dsp:txXfrm>
    </dsp:sp>
    <dsp:sp modelId="{9C562FED-2BD2-4549-8928-97ECCEA6AAC2}">
      <dsp:nvSpPr>
        <dsp:cNvPr id="0" name=""/>
        <dsp:cNvSpPr/>
      </dsp:nvSpPr>
      <dsp:spPr>
        <a:xfrm>
          <a:off x="0" y="1353331"/>
          <a:ext cx="7426036"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More stable and reliable than a single tree</a:t>
          </a:r>
          <a:endParaRPr lang="en-US" sz="1400" b="0" kern="1200" dirty="0"/>
        </a:p>
        <a:p>
          <a:pPr marL="114300" lvl="1" indent="-114300" algn="l" defTabSz="622300">
            <a:lnSpc>
              <a:spcPct val="90000"/>
            </a:lnSpc>
            <a:spcBef>
              <a:spcPct val="0"/>
            </a:spcBef>
            <a:spcAft>
              <a:spcPct val="20000"/>
            </a:spcAft>
            <a:buChar char="•"/>
          </a:pPr>
          <a:r>
            <a:rPr lang="en-US" sz="1400" kern="1200"/>
            <a:t>Handles messy or complex data well, which is true in this case</a:t>
          </a:r>
          <a:endParaRPr lang="en-US" sz="1400" kern="1200" dirty="0"/>
        </a:p>
        <a:p>
          <a:pPr marL="114300" lvl="1" indent="-114300" algn="l" defTabSz="622300">
            <a:lnSpc>
              <a:spcPct val="90000"/>
            </a:lnSpc>
            <a:spcBef>
              <a:spcPct val="0"/>
            </a:spcBef>
            <a:spcAft>
              <a:spcPct val="20000"/>
            </a:spcAft>
            <a:buChar char="•"/>
          </a:pPr>
          <a:r>
            <a:rPr lang="en-US" sz="1400" kern="1200"/>
            <a:t>Provides stable feature importance rankings</a:t>
          </a:r>
          <a:endParaRPr lang="en-US" sz="1400" kern="1200" dirty="0"/>
        </a:p>
        <a:p>
          <a:pPr marL="114300" lvl="1" indent="-114300" algn="l" defTabSz="622300">
            <a:lnSpc>
              <a:spcPct val="90000"/>
            </a:lnSpc>
            <a:spcBef>
              <a:spcPct val="0"/>
            </a:spcBef>
            <a:spcAft>
              <a:spcPct val="20000"/>
            </a:spcAft>
            <a:buChar char="•"/>
          </a:pPr>
          <a:r>
            <a:rPr lang="en-US" sz="1400" kern="1200" dirty="0"/>
            <a:t>Strong baseline ensemble model for tabular data</a:t>
          </a:r>
        </a:p>
      </dsp:txBody>
      <dsp:txXfrm>
        <a:off x="0" y="1353331"/>
        <a:ext cx="7426036" cy="968760"/>
      </dsp:txXfrm>
    </dsp:sp>
    <dsp:sp modelId="{69453D6A-4C08-458C-BA87-B2A437496B42}">
      <dsp:nvSpPr>
        <dsp:cNvPr id="0" name=""/>
        <dsp:cNvSpPr/>
      </dsp:nvSpPr>
      <dsp:spPr>
        <a:xfrm>
          <a:off x="0" y="232209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Key Takeaway</a:t>
          </a:r>
          <a:endParaRPr lang="en-US" sz="1800" kern="1200" dirty="0"/>
        </a:p>
      </dsp:txBody>
      <dsp:txXfrm>
        <a:off x="21589" y="2343680"/>
        <a:ext cx="7382858" cy="399082"/>
      </dsp:txXfrm>
    </dsp:sp>
    <dsp:sp modelId="{5F8F4BD2-CF4E-4F69-BCE3-6E9ECE7250B0}">
      <dsp:nvSpPr>
        <dsp:cNvPr id="0" name=""/>
        <dsp:cNvSpPr/>
      </dsp:nvSpPr>
      <dsp:spPr>
        <a:xfrm>
          <a:off x="0" y="2764351"/>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Random Forest improves stability and accuracy over single trees, offering strong performance across all metrics.</a:t>
          </a:r>
        </a:p>
      </dsp:txBody>
      <dsp:txXfrm>
        <a:off x="0" y="2764351"/>
        <a:ext cx="7426036" cy="437805"/>
      </dsp:txXfrm>
    </dsp:sp>
    <dsp:sp modelId="{285F6CF5-41C2-482E-98E1-9CCBE2D30E86}">
      <dsp:nvSpPr>
        <dsp:cNvPr id="0" name=""/>
        <dsp:cNvSpPr/>
      </dsp:nvSpPr>
      <dsp:spPr>
        <a:xfrm>
          <a:off x="0" y="320215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23745"/>
        <a:ext cx="7382858" cy="399082"/>
      </dsp:txXfrm>
    </dsp:sp>
    <dsp:sp modelId="{94B9AB2B-E3A2-4D49-90DF-FAD7F840A1A8}">
      <dsp:nvSpPr>
        <dsp:cNvPr id="0" name=""/>
        <dsp:cNvSpPr/>
      </dsp:nvSpPr>
      <dsp:spPr>
        <a:xfrm>
          <a:off x="0" y="3644416"/>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Shows ensemble averaging boosts reliability</a:t>
          </a:r>
          <a:endParaRPr lang="en-US" sz="1400" kern="1200" dirty="0"/>
        </a:p>
        <a:p>
          <a:pPr marL="114300" lvl="1" indent="-114300" algn="l" defTabSz="622300">
            <a:lnSpc>
              <a:spcPct val="90000"/>
            </a:lnSpc>
            <a:spcBef>
              <a:spcPct val="0"/>
            </a:spcBef>
            <a:spcAft>
              <a:spcPct val="20000"/>
            </a:spcAft>
            <a:buChar char="•"/>
          </a:pPr>
          <a:r>
            <a:rPr lang="en-US" sz="1400" kern="1200"/>
            <a:t>Demonstrates strong nonlinear modeling capability</a:t>
          </a:r>
          <a:endParaRPr lang="en-US" sz="1400" kern="1200" dirty="0"/>
        </a:p>
        <a:p>
          <a:pPr marL="114300" lvl="1" indent="-114300" algn="l" defTabSz="622300">
            <a:lnSpc>
              <a:spcPct val="90000"/>
            </a:lnSpc>
            <a:spcBef>
              <a:spcPct val="0"/>
            </a:spcBef>
            <a:spcAft>
              <a:spcPct val="20000"/>
            </a:spcAft>
            <a:buChar char="•"/>
          </a:pPr>
          <a:r>
            <a:rPr lang="en-US" sz="1400" kern="1200" dirty="0"/>
            <a:t>Provides a benchmark for more advanced ensembles</a:t>
          </a:r>
        </a:p>
      </dsp:txBody>
      <dsp:txXfrm>
        <a:off x="0" y="3644416"/>
        <a:ext cx="7426036" cy="72657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3100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52595"/>
        <a:ext cx="7382858" cy="399082"/>
      </dsp:txXfrm>
    </dsp:sp>
    <dsp:sp modelId="{27E56ABA-57EA-4829-B58F-7EF2C9D69ED6}">
      <dsp:nvSpPr>
        <dsp:cNvPr id="0" name=""/>
        <dsp:cNvSpPr/>
      </dsp:nvSpPr>
      <dsp:spPr>
        <a:xfrm>
          <a:off x="0" y="473266"/>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Gradient Boosting builds trees one at a time, each one fixing the mistakes of the previous one. It’s like learning from errors step‑by‑step.</a:t>
          </a:r>
        </a:p>
      </dsp:txBody>
      <dsp:txXfrm>
        <a:off x="0" y="473266"/>
        <a:ext cx="7426036" cy="437805"/>
      </dsp:txXfrm>
    </dsp:sp>
    <dsp:sp modelId="{BB43A5AA-EDBB-4D04-8D81-E67BF613AE06}">
      <dsp:nvSpPr>
        <dsp:cNvPr id="0" name=""/>
        <dsp:cNvSpPr/>
      </dsp:nvSpPr>
      <dsp:spPr>
        <a:xfrm>
          <a:off x="0" y="91107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p>
      </dsp:txBody>
      <dsp:txXfrm>
        <a:off x="21589" y="932660"/>
        <a:ext cx="7382858" cy="399082"/>
      </dsp:txXfrm>
    </dsp:sp>
    <dsp:sp modelId="{9C562FED-2BD2-4549-8928-97ECCEA6AAC2}">
      <dsp:nvSpPr>
        <dsp:cNvPr id="0" name=""/>
        <dsp:cNvSpPr/>
      </dsp:nvSpPr>
      <dsp:spPr>
        <a:xfrm>
          <a:off x="0" y="1353331"/>
          <a:ext cx="7426036"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Sequentially reduces bias by correcting previous errors</a:t>
          </a:r>
          <a:endParaRPr lang="en-US" sz="1400" b="0" kern="1200" dirty="0"/>
        </a:p>
        <a:p>
          <a:pPr marL="114300" lvl="1" indent="-114300" algn="l" defTabSz="622300">
            <a:lnSpc>
              <a:spcPct val="90000"/>
            </a:lnSpc>
            <a:spcBef>
              <a:spcPct val="0"/>
            </a:spcBef>
            <a:spcAft>
              <a:spcPct val="20000"/>
            </a:spcAft>
            <a:buChar char="•"/>
          </a:pPr>
          <a:r>
            <a:rPr lang="en-US" sz="1400" kern="1200"/>
            <a:t>Excellent for capturing subtle patterns in tabular data</a:t>
          </a:r>
        </a:p>
        <a:p>
          <a:pPr marL="114300" lvl="1" indent="-114300" algn="l" defTabSz="622300">
            <a:lnSpc>
              <a:spcPct val="90000"/>
            </a:lnSpc>
            <a:spcBef>
              <a:spcPct val="0"/>
            </a:spcBef>
            <a:spcAft>
              <a:spcPct val="20000"/>
            </a:spcAft>
            <a:buChar char="•"/>
          </a:pPr>
          <a:r>
            <a:rPr lang="en-US" sz="1400" kern="1200"/>
            <a:t>Often very accurate on structured business data</a:t>
          </a:r>
        </a:p>
        <a:p>
          <a:pPr marL="114300" lvl="1" indent="-114300" algn="l" defTabSz="622300">
            <a:lnSpc>
              <a:spcPct val="90000"/>
            </a:lnSpc>
            <a:spcBef>
              <a:spcPct val="0"/>
            </a:spcBef>
            <a:spcAft>
              <a:spcPct val="20000"/>
            </a:spcAft>
            <a:buChar char="•"/>
          </a:pPr>
          <a:r>
            <a:rPr lang="en-US" sz="1400" kern="1200" dirty="0"/>
            <a:t>Provides a strong comparison point against Random Forest and Extra Trees</a:t>
          </a:r>
        </a:p>
      </dsp:txBody>
      <dsp:txXfrm>
        <a:off x="0" y="1353331"/>
        <a:ext cx="7426036" cy="968760"/>
      </dsp:txXfrm>
    </dsp:sp>
    <dsp:sp modelId="{69453D6A-4C08-458C-BA87-B2A437496B42}">
      <dsp:nvSpPr>
        <dsp:cNvPr id="0" name=""/>
        <dsp:cNvSpPr/>
      </dsp:nvSpPr>
      <dsp:spPr>
        <a:xfrm>
          <a:off x="0" y="232209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Key Takeaway</a:t>
          </a:r>
          <a:endParaRPr lang="en-US" sz="1800" kern="1200" dirty="0"/>
        </a:p>
      </dsp:txBody>
      <dsp:txXfrm>
        <a:off x="21589" y="2343680"/>
        <a:ext cx="7382858" cy="399082"/>
      </dsp:txXfrm>
    </dsp:sp>
    <dsp:sp modelId="{5F8F4BD2-CF4E-4F69-BCE3-6E9ECE7250B0}">
      <dsp:nvSpPr>
        <dsp:cNvPr id="0" name=""/>
        <dsp:cNvSpPr/>
      </dsp:nvSpPr>
      <dsp:spPr>
        <a:xfrm>
          <a:off x="0" y="2764351"/>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Gradient Boosting uncovers complex salary interactions but may require tuning to reach peak performance.</a:t>
          </a:r>
        </a:p>
      </dsp:txBody>
      <dsp:txXfrm>
        <a:off x="0" y="2764351"/>
        <a:ext cx="7426036" cy="437805"/>
      </dsp:txXfrm>
    </dsp:sp>
    <dsp:sp modelId="{285F6CF5-41C2-482E-98E1-9CCBE2D30E86}">
      <dsp:nvSpPr>
        <dsp:cNvPr id="0" name=""/>
        <dsp:cNvSpPr/>
      </dsp:nvSpPr>
      <dsp:spPr>
        <a:xfrm>
          <a:off x="0" y="320215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23745"/>
        <a:ext cx="7382858" cy="399082"/>
      </dsp:txXfrm>
    </dsp:sp>
    <dsp:sp modelId="{94B9AB2B-E3A2-4D49-90DF-FAD7F840A1A8}">
      <dsp:nvSpPr>
        <dsp:cNvPr id="0" name=""/>
        <dsp:cNvSpPr/>
      </dsp:nvSpPr>
      <dsp:spPr>
        <a:xfrm>
          <a:off x="0" y="3644416"/>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Shows the value of sequential learning</a:t>
          </a:r>
          <a:endParaRPr lang="en-US" sz="1400" kern="1200" dirty="0"/>
        </a:p>
        <a:p>
          <a:pPr marL="114300" lvl="1" indent="-114300" algn="l" defTabSz="622300">
            <a:lnSpc>
              <a:spcPct val="90000"/>
            </a:lnSpc>
            <a:spcBef>
              <a:spcPct val="0"/>
            </a:spcBef>
            <a:spcAft>
              <a:spcPct val="20000"/>
            </a:spcAft>
            <a:buChar char="•"/>
          </a:pPr>
          <a:r>
            <a:rPr lang="en-US" sz="1400" kern="1200"/>
            <a:t>Highlights deeper nonlinear structure in salary data</a:t>
          </a:r>
        </a:p>
        <a:p>
          <a:pPr marL="114300" lvl="1" indent="-114300" algn="l" defTabSz="622300">
            <a:lnSpc>
              <a:spcPct val="90000"/>
            </a:lnSpc>
            <a:spcBef>
              <a:spcPct val="0"/>
            </a:spcBef>
            <a:spcAft>
              <a:spcPct val="20000"/>
            </a:spcAft>
            <a:buChar char="•"/>
          </a:pPr>
          <a:r>
            <a:rPr lang="en-US" sz="1400" kern="1200" dirty="0"/>
            <a:t>Sets up the comparison with Extra Trees</a:t>
          </a:r>
        </a:p>
      </dsp:txBody>
      <dsp:txXfrm>
        <a:off x="0" y="3644416"/>
        <a:ext cx="7426036" cy="72657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3100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52595"/>
        <a:ext cx="7382858" cy="399082"/>
      </dsp:txXfrm>
    </dsp:sp>
    <dsp:sp modelId="{27E56ABA-57EA-4829-B58F-7EF2C9D69ED6}">
      <dsp:nvSpPr>
        <dsp:cNvPr id="0" name=""/>
        <dsp:cNvSpPr/>
      </dsp:nvSpPr>
      <dsp:spPr>
        <a:xfrm>
          <a:off x="0" y="473266"/>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AdaBoost pays extra attention to the records that are hardest to classify. It tries to “boost” accuracy by focusing on the tricky cases.</a:t>
          </a:r>
        </a:p>
      </dsp:txBody>
      <dsp:txXfrm>
        <a:off x="0" y="473266"/>
        <a:ext cx="7426036" cy="437805"/>
      </dsp:txXfrm>
    </dsp:sp>
    <dsp:sp modelId="{BB43A5AA-EDBB-4D04-8D81-E67BF613AE06}">
      <dsp:nvSpPr>
        <dsp:cNvPr id="0" name=""/>
        <dsp:cNvSpPr/>
      </dsp:nvSpPr>
      <dsp:spPr>
        <a:xfrm>
          <a:off x="0" y="91107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p>
      </dsp:txBody>
      <dsp:txXfrm>
        <a:off x="21589" y="932660"/>
        <a:ext cx="7382858" cy="399082"/>
      </dsp:txXfrm>
    </dsp:sp>
    <dsp:sp modelId="{9C562FED-2BD2-4549-8928-97ECCEA6AAC2}">
      <dsp:nvSpPr>
        <dsp:cNvPr id="0" name=""/>
        <dsp:cNvSpPr/>
      </dsp:nvSpPr>
      <dsp:spPr>
        <a:xfrm>
          <a:off x="0" y="1353331"/>
          <a:ext cx="7426036"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Focuses on misclassified samples</a:t>
          </a:r>
          <a:endParaRPr lang="en-US" sz="1400" b="0" kern="1200" dirty="0"/>
        </a:p>
        <a:p>
          <a:pPr marL="114300" lvl="1" indent="-114300" algn="l" defTabSz="622300">
            <a:lnSpc>
              <a:spcPct val="90000"/>
            </a:lnSpc>
            <a:spcBef>
              <a:spcPct val="0"/>
            </a:spcBef>
            <a:spcAft>
              <a:spcPct val="20000"/>
            </a:spcAft>
            <a:buChar char="•"/>
          </a:pPr>
          <a:r>
            <a:rPr lang="en-US" sz="1400" kern="1200"/>
            <a:t>Useful for datasets with overlapping salary classes</a:t>
          </a:r>
        </a:p>
        <a:p>
          <a:pPr marL="114300" lvl="1" indent="-114300" algn="l" defTabSz="622300">
            <a:lnSpc>
              <a:spcPct val="90000"/>
            </a:lnSpc>
            <a:spcBef>
              <a:spcPct val="0"/>
            </a:spcBef>
            <a:spcAft>
              <a:spcPct val="20000"/>
            </a:spcAft>
            <a:buChar char="•"/>
          </a:pPr>
          <a:r>
            <a:rPr lang="en-US" sz="1400" kern="1200"/>
            <a:t>Adds diversity to your ensemble comparison</a:t>
          </a:r>
        </a:p>
        <a:p>
          <a:pPr marL="114300" lvl="1" indent="-114300" algn="l" defTabSz="622300">
            <a:lnSpc>
              <a:spcPct val="90000"/>
            </a:lnSpc>
            <a:spcBef>
              <a:spcPct val="0"/>
            </a:spcBef>
            <a:spcAft>
              <a:spcPct val="20000"/>
            </a:spcAft>
            <a:buChar char="•"/>
          </a:pPr>
          <a:r>
            <a:rPr lang="en-US" sz="1400" kern="1200" dirty="0"/>
            <a:t>Helps test whether focusing on difficult examples improves results</a:t>
          </a:r>
        </a:p>
      </dsp:txBody>
      <dsp:txXfrm>
        <a:off x="0" y="1353331"/>
        <a:ext cx="7426036" cy="968760"/>
      </dsp:txXfrm>
    </dsp:sp>
    <dsp:sp modelId="{69453D6A-4C08-458C-BA87-B2A437496B42}">
      <dsp:nvSpPr>
        <dsp:cNvPr id="0" name=""/>
        <dsp:cNvSpPr/>
      </dsp:nvSpPr>
      <dsp:spPr>
        <a:xfrm>
          <a:off x="0" y="232209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Key Takeaway</a:t>
          </a:r>
          <a:endParaRPr lang="en-US" sz="1800" kern="1200" dirty="0"/>
        </a:p>
      </dsp:txBody>
      <dsp:txXfrm>
        <a:off x="21589" y="2343680"/>
        <a:ext cx="7382858" cy="399082"/>
      </dsp:txXfrm>
    </dsp:sp>
    <dsp:sp modelId="{5F8F4BD2-CF4E-4F69-BCE3-6E9ECE7250B0}">
      <dsp:nvSpPr>
        <dsp:cNvPr id="0" name=""/>
        <dsp:cNvSpPr/>
      </dsp:nvSpPr>
      <dsp:spPr>
        <a:xfrm>
          <a:off x="0" y="2764351"/>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AdaBoost improves performance on difficult cases but can be sensitive to noise, making it less stable than Random Forest and Extra Trees.</a:t>
          </a:r>
        </a:p>
      </dsp:txBody>
      <dsp:txXfrm>
        <a:off x="0" y="2764351"/>
        <a:ext cx="7426036" cy="437805"/>
      </dsp:txXfrm>
    </dsp:sp>
    <dsp:sp modelId="{285F6CF5-41C2-482E-98E1-9CCBE2D30E86}">
      <dsp:nvSpPr>
        <dsp:cNvPr id="0" name=""/>
        <dsp:cNvSpPr/>
      </dsp:nvSpPr>
      <dsp:spPr>
        <a:xfrm>
          <a:off x="0" y="320215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23745"/>
        <a:ext cx="7382858" cy="399082"/>
      </dsp:txXfrm>
    </dsp:sp>
    <dsp:sp modelId="{94B9AB2B-E3A2-4D49-90DF-FAD7F840A1A8}">
      <dsp:nvSpPr>
        <dsp:cNvPr id="0" name=""/>
        <dsp:cNvSpPr/>
      </dsp:nvSpPr>
      <dsp:spPr>
        <a:xfrm>
          <a:off x="0" y="3644416"/>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Shows how reweighting difficult cases affects salary prediction</a:t>
          </a:r>
        </a:p>
        <a:p>
          <a:pPr marL="114300" lvl="1" indent="-114300" algn="l" defTabSz="622300">
            <a:lnSpc>
              <a:spcPct val="90000"/>
            </a:lnSpc>
            <a:spcBef>
              <a:spcPct val="0"/>
            </a:spcBef>
            <a:spcAft>
              <a:spcPct val="20000"/>
            </a:spcAft>
            <a:buChar char="•"/>
          </a:pPr>
          <a:r>
            <a:rPr lang="en-US" sz="1400" kern="1200"/>
            <a:t>Demonstrates strengths and limitations of boosting</a:t>
          </a:r>
        </a:p>
        <a:p>
          <a:pPr marL="114300" lvl="1" indent="-114300" algn="l" defTabSz="622300">
            <a:lnSpc>
              <a:spcPct val="90000"/>
            </a:lnSpc>
            <a:spcBef>
              <a:spcPct val="0"/>
            </a:spcBef>
            <a:spcAft>
              <a:spcPct val="20000"/>
            </a:spcAft>
            <a:buChar char="•"/>
          </a:pPr>
          <a:r>
            <a:rPr lang="en-US" sz="1400" kern="1200" dirty="0"/>
            <a:t>Provides contrast to Gradient Boosting and Extra Trees</a:t>
          </a:r>
        </a:p>
      </dsp:txBody>
      <dsp:txXfrm>
        <a:off x="0" y="3644416"/>
        <a:ext cx="7426036" cy="72657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45991"/>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What is it?</a:t>
          </a:r>
          <a:endParaRPr lang="en-US" sz="1700" kern="1200" dirty="0"/>
        </a:p>
      </dsp:txBody>
      <dsp:txXfrm>
        <a:off x="20390" y="66381"/>
        <a:ext cx="7385256" cy="376910"/>
      </dsp:txXfrm>
    </dsp:sp>
    <dsp:sp modelId="{27E56ABA-57EA-4829-B58F-7EF2C9D69ED6}">
      <dsp:nvSpPr>
        <dsp:cNvPr id="0" name=""/>
        <dsp:cNvSpPr/>
      </dsp:nvSpPr>
      <dsp:spPr>
        <a:xfrm>
          <a:off x="0" y="463681"/>
          <a:ext cx="7426036"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None/>
          </a:pPr>
          <a:r>
            <a:rPr lang="en-US" sz="1300" kern="1200" dirty="0"/>
            <a:t>Extra Trees builds many highly random trees and averages their results. This randomness actually makes the model more stable and accurate.</a:t>
          </a:r>
        </a:p>
      </dsp:txBody>
      <dsp:txXfrm>
        <a:off x="0" y="463681"/>
        <a:ext cx="7426036" cy="413482"/>
      </dsp:txXfrm>
    </dsp:sp>
    <dsp:sp modelId="{BB43A5AA-EDBB-4D04-8D81-E67BF613AE06}">
      <dsp:nvSpPr>
        <dsp:cNvPr id="0" name=""/>
        <dsp:cNvSpPr/>
      </dsp:nvSpPr>
      <dsp:spPr>
        <a:xfrm>
          <a:off x="0" y="877163"/>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Why It’s Useful</a:t>
          </a:r>
        </a:p>
      </dsp:txBody>
      <dsp:txXfrm>
        <a:off x="20390" y="897553"/>
        <a:ext cx="7385256" cy="376910"/>
      </dsp:txXfrm>
    </dsp:sp>
    <dsp:sp modelId="{9C562FED-2BD2-4549-8928-97ECCEA6AAC2}">
      <dsp:nvSpPr>
        <dsp:cNvPr id="0" name=""/>
        <dsp:cNvSpPr/>
      </dsp:nvSpPr>
      <dsp:spPr>
        <a:xfrm>
          <a:off x="0" y="1294853"/>
          <a:ext cx="7426036" cy="1126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b="0" kern="1200"/>
            <a:t>Uses randomized splits for faster, more robust learning</a:t>
          </a:r>
          <a:endParaRPr lang="en-US" sz="1300" b="0" kern="1200" dirty="0"/>
        </a:p>
        <a:p>
          <a:pPr marL="114300" lvl="1" indent="-114300" algn="l" defTabSz="577850">
            <a:lnSpc>
              <a:spcPct val="90000"/>
            </a:lnSpc>
            <a:spcBef>
              <a:spcPct val="0"/>
            </a:spcBef>
            <a:spcAft>
              <a:spcPct val="20000"/>
            </a:spcAft>
            <a:buChar char="•"/>
          </a:pPr>
          <a:r>
            <a:rPr lang="en-US" sz="1300" b="0" kern="1200"/>
            <a:t>Often outperforms Random Forest and is one of the best models for business data</a:t>
          </a:r>
          <a:endParaRPr lang="en-US" sz="1300" b="0" kern="1200" dirty="0"/>
        </a:p>
        <a:p>
          <a:pPr marL="114300" lvl="1" indent="-114300" algn="l" defTabSz="577850">
            <a:lnSpc>
              <a:spcPct val="90000"/>
            </a:lnSpc>
            <a:spcBef>
              <a:spcPct val="0"/>
            </a:spcBef>
            <a:spcAft>
              <a:spcPct val="20000"/>
            </a:spcAft>
            <a:buChar char="•"/>
          </a:pPr>
          <a:r>
            <a:rPr lang="en-US" sz="1300" b="0" kern="1200"/>
            <a:t>Works extremely well with SHAP for explaining results</a:t>
          </a:r>
          <a:endParaRPr lang="en-US" sz="1300" b="0" kern="1200" dirty="0"/>
        </a:p>
        <a:p>
          <a:pPr marL="114300" lvl="1" indent="-114300" algn="l" defTabSz="577850">
            <a:lnSpc>
              <a:spcPct val="90000"/>
            </a:lnSpc>
            <a:spcBef>
              <a:spcPct val="0"/>
            </a:spcBef>
            <a:spcAft>
              <a:spcPct val="20000"/>
            </a:spcAft>
            <a:buChar char="•"/>
          </a:pPr>
          <a:r>
            <a:rPr lang="en-US" sz="1300" b="0" kern="1200"/>
            <a:t>Ideal for datasets with many categorical variables</a:t>
          </a:r>
          <a:endParaRPr lang="en-US" sz="1300" b="0" kern="1200" dirty="0"/>
        </a:p>
        <a:p>
          <a:pPr marL="114300" lvl="1" indent="-114300" algn="l" defTabSz="577850">
            <a:lnSpc>
              <a:spcPct val="90000"/>
            </a:lnSpc>
            <a:spcBef>
              <a:spcPct val="0"/>
            </a:spcBef>
            <a:spcAft>
              <a:spcPct val="20000"/>
            </a:spcAft>
            <a:buChar char="•"/>
          </a:pPr>
          <a:r>
            <a:rPr lang="en-US" sz="1300" b="0" kern="1200" dirty="0"/>
            <a:t>Handles lots of categories and one‑hot encoded features well</a:t>
          </a:r>
        </a:p>
      </dsp:txBody>
      <dsp:txXfrm>
        <a:off x="0" y="1294853"/>
        <a:ext cx="7426036" cy="1126080"/>
      </dsp:txXfrm>
    </dsp:sp>
    <dsp:sp modelId="{69453D6A-4C08-458C-BA87-B2A437496B42}">
      <dsp:nvSpPr>
        <dsp:cNvPr id="0" name=""/>
        <dsp:cNvSpPr/>
      </dsp:nvSpPr>
      <dsp:spPr>
        <a:xfrm>
          <a:off x="0" y="2420934"/>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Key Takeaway</a:t>
          </a:r>
          <a:endParaRPr lang="en-US" sz="1700" kern="1200" dirty="0"/>
        </a:p>
      </dsp:txBody>
      <dsp:txXfrm>
        <a:off x="20390" y="2441324"/>
        <a:ext cx="7385256" cy="376910"/>
      </dsp:txXfrm>
    </dsp:sp>
    <dsp:sp modelId="{5F8F4BD2-CF4E-4F69-BCE3-6E9ECE7250B0}">
      <dsp:nvSpPr>
        <dsp:cNvPr id="0" name=""/>
        <dsp:cNvSpPr/>
      </dsp:nvSpPr>
      <dsp:spPr>
        <a:xfrm>
          <a:off x="0" y="2838624"/>
          <a:ext cx="7426036"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Extra Trees delivered the strongest overall performance, offering the best balance of accuracy, stability, and interpretability</a:t>
          </a:r>
        </a:p>
      </dsp:txBody>
      <dsp:txXfrm>
        <a:off x="0" y="2838624"/>
        <a:ext cx="7426036" cy="413482"/>
      </dsp:txXfrm>
    </dsp:sp>
    <dsp:sp modelId="{285F6CF5-41C2-482E-98E1-9CCBE2D30E86}">
      <dsp:nvSpPr>
        <dsp:cNvPr id="0" name=""/>
        <dsp:cNvSpPr/>
      </dsp:nvSpPr>
      <dsp:spPr>
        <a:xfrm>
          <a:off x="0" y="3252106"/>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Why This Matters</a:t>
          </a:r>
          <a:endParaRPr lang="en-US" sz="1700" kern="1200"/>
        </a:p>
      </dsp:txBody>
      <dsp:txXfrm>
        <a:off x="20390" y="3272496"/>
        <a:ext cx="7385256" cy="376910"/>
      </dsp:txXfrm>
    </dsp:sp>
    <dsp:sp modelId="{94B9AB2B-E3A2-4D49-90DF-FAD7F840A1A8}">
      <dsp:nvSpPr>
        <dsp:cNvPr id="0" name=""/>
        <dsp:cNvSpPr/>
      </dsp:nvSpPr>
      <dsp:spPr>
        <a:xfrm>
          <a:off x="0" y="3669796"/>
          <a:ext cx="7426036" cy="686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Confirms ensemble methods are best for salary classification</a:t>
          </a:r>
          <a:endParaRPr lang="en-US" sz="1300" kern="1200" dirty="0"/>
        </a:p>
        <a:p>
          <a:pPr marL="114300" lvl="1" indent="-114300" algn="l" defTabSz="577850">
            <a:lnSpc>
              <a:spcPct val="90000"/>
            </a:lnSpc>
            <a:spcBef>
              <a:spcPct val="0"/>
            </a:spcBef>
            <a:spcAft>
              <a:spcPct val="20000"/>
            </a:spcAft>
            <a:buChar char="•"/>
          </a:pPr>
          <a:r>
            <a:rPr lang="en-US" sz="1300" kern="1200"/>
            <a:t>Provides the most reliable model for downstream SHAP analysis</a:t>
          </a:r>
          <a:endParaRPr lang="en-US" sz="1300" kern="1200" dirty="0"/>
        </a:p>
        <a:p>
          <a:pPr marL="114300" lvl="1" indent="-114300" algn="l" defTabSz="577850">
            <a:lnSpc>
              <a:spcPct val="90000"/>
            </a:lnSpc>
            <a:spcBef>
              <a:spcPct val="0"/>
            </a:spcBef>
            <a:spcAft>
              <a:spcPct val="20000"/>
            </a:spcAft>
            <a:buChar char="•"/>
          </a:pPr>
          <a:r>
            <a:rPr lang="en-US" sz="1300" kern="1200" dirty="0"/>
            <a:t>Forms the foundation for your final recommendation</a:t>
          </a:r>
        </a:p>
      </dsp:txBody>
      <dsp:txXfrm>
        <a:off x="0" y="3669796"/>
        <a:ext cx="7426036" cy="68620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EB4BC5-F8B7-4BAA-A0E6-C8E3A499189C}">
      <dsp:nvSpPr>
        <dsp:cNvPr id="0" name=""/>
        <dsp:cNvSpPr/>
      </dsp:nvSpPr>
      <dsp:spPr>
        <a:xfrm>
          <a:off x="0" y="48592"/>
          <a:ext cx="10515600" cy="838451"/>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Best Performing Model: </a:t>
          </a:r>
          <a:endParaRPr lang="en-US" sz="2100" kern="1200" dirty="0"/>
        </a:p>
      </dsp:txBody>
      <dsp:txXfrm>
        <a:off x="40930" y="89522"/>
        <a:ext cx="10433740" cy="756591"/>
      </dsp:txXfrm>
    </dsp:sp>
    <dsp:sp modelId="{F9DC1A92-AAA1-4DD4-AA92-CC57925D15C7}">
      <dsp:nvSpPr>
        <dsp:cNvPr id="0" name=""/>
        <dsp:cNvSpPr/>
      </dsp:nvSpPr>
      <dsp:spPr>
        <a:xfrm>
          <a:off x="0" y="887043"/>
          <a:ext cx="10515600"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b="0" kern="1200" dirty="0"/>
            <a:t>Gradient Boosting</a:t>
          </a:r>
        </a:p>
      </dsp:txBody>
      <dsp:txXfrm>
        <a:off x="0" y="887043"/>
        <a:ext cx="10515600" cy="347760"/>
      </dsp:txXfrm>
    </dsp:sp>
    <dsp:sp modelId="{9CCF1910-6077-4461-90B3-B2C2725DB58B}">
      <dsp:nvSpPr>
        <dsp:cNvPr id="0" name=""/>
        <dsp:cNvSpPr/>
      </dsp:nvSpPr>
      <dsp:spPr>
        <a:xfrm>
          <a:off x="0" y="1234803"/>
          <a:ext cx="10515600" cy="838451"/>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Why Gradient Boosting Stands Out:</a:t>
          </a:r>
        </a:p>
      </dsp:txBody>
      <dsp:txXfrm>
        <a:off x="40930" y="1275733"/>
        <a:ext cx="10433740" cy="756591"/>
      </dsp:txXfrm>
    </dsp:sp>
    <dsp:sp modelId="{6AEECF34-0A2D-4CDA-ACCF-3B6367F3922E}">
      <dsp:nvSpPr>
        <dsp:cNvPr id="0" name=""/>
        <dsp:cNvSpPr/>
      </dsp:nvSpPr>
      <dsp:spPr>
        <a:xfrm>
          <a:off x="0" y="2073254"/>
          <a:ext cx="10515600" cy="1391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It had the highest overall accuracy</a:t>
          </a:r>
        </a:p>
        <a:p>
          <a:pPr marL="171450" lvl="1" indent="-171450" algn="l" defTabSz="711200">
            <a:lnSpc>
              <a:spcPct val="90000"/>
            </a:lnSpc>
            <a:spcBef>
              <a:spcPct val="0"/>
            </a:spcBef>
            <a:spcAft>
              <a:spcPct val="20000"/>
            </a:spcAft>
            <a:buChar char="•"/>
          </a:pPr>
          <a:r>
            <a:rPr lang="en-US" sz="1600" kern="1200"/>
            <a:t>It produced the strongest balanced score (F1)</a:t>
          </a:r>
        </a:p>
        <a:p>
          <a:pPr marL="171450" lvl="1" indent="-171450" algn="l" defTabSz="711200">
            <a:lnSpc>
              <a:spcPct val="90000"/>
            </a:lnSpc>
            <a:spcBef>
              <a:spcPct val="0"/>
            </a:spcBef>
            <a:spcAft>
              <a:spcPct val="20000"/>
            </a:spcAft>
            <a:buChar char="•"/>
          </a:pPr>
          <a:r>
            <a:rPr lang="en-US" sz="1600" kern="1200"/>
            <a:t>It captured high‑salary cases than other models</a:t>
          </a:r>
        </a:p>
        <a:p>
          <a:pPr marL="171450" lvl="1" indent="-171450" algn="l" defTabSz="711200">
            <a:lnSpc>
              <a:spcPct val="90000"/>
            </a:lnSpc>
            <a:spcBef>
              <a:spcPct val="0"/>
            </a:spcBef>
            <a:spcAft>
              <a:spcPct val="20000"/>
            </a:spcAft>
            <a:buChar char="•"/>
          </a:pPr>
          <a:r>
            <a:rPr lang="en-US" sz="1600" kern="1200"/>
            <a:t>It remained stable and reliable across all measures</a:t>
          </a:r>
        </a:p>
        <a:p>
          <a:pPr marL="171450" lvl="1" indent="-171450" algn="l" defTabSz="711200">
            <a:lnSpc>
              <a:spcPct val="90000"/>
            </a:lnSpc>
            <a:spcBef>
              <a:spcPct val="0"/>
            </a:spcBef>
            <a:spcAft>
              <a:spcPct val="20000"/>
            </a:spcAft>
            <a:buChar char="•"/>
          </a:pPr>
          <a:r>
            <a:rPr lang="en-US" sz="1600" kern="1200"/>
            <a:t>It works extremely well with SHAP explanations, making results easy to interpret</a:t>
          </a:r>
        </a:p>
      </dsp:txBody>
      <dsp:txXfrm>
        <a:off x="0" y="2073254"/>
        <a:ext cx="10515600" cy="1391040"/>
      </dsp:txXfrm>
    </dsp:sp>
    <dsp:sp modelId="{77106C21-5AFD-418A-ADD1-C181DA500E99}">
      <dsp:nvSpPr>
        <dsp:cNvPr id="0" name=""/>
        <dsp:cNvSpPr/>
      </dsp:nvSpPr>
      <dsp:spPr>
        <a:xfrm>
          <a:off x="0" y="3464294"/>
          <a:ext cx="10515600" cy="838451"/>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Gradient Boosting is the most effective model for predicting whether a salary is above or below the median using a simplified feature set.</a:t>
          </a:r>
        </a:p>
      </dsp:txBody>
      <dsp:txXfrm>
        <a:off x="40930" y="3505224"/>
        <a:ext cx="10433740" cy="75659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B0916F-4D81-4322-819E-0D575457F64B}">
      <dsp:nvSpPr>
        <dsp:cNvPr id="0" name=""/>
        <dsp:cNvSpPr/>
      </dsp:nvSpPr>
      <dsp:spPr>
        <a:xfrm>
          <a:off x="0" y="3400"/>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A3CA1C-7CB0-440A-B26F-D5E5F4B9AF6B}">
      <dsp:nvSpPr>
        <dsp:cNvPr id="0" name=""/>
        <dsp:cNvSpPr/>
      </dsp:nvSpPr>
      <dsp:spPr>
        <a:xfrm>
          <a:off x="219097" y="166365"/>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5503BA-C1B9-414A-B9D6-2610C4FD7AD3}">
      <dsp:nvSpPr>
        <dsp:cNvPr id="0" name=""/>
        <dsp:cNvSpPr/>
      </dsp:nvSpPr>
      <dsp:spPr>
        <a:xfrm>
          <a:off x="836555" y="3400"/>
          <a:ext cx="4732020"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kern="1200"/>
            <a:t>Cannot explain </a:t>
          </a:r>
          <a:r>
            <a:rPr lang="en-US" sz="1500" i="1" kern="1200"/>
            <a:t>why</a:t>
          </a:r>
          <a:r>
            <a:rPr lang="en-US" sz="1500" kern="1200"/>
            <a:t> salaries differ beyond the data provided</a:t>
          </a:r>
        </a:p>
      </dsp:txBody>
      <dsp:txXfrm>
        <a:off x="836555" y="3400"/>
        <a:ext cx="4732020" cy="724290"/>
      </dsp:txXfrm>
    </dsp:sp>
    <dsp:sp modelId="{7628A5CB-2F0B-4F97-90E6-4AFAC343A119}">
      <dsp:nvSpPr>
        <dsp:cNvPr id="0" name=""/>
        <dsp:cNvSpPr/>
      </dsp:nvSpPr>
      <dsp:spPr>
        <a:xfrm>
          <a:off x="5568575" y="3400"/>
          <a:ext cx="494702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488950">
            <a:lnSpc>
              <a:spcPct val="100000"/>
            </a:lnSpc>
            <a:spcBef>
              <a:spcPct val="0"/>
            </a:spcBef>
            <a:spcAft>
              <a:spcPct val="35000"/>
            </a:spcAft>
            <a:buNone/>
          </a:pPr>
          <a:r>
            <a:rPr lang="en-US" sz="1100" kern="1200"/>
            <a:t>It only uses the features in the dataset. Anything not included — negotiation, bonuses, internal policies — is not captured.</a:t>
          </a:r>
        </a:p>
      </dsp:txBody>
      <dsp:txXfrm>
        <a:off x="5568575" y="3400"/>
        <a:ext cx="4947024" cy="724290"/>
      </dsp:txXfrm>
    </dsp:sp>
    <dsp:sp modelId="{947A0939-812C-4C2A-BB2C-075E78221AD6}">
      <dsp:nvSpPr>
        <dsp:cNvPr id="0" name=""/>
        <dsp:cNvSpPr/>
      </dsp:nvSpPr>
      <dsp:spPr>
        <a:xfrm>
          <a:off x="0" y="908763"/>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250BE4-5DC0-4E92-AC46-B77BD942F6B1}">
      <dsp:nvSpPr>
        <dsp:cNvPr id="0" name=""/>
        <dsp:cNvSpPr/>
      </dsp:nvSpPr>
      <dsp:spPr>
        <a:xfrm>
          <a:off x="219097" y="1071728"/>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51E3B5-3607-4EF3-A008-B4E094EC6A0C}">
      <dsp:nvSpPr>
        <dsp:cNvPr id="0" name=""/>
        <dsp:cNvSpPr/>
      </dsp:nvSpPr>
      <dsp:spPr>
        <a:xfrm>
          <a:off x="836555" y="908763"/>
          <a:ext cx="4732020"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kern="1200"/>
            <a:t>Cannot guarantee perfect accuracy</a:t>
          </a:r>
        </a:p>
      </dsp:txBody>
      <dsp:txXfrm>
        <a:off x="836555" y="908763"/>
        <a:ext cx="4732020" cy="724290"/>
      </dsp:txXfrm>
    </dsp:sp>
    <dsp:sp modelId="{B1B16B42-0080-4509-B1FC-D6D7A72A4A11}">
      <dsp:nvSpPr>
        <dsp:cNvPr id="0" name=""/>
        <dsp:cNvSpPr/>
      </dsp:nvSpPr>
      <dsp:spPr>
        <a:xfrm>
          <a:off x="5568575" y="908763"/>
          <a:ext cx="494702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488950">
            <a:lnSpc>
              <a:spcPct val="100000"/>
            </a:lnSpc>
            <a:spcBef>
              <a:spcPct val="0"/>
            </a:spcBef>
            <a:spcAft>
              <a:spcPct val="35000"/>
            </a:spcAft>
            <a:buNone/>
          </a:pPr>
          <a:r>
            <a:rPr lang="en-US" sz="1100" kern="1200"/>
            <a:t>Even the best model makes mistakes. Salary data is complex, and some cases will always be hard to classify.</a:t>
          </a:r>
        </a:p>
      </dsp:txBody>
      <dsp:txXfrm>
        <a:off x="5568575" y="908763"/>
        <a:ext cx="4947024" cy="724290"/>
      </dsp:txXfrm>
    </dsp:sp>
    <dsp:sp modelId="{42530F59-7D68-4A4A-A676-22D21D7C2F29}">
      <dsp:nvSpPr>
        <dsp:cNvPr id="0" name=""/>
        <dsp:cNvSpPr/>
      </dsp:nvSpPr>
      <dsp:spPr>
        <a:xfrm>
          <a:off x="0" y="1814126"/>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50E03-1659-4C00-90F5-2749A878123A}">
      <dsp:nvSpPr>
        <dsp:cNvPr id="0" name=""/>
        <dsp:cNvSpPr/>
      </dsp:nvSpPr>
      <dsp:spPr>
        <a:xfrm>
          <a:off x="219097" y="1977092"/>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20CAF4-F872-4D56-AD8E-BA53D7175632}">
      <dsp:nvSpPr>
        <dsp:cNvPr id="0" name=""/>
        <dsp:cNvSpPr/>
      </dsp:nvSpPr>
      <dsp:spPr>
        <a:xfrm>
          <a:off x="836555" y="1814126"/>
          <a:ext cx="4732020"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kern="1200"/>
            <a:t>Cannot account for future market changes</a:t>
          </a:r>
        </a:p>
      </dsp:txBody>
      <dsp:txXfrm>
        <a:off x="836555" y="1814126"/>
        <a:ext cx="4732020" cy="724290"/>
      </dsp:txXfrm>
    </dsp:sp>
    <dsp:sp modelId="{1A197680-9C5E-4581-BC33-308FD333B594}">
      <dsp:nvSpPr>
        <dsp:cNvPr id="0" name=""/>
        <dsp:cNvSpPr/>
      </dsp:nvSpPr>
      <dsp:spPr>
        <a:xfrm>
          <a:off x="5568575" y="1814126"/>
          <a:ext cx="494702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488950">
            <a:lnSpc>
              <a:spcPct val="100000"/>
            </a:lnSpc>
            <a:spcBef>
              <a:spcPct val="0"/>
            </a:spcBef>
            <a:spcAft>
              <a:spcPct val="35000"/>
            </a:spcAft>
            <a:buNone/>
          </a:pPr>
          <a:r>
            <a:rPr lang="en-US" sz="1100" kern="1200"/>
            <a:t>Shifts in hiring trends, remote work policies, or economic conditions may change salary patterns over time.</a:t>
          </a:r>
        </a:p>
      </dsp:txBody>
      <dsp:txXfrm>
        <a:off x="5568575" y="1814126"/>
        <a:ext cx="4947024" cy="724290"/>
      </dsp:txXfrm>
    </dsp:sp>
    <dsp:sp modelId="{FF47B22F-1458-4139-9D91-8D35A238AF93}">
      <dsp:nvSpPr>
        <dsp:cNvPr id="0" name=""/>
        <dsp:cNvSpPr/>
      </dsp:nvSpPr>
      <dsp:spPr>
        <a:xfrm>
          <a:off x="0" y="2719489"/>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81395F-6E31-4595-9672-8AA8777EC43A}">
      <dsp:nvSpPr>
        <dsp:cNvPr id="0" name=""/>
        <dsp:cNvSpPr/>
      </dsp:nvSpPr>
      <dsp:spPr>
        <a:xfrm>
          <a:off x="219097" y="2882455"/>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4301C6-B760-4C43-AE5B-06411E51F731}">
      <dsp:nvSpPr>
        <dsp:cNvPr id="0" name=""/>
        <dsp:cNvSpPr/>
      </dsp:nvSpPr>
      <dsp:spPr>
        <a:xfrm>
          <a:off x="836555" y="2719489"/>
          <a:ext cx="967904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kern="1200"/>
            <a:t>If the dataset reflects existing market biases, the model may unintentionally learn and reproduce them.</a:t>
          </a:r>
        </a:p>
      </dsp:txBody>
      <dsp:txXfrm>
        <a:off x="836555" y="2719489"/>
        <a:ext cx="9679044" cy="724290"/>
      </dsp:txXfrm>
    </dsp:sp>
    <dsp:sp modelId="{D9D5EF4B-1BDE-4D41-BFF0-7F415C50A4C3}">
      <dsp:nvSpPr>
        <dsp:cNvPr id="0" name=""/>
        <dsp:cNvSpPr/>
      </dsp:nvSpPr>
      <dsp:spPr>
        <a:xfrm>
          <a:off x="0" y="3624853"/>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4A00F7-334C-498B-9B05-FFACDD94A206}">
      <dsp:nvSpPr>
        <dsp:cNvPr id="0" name=""/>
        <dsp:cNvSpPr/>
      </dsp:nvSpPr>
      <dsp:spPr>
        <a:xfrm>
          <a:off x="219097" y="3787818"/>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BA0E64-C7CB-4B17-BE4E-ECD4FEDEA4D4}">
      <dsp:nvSpPr>
        <dsp:cNvPr id="0" name=""/>
        <dsp:cNvSpPr/>
      </dsp:nvSpPr>
      <dsp:spPr>
        <a:xfrm>
          <a:off x="836555" y="3624853"/>
          <a:ext cx="967904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b="1" kern="1200"/>
            <a:t>Key Takeaway:</a:t>
          </a:r>
          <a:r>
            <a:rPr lang="en-US" sz="1500" kern="1200"/>
            <a:t> The model is useful for understanding salary patterns and supporting decisions, but it is a decision‑support tool, not a decision‑making tool. Compensation teams still need to interpret results in context.</a:t>
          </a:r>
        </a:p>
      </dsp:txBody>
      <dsp:txXfrm>
        <a:off x="836555" y="3624853"/>
        <a:ext cx="9679044" cy="72429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27DC4-3FE3-4CC7-9892-9BD15125DFD7}">
      <dsp:nvSpPr>
        <dsp:cNvPr id="0" name=""/>
        <dsp:cNvSpPr/>
      </dsp:nvSpPr>
      <dsp:spPr>
        <a:xfrm>
          <a:off x="0" y="45369"/>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Expand the Dataset With More Demographics &amp; Company Details</a:t>
          </a:r>
          <a:endParaRPr lang="en-US" sz="1500" kern="1200" dirty="0"/>
        </a:p>
      </dsp:txBody>
      <dsp:txXfrm>
        <a:off x="17991" y="63360"/>
        <a:ext cx="10479618" cy="332567"/>
      </dsp:txXfrm>
    </dsp:sp>
    <dsp:sp modelId="{E98F6332-078D-4865-8028-D869952DA1CE}">
      <dsp:nvSpPr>
        <dsp:cNvPr id="0" name=""/>
        <dsp:cNvSpPr/>
      </dsp:nvSpPr>
      <dsp:spPr>
        <a:xfrm>
          <a:off x="0" y="413919"/>
          <a:ext cx="10515600" cy="38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a:t>Collect richer information such as job‑level attributes, education, industry, benefits, and additional compensation factors. More detailed data → stronger, more accurate models.</a:t>
          </a:r>
        </a:p>
      </dsp:txBody>
      <dsp:txXfrm>
        <a:off x="0" y="413919"/>
        <a:ext cx="10515600" cy="380362"/>
      </dsp:txXfrm>
    </dsp:sp>
    <dsp:sp modelId="{7CE1C9AF-BF9C-4148-BD5C-96792D551235}">
      <dsp:nvSpPr>
        <dsp:cNvPr id="0" name=""/>
        <dsp:cNvSpPr/>
      </dsp:nvSpPr>
      <dsp:spPr>
        <a:xfrm>
          <a:off x="0" y="794281"/>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Build a Data Pipeline That Automatically Cleans and Prepares New Data</a:t>
          </a:r>
          <a:endParaRPr lang="en-US" sz="1500" kern="1200"/>
        </a:p>
      </dsp:txBody>
      <dsp:txXfrm>
        <a:off x="17991" y="812272"/>
        <a:ext cx="10479618" cy="332567"/>
      </dsp:txXfrm>
    </dsp:sp>
    <dsp:sp modelId="{F202D617-DC52-494A-AAE4-40B67E02603C}">
      <dsp:nvSpPr>
        <dsp:cNvPr id="0" name=""/>
        <dsp:cNvSpPr/>
      </dsp:nvSpPr>
      <dsp:spPr>
        <a:xfrm>
          <a:off x="0" y="1162831"/>
          <a:ext cx="10515600" cy="38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a:t>Create a workflow that: 1. gathers new salary records, 2. cleans and standardizes them, 3. updates encoded features, 4. prepares the dataset for modeling, and 5. This ensures the model always works with fresh, high‑quality data.</a:t>
          </a:r>
        </a:p>
      </dsp:txBody>
      <dsp:txXfrm>
        <a:off x="0" y="1162831"/>
        <a:ext cx="10515600" cy="380362"/>
      </dsp:txXfrm>
    </dsp:sp>
    <dsp:sp modelId="{40C4D1DD-3E50-4ED0-A8A3-49BD2F47A766}">
      <dsp:nvSpPr>
        <dsp:cNvPr id="0" name=""/>
        <dsp:cNvSpPr/>
      </dsp:nvSpPr>
      <dsp:spPr>
        <a:xfrm>
          <a:off x="0" y="1543194"/>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Automate Model Training When New Rows Arrive</a:t>
          </a:r>
          <a:endParaRPr lang="en-US" sz="1500" kern="1200"/>
        </a:p>
      </dsp:txBody>
      <dsp:txXfrm>
        <a:off x="17991" y="1561185"/>
        <a:ext cx="10479618" cy="332567"/>
      </dsp:txXfrm>
    </dsp:sp>
    <dsp:sp modelId="{9AAF7CAE-63D8-4233-880C-7BFF335435B9}">
      <dsp:nvSpPr>
        <dsp:cNvPr id="0" name=""/>
        <dsp:cNvSpPr/>
      </dsp:nvSpPr>
      <dsp:spPr>
        <a:xfrm>
          <a:off x="0" y="1911744"/>
          <a:ext cx="10515600"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a:t>Set up the pipeline so the model </a:t>
          </a:r>
          <a:r>
            <a:rPr lang="en-US" sz="1200" b="1" kern="1200"/>
            <a:t>re‑trains itself</a:t>
          </a:r>
          <a:r>
            <a:rPr lang="en-US" sz="1200" kern="1200"/>
            <a:t> whenever new data is added. This keeps predictions aligned with current market trends.</a:t>
          </a:r>
        </a:p>
      </dsp:txBody>
      <dsp:txXfrm>
        <a:off x="0" y="1911744"/>
        <a:ext cx="10515600" cy="248400"/>
      </dsp:txXfrm>
    </dsp:sp>
    <dsp:sp modelId="{AB9B5A7B-BFF0-4902-9525-83B7D01C774E}">
      <dsp:nvSpPr>
        <dsp:cNvPr id="0" name=""/>
        <dsp:cNvSpPr/>
      </dsp:nvSpPr>
      <dsp:spPr>
        <a:xfrm>
          <a:off x="0" y="2160144"/>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Use the Provided Models as the Starting Point</a:t>
          </a:r>
          <a:endParaRPr lang="en-US" sz="1500" kern="1200"/>
        </a:p>
      </dsp:txBody>
      <dsp:txXfrm>
        <a:off x="17991" y="2178135"/>
        <a:ext cx="10479618" cy="332567"/>
      </dsp:txXfrm>
    </dsp:sp>
    <dsp:sp modelId="{B9684FEE-F073-49DB-B6EF-C54DE43370A2}">
      <dsp:nvSpPr>
        <dsp:cNvPr id="0" name=""/>
        <dsp:cNvSpPr/>
      </dsp:nvSpPr>
      <dsp:spPr>
        <a:xfrm>
          <a:off x="0" y="2528694"/>
          <a:ext cx="10515600"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a:t>Begin with the models tested in this project. Start with </a:t>
          </a:r>
          <a:r>
            <a:rPr lang="en-US" sz="1200" b="1" kern="1200"/>
            <a:t>Gradient Boosting</a:t>
          </a:r>
          <a:r>
            <a:rPr lang="en-US" sz="1200" kern="1200"/>
            <a:t>, since it performed best in the reduced set.</a:t>
          </a:r>
        </a:p>
      </dsp:txBody>
      <dsp:txXfrm>
        <a:off x="0" y="2528694"/>
        <a:ext cx="10515600" cy="248400"/>
      </dsp:txXfrm>
    </dsp:sp>
    <dsp:sp modelId="{0B4EED25-D752-4302-9038-DBBF8F9D3B38}">
      <dsp:nvSpPr>
        <dsp:cNvPr id="0" name=""/>
        <dsp:cNvSpPr/>
      </dsp:nvSpPr>
      <dsp:spPr>
        <a:xfrm>
          <a:off x="0" y="2777094"/>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Select the Best Model Using Clear Criteria </a:t>
          </a:r>
          <a:endParaRPr lang="en-US" sz="1500" kern="1200"/>
        </a:p>
      </dsp:txBody>
      <dsp:txXfrm>
        <a:off x="17991" y="2795085"/>
        <a:ext cx="10479618" cy="332567"/>
      </dsp:txXfrm>
    </dsp:sp>
    <dsp:sp modelId="{3A88F10C-F614-4934-8769-41069C2BD0E7}">
      <dsp:nvSpPr>
        <dsp:cNvPr id="0" name=""/>
        <dsp:cNvSpPr/>
      </dsp:nvSpPr>
      <dsp:spPr>
        <a:xfrm>
          <a:off x="0" y="3145644"/>
          <a:ext cx="10515600" cy="41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b="1" kern="1200"/>
            <a:t>F1 Score</a:t>
          </a:r>
          <a:r>
            <a:rPr lang="en-US" sz="1200" kern="1200"/>
            <a:t> (balanced performance)</a:t>
          </a:r>
        </a:p>
        <a:p>
          <a:pPr marL="114300" lvl="1" indent="-114300" algn="l" defTabSz="533400">
            <a:lnSpc>
              <a:spcPct val="90000"/>
            </a:lnSpc>
            <a:spcBef>
              <a:spcPct val="0"/>
            </a:spcBef>
            <a:spcAft>
              <a:spcPct val="20000"/>
            </a:spcAft>
            <a:buChar char="•"/>
          </a:pPr>
          <a:r>
            <a:rPr lang="en-US" sz="1200" b="1" kern="1200" dirty="0"/>
            <a:t>ROC‑AUC</a:t>
          </a:r>
          <a:r>
            <a:rPr lang="en-US" sz="1200" kern="1200" dirty="0"/>
            <a:t> (ability to separate salary groups) </a:t>
          </a:r>
        </a:p>
      </dsp:txBody>
      <dsp:txXfrm>
        <a:off x="0" y="3145644"/>
        <a:ext cx="10515600" cy="411412"/>
      </dsp:txXfrm>
    </dsp:sp>
    <dsp:sp modelId="{B3DE68D6-AA3C-4DBC-99AD-32DC2FA771A1}">
      <dsp:nvSpPr>
        <dsp:cNvPr id="0" name=""/>
        <dsp:cNvSpPr/>
      </dsp:nvSpPr>
      <dsp:spPr>
        <a:xfrm>
          <a:off x="0" y="3557056"/>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Key Takeaway</a:t>
          </a:r>
        </a:p>
      </dsp:txBody>
      <dsp:txXfrm>
        <a:off x="17991" y="3575047"/>
        <a:ext cx="10479618" cy="332567"/>
      </dsp:txXfrm>
    </dsp:sp>
    <dsp:sp modelId="{DC51A7FA-8486-4AC0-8CAC-DD6430FC5F37}">
      <dsp:nvSpPr>
        <dsp:cNvPr id="0" name=""/>
        <dsp:cNvSpPr/>
      </dsp:nvSpPr>
      <dsp:spPr>
        <a:xfrm>
          <a:off x="0" y="3925606"/>
          <a:ext cx="10515600" cy="38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b="1" kern="1200" dirty="0"/>
            <a:t>The next step is building a full, automated pipeline that continuously collects data, cleans it, retrains models, and selects the best performer using F1 and ROC‑AUC</a:t>
          </a:r>
          <a:endParaRPr lang="en-US" sz="1200" kern="1200" dirty="0"/>
        </a:p>
      </dsp:txBody>
      <dsp:txXfrm>
        <a:off x="0" y="3925606"/>
        <a:ext cx="10515600" cy="38036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656412-1347-4CB7-9C64-8F7A8020A70A}">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0E78F7-B609-4CE3-857A-B025F1B97549}">
      <dsp:nvSpPr>
        <dsp:cNvPr id="0" name=""/>
        <dsp:cNvSpPr/>
      </dsp:nvSpPr>
      <dsp:spPr>
        <a:xfrm>
          <a:off x="181438" y="136361"/>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335331-49B5-44EC-A40A-ECCE61C61ADC}">
      <dsp:nvSpPr>
        <dsp:cNvPr id="0" name=""/>
        <dsp:cNvSpPr/>
      </dsp:nvSpPr>
      <dsp:spPr>
        <a:xfrm>
          <a:off x="692764" y="1407"/>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The reduced feature set is strong and reliable</a:t>
          </a:r>
          <a:endParaRPr lang="en-US" sz="1500" kern="1200"/>
        </a:p>
      </dsp:txBody>
      <dsp:txXfrm>
        <a:off x="692764" y="1407"/>
        <a:ext cx="4732020" cy="599796"/>
      </dsp:txXfrm>
    </dsp:sp>
    <dsp:sp modelId="{59E7AF46-96C3-4ADF-8CCF-8B7909CFFA6A}">
      <dsp:nvSpPr>
        <dsp:cNvPr id="0" name=""/>
        <dsp:cNvSpPr/>
      </dsp:nvSpPr>
      <dsp:spPr>
        <a:xfrm>
          <a:off x="5424784" y="1407"/>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Even with fewer inputs, the models performed consistently and captured meaningful salary patterns.</a:t>
          </a:r>
        </a:p>
      </dsp:txBody>
      <dsp:txXfrm>
        <a:off x="5424784" y="1407"/>
        <a:ext cx="5090815" cy="599796"/>
      </dsp:txXfrm>
    </dsp:sp>
    <dsp:sp modelId="{30251DEF-3CB7-4503-AA7F-19B5A93CBD17}">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5B35DB-B88D-431F-A5D5-F6043C48C1E0}">
      <dsp:nvSpPr>
        <dsp:cNvPr id="0" name=""/>
        <dsp:cNvSpPr/>
      </dsp:nvSpPr>
      <dsp:spPr>
        <a:xfrm>
          <a:off x="181438" y="88610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90F06A-C31A-4A4E-9A61-1C9E9A5C606F}">
      <dsp:nvSpPr>
        <dsp:cNvPr id="0" name=""/>
        <dsp:cNvSpPr/>
      </dsp:nvSpPr>
      <dsp:spPr>
        <a:xfrm>
          <a:off x="692764" y="751152"/>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Gradient Boosting is the best-performing model</a:t>
          </a:r>
          <a:endParaRPr lang="en-US" sz="1500" kern="1200"/>
        </a:p>
      </dsp:txBody>
      <dsp:txXfrm>
        <a:off x="692764" y="751152"/>
        <a:ext cx="4732020" cy="599796"/>
      </dsp:txXfrm>
    </dsp:sp>
    <dsp:sp modelId="{6B70E237-DD96-48EB-AA2F-FEA9AB1448F9}">
      <dsp:nvSpPr>
        <dsp:cNvPr id="0" name=""/>
        <dsp:cNvSpPr/>
      </dsp:nvSpPr>
      <dsp:spPr>
        <a:xfrm>
          <a:off x="5424784" y="751152"/>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It delivered the strongest balance of </a:t>
          </a:r>
          <a:r>
            <a:rPr lang="en-US" sz="1100" b="1" kern="1200"/>
            <a:t>F1 Score</a:t>
          </a:r>
          <a:r>
            <a:rPr lang="en-US" sz="1100" kern="1200"/>
            <a:t> and </a:t>
          </a:r>
          <a:r>
            <a:rPr lang="en-US" sz="1100" b="1" kern="1200"/>
            <a:t>ROC‑AUC</a:t>
          </a:r>
          <a:r>
            <a:rPr lang="en-US" sz="1100" kern="1200"/>
            <a:t>, the two criteria used for model selection.</a:t>
          </a:r>
        </a:p>
      </dsp:txBody>
      <dsp:txXfrm>
        <a:off x="5424784" y="751152"/>
        <a:ext cx="5090815" cy="599796"/>
      </dsp:txXfrm>
    </dsp:sp>
    <dsp:sp modelId="{0DD87826-E5E5-40DD-93B5-86611FD9B601}">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83FE82-5D49-477D-A513-7478DA7FC3B7}">
      <dsp:nvSpPr>
        <dsp:cNvPr id="0" name=""/>
        <dsp:cNvSpPr/>
      </dsp:nvSpPr>
      <dsp:spPr>
        <a:xfrm>
          <a:off x="181438" y="163585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2AC55A-0F4E-45D0-83A7-D1C3CB00F2C9}">
      <dsp:nvSpPr>
        <dsp:cNvPr id="0" name=""/>
        <dsp:cNvSpPr/>
      </dsp:nvSpPr>
      <dsp:spPr>
        <a:xfrm>
          <a:off x="692764" y="1500898"/>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Salary predictions align with real-world compensation logic</a:t>
          </a:r>
          <a:endParaRPr lang="en-US" sz="1500" kern="1200"/>
        </a:p>
      </dsp:txBody>
      <dsp:txXfrm>
        <a:off x="692764" y="1500898"/>
        <a:ext cx="4732020" cy="599796"/>
      </dsp:txXfrm>
    </dsp:sp>
    <dsp:sp modelId="{5AFC764E-A1EC-4104-A2E0-536D190A762B}">
      <dsp:nvSpPr>
        <dsp:cNvPr id="0" name=""/>
        <dsp:cNvSpPr/>
      </dsp:nvSpPr>
      <dsp:spPr>
        <a:xfrm>
          <a:off x="5424784" y="1500898"/>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Job role, experience level, company size, and remote status were the most influential factors — exactly what compensation teams expect.</a:t>
          </a:r>
        </a:p>
      </dsp:txBody>
      <dsp:txXfrm>
        <a:off x="5424784" y="1500898"/>
        <a:ext cx="5090815" cy="599796"/>
      </dsp:txXfrm>
    </dsp:sp>
    <dsp:sp modelId="{EDEB86DB-2EF4-4604-BFD5-44F4F2AE5B9C}">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9E6F17-F74A-4789-B353-E6436AA5A507}">
      <dsp:nvSpPr>
        <dsp:cNvPr id="0" name=""/>
        <dsp:cNvSpPr/>
      </dsp:nvSpPr>
      <dsp:spPr>
        <a:xfrm>
          <a:off x="181438" y="238559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FAB8D1-3264-439A-8626-CEDF7544276D}">
      <dsp:nvSpPr>
        <dsp:cNvPr id="0" name=""/>
        <dsp:cNvSpPr/>
      </dsp:nvSpPr>
      <dsp:spPr>
        <a:xfrm>
          <a:off x="692764" y="2250643"/>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SHAP results make the model transparent and explainable</a:t>
          </a:r>
          <a:endParaRPr lang="en-US" sz="1500" kern="1200"/>
        </a:p>
      </dsp:txBody>
      <dsp:txXfrm>
        <a:off x="692764" y="2250643"/>
        <a:ext cx="4732020" cy="599796"/>
      </dsp:txXfrm>
    </dsp:sp>
    <dsp:sp modelId="{64C9C849-C819-405B-8ABA-D1A4FD43D92B}">
      <dsp:nvSpPr>
        <dsp:cNvPr id="0" name=""/>
        <dsp:cNvSpPr/>
      </dsp:nvSpPr>
      <dsp:spPr>
        <a:xfrm>
          <a:off x="5424784" y="2250643"/>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We can clearly see how each feature pushes predictions up or down, supporting trust and interpretability.</a:t>
          </a:r>
        </a:p>
      </dsp:txBody>
      <dsp:txXfrm>
        <a:off x="5424784" y="2250643"/>
        <a:ext cx="5090815" cy="599796"/>
      </dsp:txXfrm>
    </dsp:sp>
    <dsp:sp modelId="{84772C96-C443-4360-9F44-989189DC9A5E}">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552D5C-05EF-4276-A977-BC36D92391F6}">
      <dsp:nvSpPr>
        <dsp:cNvPr id="0" name=""/>
        <dsp:cNvSpPr/>
      </dsp:nvSpPr>
      <dsp:spPr>
        <a:xfrm>
          <a:off x="181438" y="313534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BD292F-C0AF-4792-B7CE-03C5414D14D0}">
      <dsp:nvSpPr>
        <dsp:cNvPr id="0" name=""/>
        <dsp:cNvSpPr/>
      </dsp:nvSpPr>
      <dsp:spPr>
        <a:xfrm>
          <a:off x="692764" y="3000388"/>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A future pipeline can automate everything</a:t>
          </a:r>
          <a:endParaRPr lang="en-US" sz="1500" kern="1200"/>
        </a:p>
      </dsp:txBody>
      <dsp:txXfrm>
        <a:off x="692764" y="3000388"/>
        <a:ext cx="4732020" cy="599796"/>
      </dsp:txXfrm>
    </dsp:sp>
    <dsp:sp modelId="{44C23185-DBA2-4EE8-9176-A51A0E390E31}">
      <dsp:nvSpPr>
        <dsp:cNvPr id="0" name=""/>
        <dsp:cNvSpPr/>
      </dsp:nvSpPr>
      <dsp:spPr>
        <a:xfrm>
          <a:off x="5424784" y="3000388"/>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Collect richer data, clean it automatically, retrain models as new rows arrive, and select the best model using F1 + ROC‑AUC.</a:t>
          </a:r>
        </a:p>
      </dsp:txBody>
      <dsp:txXfrm>
        <a:off x="5424784" y="3000388"/>
        <a:ext cx="5090815" cy="599796"/>
      </dsp:txXfrm>
    </dsp:sp>
    <dsp:sp modelId="{10EB0A1C-E2D5-4257-9D86-71E027E3C4B3}">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0DFCC2-C2D4-4455-B6C6-49EA80CE8104}">
      <dsp:nvSpPr>
        <dsp:cNvPr id="0" name=""/>
        <dsp:cNvSpPr/>
      </dsp:nvSpPr>
      <dsp:spPr>
        <a:xfrm>
          <a:off x="181438" y="3885088"/>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3D7DB9-0FC5-4376-9C17-E110A8DAC0F5}">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Key Takeaway: This project demonstrates a stable reduced model, clear salary insights, and a path toward a fully automated, continuously improving salary prediction pipeline.</a:t>
          </a:r>
          <a:endParaRPr lang="en-US" sz="1500" kern="1200"/>
        </a:p>
      </dsp:txBody>
      <dsp:txXfrm>
        <a:off x="692764" y="3750134"/>
        <a:ext cx="9822835" cy="59979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5A5E9-4D6F-A70E-7267-6C6C95F280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593115-187E-466A-D8FB-12B077644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FC12B6-6F3E-34E7-77B9-D85C32FED0BB}"/>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A5396C7B-E883-A603-02C7-2611A20D45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34CDA9-B238-0CAA-4C87-E0534983FD1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278504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F7305-3522-E11F-52AF-C9E5596F53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CEB912-CB95-F661-FEB3-D1E54BD85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48921-CFBB-71DD-3AB9-424279DDFB06}"/>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7CEF096F-2277-56FC-1389-CBB0D321F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31CF3-BE71-2E76-90BC-6004E174CB79}"/>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428675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D063-7D42-5A3C-DAB6-42467E8525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B6CA70-B223-E230-AB10-32A46ACD07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8AAA4D-C3FA-4B1B-8794-B4B9C78F0F1B}"/>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CE89378B-529F-E813-7FD3-77BECB178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5EA5B3-0986-7BB9-47F2-5A84213D5F5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3659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EED32-C91A-3280-B4AC-AFBB8B26D4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0D8E86-0B2A-28E1-3B9E-06C5149A5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816CC3-3D17-C344-7B2D-2BF546B822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8A7F08-2618-BAFC-D679-358DBB7F849C}"/>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6" name="Footer Placeholder 5">
            <a:extLst>
              <a:ext uri="{FF2B5EF4-FFF2-40B4-BE49-F238E27FC236}">
                <a16:creationId xmlns:a16="http://schemas.microsoft.com/office/drawing/2014/main" id="{71F351A4-3E35-F047-16AD-D284DBBC9C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DF390C-CF26-D700-FEB2-54B35F760AB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74532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DCB0D-9933-5A18-6B86-222FF22BE3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110E18-7F32-FCED-06A2-F826DA9C99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FA2296-A573-3EEE-6C29-A7DC5C85AA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1CF882-2573-BBE8-D170-B3C0FDBFCF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538207-970D-D55B-D60B-B16882C9E1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DA127E-2AB9-3CA1-2069-4EE0011988A5}"/>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8" name="Footer Placeholder 7">
            <a:extLst>
              <a:ext uri="{FF2B5EF4-FFF2-40B4-BE49-F238E27FC236}">
                <a16:creationId xmlns:a16="http://schemas.microsoft.com/office/drawing/2014/main" id="{95F6AE3F-5964-76F1-7B33-B9B59AA69E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7B7A9A-DC79-5BAD-5848-0E3F9475B3AD}"/>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2069214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55C43-6FE0-954E-8557-2EDBA97B34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F50A34-4FC4-D276-97C0-BB3E250E0991}"/>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4" name="Footer Placeholder 3">
            <a:extLst>
              <a:ext uri="{FF2B5EF4-FFF2-40B4-BE49-F238E27FC236}">
                <a16:creationId xmlns:a16="http://schemas.microsoft.com/office/drawing/2014/main" id="{AE8DDDE2-4E6C-D9FB-1723-C3726F5E96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083C73-789A-CFDE-54E2-B990190B1069}"/>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3931700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4CA776-EBDB-24ED-5AE4-E02E8D461E6D}"/>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3" name="Footer Placeholder 2">
            <a:extLst>
              <a:ext uri="{FF2B5EF4-FFF2-40B4-BE49-F238E27FC236}">
                <a16:creationId xmlns:a16="http://schemas.microsoft.com/office/drawing/2014/main" id="{C53D66DA-6B80-A8A1-07FF-A7F060F95A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54521A-9670-C54E-4A01-330C71D63145}"/>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39309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CE3A-7157-9B0A-A531-D8CC5956FB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19C67D-71B9-4414-259D-81BEBDF735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E07A6E-0D3D-8C20-D5C7-B2FE1826F0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7F07AD-867B-9682-67A0-5F6D7D7944A8}"/>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6" name="Footer Placeholder 5">
            <a:extLst>
              <a:ext uri="{FF2B5EF4-FFF2-40B4-BE49-F238E27FC236}">
                <a16:creationId xmlns:a16="http://schemas.microsoft.com/office/drawing/2014/main" id="{E57F8BE6-F530-C52C-610E-B7E707299C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43006A-6DC8-085F-524F-90A043D80A2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855030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B3868-8296-69AA-3AF0-989ADEB112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3EBCB1-CC77-35DB-B8A0-603DABD0E96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8E1B2E-56B0-F396-F3F5-FAD0448451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CFF720-05D3-16B1-5E83-9FD94F37CB02}"/>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6" name="Footer Placeholder 5">
            <a:extLst>
              <a:ext uri="{FF2B5EF4-FFF2-40B4-BE49-F238E27FC236}">
                <a16:creationId xmlns:a16="http://schemas.microsoft.com/office/drawing/2014/main" id="{49FB9674-868B-64E4-0E2D-343E5DFF89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B019D5-F9A3-E61A-A9E8-DC81E11FF733}"/>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4271408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71AAA-56F8-6727-5773-F75396A035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73517E-ECF9-B163-C381-DE45A09E3C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ACAABE-C0B0-BB0E-4958-E460CF0696C9}"/>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4620B725-53A8-36D7-DBFD-3600F5BD4A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C1DF5-FF12-0175-76C5-5D0954DC18B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2597691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AB21B-D7BA-CABA-5623-55B5F39061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ADD16E-EF3D-FF27-8478-8C179E15EE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80DEB0-DCA7-F5CF-E51E-A187039166AC}"/>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9EF1B5C9-E994-3884-B473-21F802CE5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F7AC6-B1CE-ACD8-BD6B-A8416618BD85}"/>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478023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5586C-B615-D875-ED39-845B1DD1A5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058225-7582-556B-D1B9-31FB1ADFBB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5AA2B-DC40-F93F-C31F-5D3771C068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8663CF0F-A89C-3D71-C6B4-166CED73F7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AFECED-75B0-47EA-5A31-0930D81BCC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4713EB-45BF-4312-82FA-9EDE3AD987C8}" type="slidenum">
              <a:rPr lang="en-US" smtClean="0"/>
              <a:t>‹#›</a:t>
            </a:fld>
            <a:endParaRPr lang="en-US"/>
          </a:p>
        </p:txBody>
      </p:sp>
    </p:spTree>
    <p:extLst>
      <p:ext uri="{BB962C8B-B14F-4D97-AF65-F5344CB8AC3E}">
        <p14:creationId xmlns:p14="http://schemas.microsoft.com/office/powerpoint/2010/main" val="2276855097"/>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32495F0-C5CB-4823-AE70-EED61EBAB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B9D8FA-9608-01FA-1394-000BF3C256E8}"/>
              </a:ext>
            </a:extLst>
          </p:cNvPr>
          <p:cNvSpPr>
            <a:spLocks noGrp="1"/>
          </p:cNvSpPr>
          <p:nvPr>
            <p:ph type="ctrTitle"/>
          </p:nvPr>
        </p:nvSpPr>
        <p:spPr>
          <a:xfrm>
            <a:off x="851183" y="1143000"/>
            <a:ext cx="4846320" cy="2898648"/>
          </a:xfrm>
        </p:spPr>
        <p:txBody>
          <a:bodyPr>
            <a:normAutofit/>
          </a:bodyPr>
          <a:lstStyle/>
          <a:p>
            <a:pPr algn="l"/>
            <a:r>
              <a:rPr lang="en-US" sz="3400"/>
              <a:t>Salary Median Classification for Data Science Roles</a:t>
            </a:r>
            <a:br>
              <a:rPr lang="en-US" sz="3400"/>
            </a:br>
            <a:r>
              <a:rPr lang="en-US" sz="3400"/>
              <a:t>Predicting Above‑Median vs. Below‑Median Salaries Using Machine Learning</a:t>
            </a:r>
          </a:p>
        </p:txBody>
      </p:sp>
      <p:sp>
        <p:nvSpPr>
          <p:cNvPr id="3" name="Subtitle 2">
            <a:extLst>
              <a:ext uri="{FF2B5EF4-FFF2-40B4-BE49-F238E27FC236}">
                <a16:creationId xmlns:a16="http://schemas.microsoft.com/office/drawing/2014/main" id="{FF555FDE-8B55-32A1-4E99-419085AC2622}"/>
              </a:ext>
            </a:extLst>
          </p:cNvPr>
          <p:cNvSpPr>
            <a:spLocks noGrp="1"/>
          </p:cNvSpPr>
          <p:nvPr>
            <p:ph type="subTitle" idx="1"/>
          </p:nvPr>
        </p:nvSpPr>
        <p:spPr>
          <a:xfrm>
            <a:off x="851183" y="4407408"/>
            <a:ext cx="4846320" cy="1335024"/>
          </a:xfrm>
        </p:spPr>
        <p:txBody>
          <a:bodyPr>
            <a:normAutofit/>
          </a:bodyPr>
          <a:lstStyle/>
          <a:p>
            <a:pPr algn="l"/>
            <a:r>
              <a:rPr lang="en-US"/>
              <a:t>By </a:t>
            </a:r>
            <a:r>
              <a:rPr lang="en-US" b="1"/>
              <a:t>Aaron Niecestro</a:t>
            </a:r>
            <a:r>
              <a:rPr lang="en-US"/>
              <a:t> </a:t>
            </a:r>
          </a:p>
        </p:txBody>
      </p:sp>
      <p:sp>
        <p:nvSpPr>
          <p:cNvPr id="46" name="Rectangle 45">
            <a:extLst>
              <a:ext uri="{FF2B5EF4-FFF2-40B4-BE49-F238E27FC236}">
                <a16:creationId xmlns:a16="http://schemas.microsoft.com/office/drawing/2014/main" id="{CB8B9C25-D80D-48EC-B83A-231219A80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82975"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7C10339C-CCD5-57AC-DA57-CB44A9E428A0}"/>
              </a:ext>
            </a:extLst>
          </p:cNvPr>
          <p:cNvPicPr>
            <a:picLocks noChangeAspect="1"/>
          </p:cNvPicPr>
          <p:nvPr/>
        </p:nvPicPr>
        <p:blipFill>
          <a:blip r:embed="rId2"/>
          <a:stretch>
            <a:fillRect/>
          </a:stretch>
        </p:blipFill>
        <p:spPr>
          <a:xfrm>
            <a:off x="6260956" y="791310"/>
            <a:ext cx="5441001" cy="1945157"/>
          </a:xfrm>
          <a:prstGeom prst="rect">
            <a:avLst/>
          </a:prstGeom>
        </p:spPr>
      </p:pic>
      <p:sp>
        <p:nvSpPr>
          <p:cNvPr id="68" name="Rectangle 67">
            <a:extLst>
              <a:ext uri="{FF2B5EF4-FFF2-40B4-BE49-F238E27FC236}">
                <a16:creationId xmlns:a16="http://schemas.microsoft.com/office/drawing/2014/main" id="{601CC70B-8875-45A1-8AFD-7D546E3C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897" y="4177748"/>
            <a:ext cx="4824407"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Concept Art Salary at Gary Cathey blog">
            <a:extLst>
              <a:ext uri="{FF2B5EF4-FFF2-40B4-BE49-F238E27FC236}">
                <a16:creationId xmlns:a16="http://schemas.microsoft.com/office/drawing/2014/main" id="{39C17812-B39E-99BE-D866-526C0F3C5B82}"/>
              </a:ext>
            </a:extLst>
          </p:cNvPr>
          <p:cNvPicPr>
            <a:picLocks noChangeAspect="1"/>
          </p:cNvPicPr>
          <p:nvPr/>
        </p:nvPicPr>
        <p:blipFill>
          <a:blip r:embed="rId3"/>
          <a:stretch>
            <a:fillRect/>
          </a:stretch>
        </p:blipFill>
        <p:spPr>
          <a:xfrm>
            <a:off x="7672763" y="3148953"/>
            <a:ext cx="3143861" cy="3143861"/>
          </a:xfrm>
          <a:prstGeom prst="rect">
            <a:avLst/>
          </a:prstGeom>
        </p:spPr>
      </p:pic>
    </p:spTree>
    <p:extLst>
      <p:ext uri="{BB962C8B-B14F-4D97-AF65-F5344CB8AC3E}">
        <p14:creationId xmlns:p14="http://schemas.microsoft.com/office/powerpoint/2010/main" val="80661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7810F-9200-7DF6-E630-8D1C30B4474E}"/>
              </a:ext>
            </a:extLst>
          </p:cNvPr>
          <p:cNvSpPr>
            <a:spLocks noGrp="1"/>
          </p:cNvSpPr>
          <p:nvPr>
            <p:ph type="title"/>
          </p:nvPr>
        </p:nvSpPr>
        <p:spPr>
          <a:xfrm>
            <a:off x="838200" y="557188"/>
            <a:ext cx="10515600" cy="1133499"/>
          </a:xfrm>
        </p:spPr>
        <p:txBody>
          <a:bodyPr>
            <a:normAutofit/>
          </a:bodyPr>
          <a:lstStyle/>
          <a:p>
            <a:pPr algn="ctr"/>
            <a:r>
              <a:rPr lang="en-US" sz="5200"/>
              <a:t>Project Overview</a:t>
            </a:r>
          </a:p>
        </p:txBody>
      </p:sp>
      <p:graphicFrame>
        <p:nvGraphicFramePr>
          <p:cNvPr id="5" name="Content Placeholder 2">
            <a:extLst>
              <a:ext uri="{FF2B5EF4-FFF2-40B4-BE49-F238E27FC236}">
                <a16:creationId xmlns:a16="http://schemas.microsoft.com/office/drawing/2014/main" id="{3260F64B-8420-309F-44D4-94B965206BC9}"/>
              </a:ext>
            </a:extLst>
          </p:cNvPr>
          <p:cNvGraphicFramePr>
            <a:graphicFrameLocks noGrp="1"/>
          </p:cNvGraphicFramePr>
          <p:nvPr>
            <p:ph idx="1"/>
            <p:extLst>
              <p:ext uri="{D42A27DB-BD31-4B8C-83A1-F6EECF244321}">
                <p14:modId xmlns:p14="http://schemas.microsoft.com/office/powerpoint/2010/main" val="235230582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747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59C29-BAE2-EA38-0A7F-95234DAABBD2}"/>
              </a:ext>
            </a:extLst>
          </p:cNvPr>
          <p:cNvSpPr>
            <a:spLocks noGrp="1"/>
          </p:cNvSpPr>
          <p:nvPr>
            <p:ph type="title"/>
          </p:nvPr>
        </p:nvSpPr>
        <p:spPr>
          <a:xfrm>
            <a:off x="4468091" y="2974253"/>
            <a:ext cx="3255818" cy="909493"/>
          </a:xfrm>
        </p:spPr>
        <p:txBody>
          <a:bodyPr/>
          <a:lstStyle/>
          <a:p>
            <a:r>
              <a:rPr lang="en-US" b="1" dirty="0"/>
              <a:t>Introduction</a:t>
            </a:r>
            <a:r>
              <a:rPr lang="en-US" dirty="0"/>
              <a:t> </a:t>
            </a:r>
          </a:p>
        </p:txBody>
      </p:sp>
    </p:spTree>
    <p:extLst>
      <p:ext uri="{BB962C8B-B14F-4D97-AF65-F5344CB8AC3E}">
        <p14:creationId xmlns:p14="http://schemas.microsoft.com/office/powerpoint/2010/main" val="200605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858C-0FAE-AFF3-7236-09FB5B3953E3}"/>
              </a:ext>
            </a:extLst>
          </p:cNvPr>
          <p:cNvSpPr>
            <a:spLocks noGrp="1"/>
          </p:cNvSpPr>
          <p:nvPr>
            <p:ph type="title"/>
          </p:nvPr>
        </p:nvSpPr>
        <p:spPr/>
        <p:txBody>
          <a:bodyPr>
            <a:normAutofit/>
          </a:bodyPr>
          <a:lstStyle/>
          <a:p>
            <a:r>
              <a:rPr lang="en-US" dirty="0"/>
              <a:t>Understanding Data Science Salaries</a:t>
            </a:r>
          </a:p>
        </p:txBody>
      </p:sp>
      <p:graphicFrame>
        <p:nvGraphicFramePr>
          <p:cNvPr id="5" name="Content Placeholder 2">
            <a:extLst>
              <a:ext uri="{FF2B5EF4-FFF2-40B4-BE49-F238E27FC236}">
                <a16:creationId xmlns:a16="http://schemas.microsoft.com/office/drawing/2014/main" id="{17A2D912-72E7-8D8C-BE93-7D72051AB96C}"/>
              </a:ext>
            </a:extLst>
          </p:cNvPr>
          <p:cNvGraphicFramePr>
            <a:graphicFrameLocks noGrp="1"/>
          </p:cNvGraphicFramePr>
          <p:nvPr>
            <p:ph idx="1"/>
            <p:extLst>
              <p:ext uri="{D42A27DB-BD31-4B8C-83A1-F6EECF244321}">
                <p14:modId xmlns:p14="http://schemas.microsoft.com/office/powerpoint/2010/main" val="11993818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0521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143FE-80E8-33F9-6210-164B08A0F071}"/>
              </a:ext>
            </a:extLst>
          </p:cNvPr>
          <p:cNvSpPr>
            <a:spLocks noGrp="1"/>
          </p:cNvSpPr>
          <p:nvPr>
            <p:ph type="title"/>
          </p:nvPr>
        </p:nvSpPr>
        <p:spPr/>
        <p:txBody>
          <a:bodyPr>
            <a:normAutofit/>
          </a:bodyPr>
          <a:lstStyle/>
          <a:p>
            <a:r>
              <a:rPr lang="en-US" sz="4200"/>
              <a:t>History of Data Science Salaries — Why This Analysis Matters</a:t>
            </a:r>
          </a:p>
        </p:txBody>
      </p:sp>
      <p:graphicFrame>
        <p:nvGraphicFramePr>
          <p:cNvPr id="9" name="Content Placeholder 2">
            <a:extLst>
              <a:ext uri="{FF2B5EF4-FFF2-40B4-BE49-F238E27FC236}">
                <a16:creationId xmlns:a16="http://schemas.microsoft.com/office/drawing/2014/main" id="{A08F43F2-7B2B-D9F5-8595-05D234A67324}"/>
              </a:ext>
            </a:extLst>
          </p:cNvPr>
          <p:cNvGraphicFramePr/>
          <p:nvPr>
            <p:extLst>
              <p:ext uri="{D42A27DB-BD31-4B8C-83A1-F6EECF244321}">
                <p14:modId xmlns:p14="http://schemas.microsoft.com/office/powerpoint/2010/main" val="32891971"/>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2348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ADFB-BAEB-7B21-7614-5718433FCE78}"/>
              </a:ext>
            </a:extLst>
          </p:cNvPr>
          <p:cNvSpPr>
            <a:spLocks noGrp="1"/>
          </p:cNvSpPr>
          <p:nvPr>
            <p:ph type="title"/>
          </p:nvPr>
        </p:nvSpPr>
        <p:spPr>
          <a:xfrm>
            <a:off x="3957204" y="2578063"/>
            <a:ext cx="4277591" cy="1701873"/>
          </a:xfrm>
        </p:spPr>
        <p:txBody>
          <a:bodyPr>
            <a:normAutofit fontScale="90000"/>
          </a:bodyPr>
          <a:lstStyle/>
          <a:p>
            <a:pPr algn="ctr"/>
            <a:r>
              <a:rPr lang="en-US" b="1" dirty="0"/>
              <a:t>Preview of Data </a:t>
            </a:r>
            <a:br>
              <a:rPr lang="en-US" b="1" dirty="0"/>
            </a:br>
            <a:r>
              <a:rPr lang="en-US" b="1" dirty="0"/>
              <a:t>&amp; </a:t>
            </a:r>
            <a:br>
              <a:rPr lang="en-US" b="1" dirty="0"/>
            </a:br>
            <a:r>
              <a:rPr lang="en-US" b="1" dirty="0"/>
              <a:t>Analysis Approach </a:t>
            </a:r>
          </a:p>
        </p:txBody>
      </p:sp>
    </p:spTree>
    <p:extLst>
      <p:ext uri="{BB962C8B-B14F-4D97-AF65-F5344CB8AC3E}">
        <p14:creationId xmlns:p14="http://schemas.microsoft.com/office/powerpoint/2010/main" val="2516179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8C876-7287-3D5F-549E-7B90985A23F0}"/>
              </a:ext>
            </a:extLst>
          </p:cNvPr>
          <p:cNvSpPr>
            <a:spLocks noGrp="1"/>
          </p:cNvSpPr>
          <p:nvPr>
            <p:ph type="title"/>
          </p:nvPr>
        </p:nvSpPr>
        <p:spPr/>
        <p:txBody>
          <a:bodyPr>
            <a:normAutofit/>
          </a:bodyPr>
          <a:lstStyle/>
          <a:p>
            <a:r>
              <a:rPr lang="en-US"/>
              <a:t>Data Description </a:t>
            </a:r>
            <a:br>
              <a:rPr lang="en-US"/>
            </a:br>
            <a:r>
              <a:rPr lang="en-US" sz="2200"/>
              <a:t>U.S.‑only subset used for consistent compensation comparison</a:t>
            </a:r>
            <a:endParaRPr lang="en-US" sz="2200" dirty="0"/>
          </a:p>
        </p:txBody>
      </p:sp>
      <p:sp>
        <p:nvSpPr>
          <p:cNvPr id="3" name="Content Placeholder 2">
            <a:extLst>
              <a:ext uri="{FF2B5EF4-FFF2-40B4-BE49-F238E27FC236}">
                <a16:creationId xmlns:a16="http://schemas.microsoft.com/office/drawing/2014/main" id="{0977E649-90FA-C8DF-775F-D4969C6956F8}"/>
              </a:ext>
            </a:extLst>
          </p:cNvPr>
          <p:cNvSpPr>
            <a:spLocks noGrp="1"/>
          </p:cNvSpPr>
          <p:nvPr>
            <p:ph sz="half" idx="1"/>
          </p:nvPr>
        </p:nvSpPr>
        <p:spPr/>
        <p:txBody>
          <a:bodyPr>
            <a:normAutofit fontScale="70000" lnSpcReduction="20000"/>
          </a:bodyPr>
          <a:lstStyle/>
          <a:p>
            <a:r>
              <a:rPr lang="en-US" b="1" dirty="0"/>
              <a:t>Data has 44,225 observations</a:t>
            </a:r>
          </a:p>
          <a:p>
            <a:r>
              <a:rPr lang="en-US" b="1" dirty="0"/>
              <a:t>Median Salary Category (Target)</a:t>
            </a:r>
            <a:endParaRPr lang="en-US" dirty="0"/>
          </a:p>
          <a:p>
            <a:pPr lvl="1"/>
            <a:r>
              <a:rPr lang="en-US" dirty="0"/>
              <a:t>Below (Median &lt; $147,700)</a:t>
            </a:r>
          </a:p>
          <a:p>
            <a:pPr lvl="1"/>
            <a:r>
              <a:rPr lang="en-US" dirty="0"/>
              <a:t>Above (Median ≥ 147,700)</a:t>
            </a:r>
          </a:p>
          <a:p>
            <a:r>
              <a:rPr lang="en-US" b="1" dirty="0"/>
              <a:t>Key Feature Groups</a:t>
            </a:r>
          </a:p>
          <a:p>
            <a:pPr lvl="1"/>
            <a:r>
              <a:rPr lang="en-US" b="1" dirty="0"/>
              <a:t>Job &amp; Experience Attributes</a:t>
            </a:r>
            <a:endParaRPr lang="en-US" dirty="0"/>
          </a:p>
          <a:p>
            <a:pPr lvl="2"/>
            <a:r>
              <a:rPr lang="en-US" dirty="0"/>
              <a:t>Experience level</a:t>
            </a:r>
          </a:p>
          <a:p>
            <a:pPr lvl="2"/>
            <a:r>
              <a:rPr lang="en-US" dirty="0"/>
              <a:t>Job title group</a:t>
            </a:r>
          </a:p>
          <a:p>
            <a:pPr lvl="2"/>
            <a:r>
              <a:rPr lang="en-US" dirty="0"/>
              <a:t>Work year (2020–2025)</a:t>
            </a:r>
          </a:p>
          <a:p>
            <a:pPr lvl="2"/>
            <a:r>
              <a:rPr lang="en-US" dirty="0"/>
              <a:t>Data age (recency of salary record)</a:t>
            </a:r>
          </a:p>
          <a:p>
            <a:pPr lvl="1"/>
            <a:r>
              <a:rPr lang="en-US" b="1" dirty="0"/>
              <a:t>Employment &amp; Work Arrangement</a:t>
            </a:r>
            <a:endParaRPr lang="en-US" dirty="0"/>
          </a:p>
          <a:p>
            <a:pPr lvl="2"/>
            <a:r>
              <a:rPr lang="en-US" dirty="0"/>
              <a:t>Employment type (full‑time, contract, etc.)</a:t>
            </a:r>
          </a:p>
          <a:p>
            <a:pPr lvl="2"/>
            <a:r>
              <a:rPr lang="en-US" dirty="0"/>
              <a:t>Employee residence</a:t>
            </a:r>
          </a:p>
          <a:p>
            <a:pPr lvl="2"/>
            <a:r>
              <a:rPr lang="en-US" dirty="0"/>
              <a:t>Employee remote ratio (on‑site, hybrid, remote)</a:t>
            </a:r>
          </a:p>
          <a:p>
            <a:pPr lvl="2"/>
            <a:r>
              <a:rPr lang="en-US" dirty="0"/>
              <a:t>Employer remote ratio (company’s remote policy)</a:t>
            </a:r>
          </a:p>
          <a:p>
            <a:pPr lvl="1"/>
            <a:r>
              <a:rPr lang="en-US" b="1" dirty="0"/>
              <a:t>Company Attributes</a:t>
            </a:r>
            <a:endParaRPr lang="en-US" dirty="0"/>
          </a:p>
          <a:p>
            <a:pPr lvl="2"/>
            <a:r>
              <a:rPr lang="en-US" dirty="0"/>
              <a:t>Company size (small, medium, large)</a:t>
            </a:r>
          </a:p>
        </p:txBody>
      </p:sp>
      <p:sp>
        <p:nvSpPr>
          <p:cNvPr id="4" name="Content Placeholder 3">
            <a:extLst>
              <a:ext uri="{FF2B5EF4-FFF2-40B4-BE49-F238E27FC236}">
                <a16:creationId xmlns:a16="http://schemas.microsoft.com/office/drawing/2014/main" id="{E6CF4C09-EB2C-C10F-B4F5-017F5E081844}"/>
              </a:ext>
            </a:extLst>
          </p:cNvPr>
          <p:cNvSpPr>
            <a:spLocks noGrp="1"/>
          </p:cNvSpPr>
          <p:nvPr>
            <p:ph sz="half" idx="2"/>
          </p:nvPr>
        </p:nvSpPr>
        <p:spPr/>
        <p:txBody>
          <a:bodyPr>
            <a:normAutofit fontScale="70000" lnSpcReduction="20000"/>
          </a:bodyPr>
          <a:lstStyle/>
          <a:p>
            <a:r>
              <a:rPr lang="en-US" b="1"/>
              <a:t>Why These Features Matter</a:t>
            </a:r>
          </a:p>
          <a:p>
            <a:pPr lvl="1"/>
            <a:r>
              <a:rPr lang="en-US"/>
              <a:t>These attributes capture the most important drivers of salary variation:</a:t>
            </a:r>
          </a:p>
          <a:p>
            <a:pPr lvl="1"/>
            <a:r>
              <a:rPr lang="en-US"/>
              <a:t>Seniority</a:t>
            </a:r>
          </a:p>
          <a:p>
            <a:pPr lvl="1"/>
            <a:r>
              <a:rPr lang="en-US"/>
              <a:t>Job specialization</a:t>
            </a:r>
          </a:p>
          <a:p>
            <a:pPr lvl="1"/>
            <a:r>
              <a:rPr lang="en-US"/>
              <a:t>Company scale</a:t>
            </a:r>
          </a:p>
          <a:p>
            <a:pPr lvl="1"/>
            <a:r>
              <a:rPr lang="en-US"/>
              <a:t>Remote work flexibility</a:t>
            </a:r>
          </a:p>
          <a:p>
            <a:pPr lvl="1"/>
            <a:r>
              <a:rPr lang="en-US"/>
              <a:t>Geographic factors</a:t>
            </a:r>
            <a:endParaRPr lang="en-US" dirty="0"/>
          </a:p>
        </p:txBody>
      </p:sp>
    </p:spTree>
    <p:extLst>
      <p:ext uri="{BB962C8B-B14F-4D97-AF65-F5344CB8AC3E}">
        <p14:creationId xmlns:p14="http://schemas.microsoft.com/office/powerpoint/2010/main" val="499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37018-F639-5DDF-B5EF-DFC68E2195FA}"/>
              </a:ext>
            </a:extLst>
          </p:cNvPr>
          <p:cNvSpPr>
            <a:spLocks noGrp="1"/>
          </p:cNvSpPr>
          <p:nvPr>
            <p:ph type="title"/>
          </p:nvPr>
        </p:nvSpPr>
        <p:spPr/>
        <p:txBody>
          <a:bodyPr/>
          <a:lstStyle/>
          <a:p>
            <a:r>
              <a:rPr lang="en-US" dirty="0"/>
              <a:t>Snapshot of the Data Table</a:t>
            </a:r>
          </a:p>
        </p:txBody>
      </p:sp>
      <p:graphicFrame>
        <p:nvGraphicFramePr>
          <p:cNvPr id="7" name="Table 6">
            <a:extLst>
              <a:ext uri="{FF2B5EF4-FFF2-40B4-BE49-F238E27FC236}">
                <a16:creationId xmlns:a16="http://schemas.microsoft.com/office/drawing/2014/main" id="{938CE1FF-DB90-7B26-555F-EC51558260E0}"/>
              </a:ext>
            </a:extLst>
          </p:cNvPr>
          <p:cNvGraphicFramePr>
            <a:graphicFrameLocks noGrp="1"/>
          </p:cNvGraphicFramePr>
          <p:nvPr>
            <p:extLst>
              <p:ext uri="{D42A27DB-BD31-4B8C-83A1-F6EECF244321}">
                <p14:modId xmlns:p14="http://schemas.microsoft.com/office/powerpoint/2010/main" val="3339769001"/>
              </p:ext>
            </p:extLst>
          </p:nvPr>
        </p:nvGraphicFramePr>
        <p:xfrm>
          <a:off x="201538" y="2181860"/>
          <a:ext cx="11788923" cy="2494280"/>
        </p:xfrm>
        <a:graphic>
          <a:graphicData uri="http://schemas.openxmlformats.org/drawingml/2006/table">
            <a:tbl>
              <a:tblPr firstRow="1" bandRow="1">
                <a:tableStyleId>{073A0DAA-6AF3-43AB-8588-CEC1D06C72B9}</a:tableStyleId>
              </a:tblPr>
              <a:tblGrid>
                <a:gridCol w="1982026">
                  <a:extLst>
                    <a:ext uri="{9D8B030D-6E8A-4147-A177-3AD203B41FA5}">
                      <a16:colId xmlns:a16="http://schemas.microsoft.com/office/drawing/2014/main" val="888008849"/>
                    </a:ext>
                  </a:extLst>
                </a:gridCol>
                <a:gridCol w="1988058">
                  <a:extLst>
                    <a:ext uri="{9D8B030D-6E8A-4147-A177-3AD203B41FA5}">
                      <a16:colId xmlns:a16="http://schemas.microsoft.com/office/drawing/2014/main" val="2008842312"/>
                    </a:ext>
                  </a:extLst>
                </a:gridCol>
                <a:gridCol w="1231651">
                  <a:extLst>
                    <a:ext uri="{9D8B030D-6E8A-4147-A177-3AD203B41FA5}">
                      <a16:colId xmlns:a16="http://schemas.microsoft.com/office/drawing/2014/main" val="2922809331"/>
                    </a:ext>
                  </a:extLst>
                </a:gridCol>
                <a:gridCol w="1530022">
                  <a:extLst>
                    <a:ext uri="{9D8B030D-6E8A-4147-A177-3AD203B41FA5}">
                      <a16:colId xmlns:a16="http://schemas.microsoft.com/office/drawing/2014/main" val="1149417876"/>
                    </a:ext>
                  </a:extLst>
                </a:gridCol>
                <a:gridCol w="1995960">
                  <a:extLst>
                    <a:ext uri="{9D8B030D-6E8A-4147-A177-3AD203B41FA5}">
                      <a16:colId xmlns:a16="http://schemas.microsoft.com/office/drawing/2014/main" val="762575400"/>
                    </a:ext>
                  </a:extLst>
                </a:gridCol>
                <a:gridCol w="3061206">
                  <a:extLst>
                    <a:ext uri="{9D8B030D-6E8A-4147-A177-3AD203B41FA5}">
                      <a16:colId xmlns:a16="http://schemas.microsoft.com/office/drawing/2014/main" val="38858738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Job Title </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Experience Level</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Company Size</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Remote Ratio</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Employee Residence</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Salary Median Category</a:t>
                      </a:r>
                    </a:p>
                    <a:p>
                      <a:pPr algn="ctr"/>
                      <a:endParaRPr lang="en-US" dirty="0"/>
                    </a:p>
                  </a:txBody>
                  <a:tcPr/>
                </a:tc>
                <a:extLst>
                  <a:ext uri="{0D108BD9-81ED-4DB2-BD59-A6C34878D82A}">
                    <a16:rowId xmlns:a16="http://schemas.microsoft.com/office/drawing/2014/main" val="2395599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Data Analytics  </a:t>
                      </a:r>
                      <a:endParaRPr lang="en-US" dirty="0"/>
                    </a:p>
                  </a:txBody>
                  <a:tcPr/>
                </a:tc>
                <a:tc>
                  <a:txBody>
                    <a:bodyPr/>
                    <a:lstStyle/>
                    <a:p>
                      <a:pPr algn="ctr"/>
                      <a:r>
                        <a:rPr lang="en-US" sz="1800" kern="1200" dirty="0">
                          <a:solidFill>
                            <a:schemeClr val="dk1"/>
                          </a:solidFill>
                          <a:effectLst/>
                        </a:rPr>
                        <a:t>Entry-Level</a:t>
                      </a:r>
                      <a:endParaRPr lang="en-US" dirty="0"/>
                    </a:p>
                  </a:txBody>
                  <a:tcPr/>
                </a:tc>
                <a:tc>
                  <a:txBody>
                    <a:bodyPr/>
                    <a:lstStyle/>
                    <a:p>
                      <a:pPr algn="ctr"/>
                      <a:r>
                        <a:rPr lang="en-US" sz="1800" kern="1200" dirty="0">
                          <a:solidFill>
                            <a:schemeClr val="dk1"/>
                          </a:solidFill>
                          <a:effectLst/>
                        </a:rPr>
                        <a:t>Medium</a:t>
                      </a:r>
                      <a:endParaRPr lang="en-US" dirty="0"/>
                    </a:p>
                  </a:txBody>
                  <a:tcPr/>
                </a:tc>
                <a:tc>
                  <a:txBody>
                    <a:bodyPr/>
                    <a:lstStyle/>
                    <a:p>
                      <a:pPr algn="ctr"/>
                      <a:r>
                        <a:rPr lang="en-US" dirty="0"/>
                        <a:t>0.0</a:t>
                      </a:r>
                    </a:p>
                  </a:txBody>
                  <a:tcPr/>
                </a:tc>
                <a:tc>
                  <a:txBody>
                    <a:bodyPr/>
                    <a:lstStyle/>
                    <a:p>
                      <a:pPr algn="ctr"/>
                      <a:r>
                        <a:rPr lang="en-US" dirty="0"/>
                        <a:t>United States</a:t>
                      </a:r>
                    </a:p>
                  </a:txBody>
                  <a:tcPr/>
                </a:tc>
                <a:tc>
                  <a:txBody>
                    <a:bodyPr/>
                    <a:lstStyle/>
                    <a:p>
                      <a:pPr algn="ctr"/>
                      <a:r>
                        <a:rPr lang="en-US" dirty="0"/>
                        <a:t>Below-Median</a:t>
                      </a:r>
                    </a:p>
                  </a:txBody>
                  <a:tcPr/>
                </a:tc>
                <a:extLst>
                  <a:ext uri="{0D108BD9-81ED-4DB2-BD59-A6C34878D82A}">
                    <a16:rowId xmlns:a16="http://schemas.microsoft.com/office/drawing/2014/main" val="149947474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Other Tech</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Senior-Level</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Medium       </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0.0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United States</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Above-Median</a:t>
                      </a:r>
                      <a:endParaRPr lang="en-US" dirty="0"/>
                    </a:p>
                  </a:txBody>
                  <a:tcPr/>
                </a:tc>
                <a:extLst>
                  <a:ext uri="{0D108BD9-81ED-4DB2-BD59-A6C34878D82A}">
                    <a16:rowId xmlns:a16="http://schemas.microsoft.com/office/drawing/2014/main" val="259835096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Other Tech</a:t>
                      </a:r>
                      <a:endParaRPr lang="en-US"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Middle-Level</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Medium</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50.0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United States</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Above-Median</a:t>
                      </a:r>
                      <a:endParaRPr lang="en-US" dirty="0"/>
                    </a:p>
                  </a:txBody>
                  <a:tcPr/>
                </a:tc>
                <a:extLst>
                  <a:ext uri="{0D108BD9-81ED-4DB2-BD59-A6C34878D82A}">
                    <a16:rowId xmlns:a16="http://schemas.microsoft.com/office/drawing/2014/main" val="277577820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Other Tech</a:t>
                      </a:r>
                      <a:endParaRPr lang="en-US"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Senior-Level</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Medium</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0.0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United States</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Above-Median</a:t>
                      </a:r>
                      <a:endParaRPr lang="en-US" dirty="0"/>
                    </a:p>
                  </a:txBody>
                  <a:tcPr/>
                </a:tc>
                <a:extLst>
                  <a:ext uri="{0D108BD9-81ED-4DB2-BD59-A6C34878D82A}">
                    <a16:rowId xmlns:a16="http://schemas.microsoft.com/office/drawing/2014/main" val="67831221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ML/AI Engineering</a:t>
                      </a:r>
                      <a:endParaRPr lang="en-US"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Senior-Level</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Medium</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0.0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United States</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Above-Median</a:t>
                      </a: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285504398"/>
                  </a:ext>
                </a:extLst>
              </a:tr>
            </a:tbl>
          </a:graphicData>
        </a:graphic>
      </p:graphicFrame>
    </p:spTree>
    <p:extLst>
      <p:ext uri="{BB962C8B-B14F-4D97-AF65-F5344CB8AC3E}">
        <p14:creationId xmlns:p14="http://schemas.microsoft.com/office/powerpoint/2010/main" val="247120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A91F999-DE3C-A3A6-E9B4-07F8160E63B5}"/>
              </a:ext>
            </a:extLst>
          </p:cNvPr>
          <p:cNvPicPr>
            <a:picLocks noChangeAspect="1"/>
          </p:cNvPicPr>
          <p:nvPr/>
        </p:nvPicPr>
        <p:blipFill>
          <a:blip r:embed="rId2"/>
          <a:stretch>
            <a:fillRect/>
          </a:stretch>
        </p:blipFill>
        <p:spPr>
          <a:xfrm>
            <a:off x="580188" y="3705014"/>
            <a:ext cx="4966104" cy="2905170"/>
          </a:xfrm>
          <a:prstGeom prst="rect">
            <a:avLst/>
          </a:prstGeom>
        </p:spPr>
      </p:pic>
      <p:sp>
        <p:nvSpPr>
          <p:cNvPr id="21" name="Rectangle 20">
            <a:extLst>
              <a:ext uri="{FF2B5EF4-FFF2-40B4-BE49-F238E27FC236}">
                <a16:creationId xmlns:a16="http://schemas.microsoft.com/office/drawing/2014/main" id="{417CDA24-35F8-4540-8C52-3096D6D94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6ABC2A3-D9D6-6BDE-3D15-74A32DE99033}"/>
              </a:ext>
            </a:extLst>
          </p:cNvPr>
          <p:cNvPicPr>
            <a:picLocks noChangeAspect="1"/>
          </p:cNvPicPr>
          <p:nvPr/>
        </p:nvPicPr>
        <p:blipFill>
          <a:blip r:embed="rId3"/>
          <a:stretch>
            <a:fillRect/>
          </a:stretch>
        </p:blipFill>
        <p:spPr>
          <a:xfrm>
            <a:off x="672153" y="239055"/>
            <a:ext cx="4782174" cy="2905170"/>
          </a:xfrm>
          <a:prstGeom prst="rect">
            <a:avLst/>
          </a:prstGeom>
        </p:spPr>
      </p:pic>
      <p:sp>
        <p:nvSpPr>
          <p:cNvPr id="23" name="Rectangle 22">
            <a:extLst>
              <a:ext uri="{FF2B5EF4-FFF2-40B4-BE49-F238E27FC236}">
                <a16:creationId xmlns:a16="http://schemas.microsoft.com/office/drawing/2014/main" id="{8658BFE0-4E65-4174-9C75-687C94E88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A75DFED-A0C1-4A83-BE1D-0271C1826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552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4B45151-82C7-FFEA-C8D4-8D04A43197D3}"/>
              </a:ext>
            </a:extLst>
          </p:cNvPr>
          <p:cNvPicPr>
            <a:picLocks noChangeAspect="1"/>
          </p:cNvPicPr>
          <p:nvPr/>
        </p:nvPicPr>
        <p:blipFill>
          <a:blip r:embed="rId4"/>
          <a:stretch>
            <a:fillRect/>
          </a:stretch>
        </p:blipFill>
        <p:spPr>
          <a:xfrm>
            <a:off x="6707215" y="311360"/>
            <a:ext cx="4843089" cy="2760560"/>
          </a:xfrm>
          <a:prstGeom prst="rect">
            <a:avLst/>
          </a:prstGeom>
        </p:spPr>
      </p:pic>
      <p:pic>
        <p:nvPicPr>
          <p:cNvPr id="15" name="Picture 14">
            <a:extLst>
              <a:ext uri="{FF2B5EF4-FFF2-40B4-BE49-F238E27FC236}">
                <a16:creationId xmlns:a16="http://schemas.microsoft.com/office/drawing/2014/main" id="{3C46469B-CB3B-4FCF-AA7A-F2ED9308DEDC}"/>
              </a:ext>
            </a:extLst>
          </p:cNvPr>
          <p:cNvPicPr>
            <a:picLocks noChangeAspect="1"/>
          </p:cNvPicPr>
          <p:nvPr/>
        </p:nvPicPr>
        <p:blipFill>
          <a:blip r:embed="rId5"/>
          <a:stretch>
            <a:fillRect/>
          </a:stretch>
        </p:blipFill>
        <p:spPr>
          <a:xfrm>
            <a:off x="6769305" y="3777319"/>
            <a:ext cx="4718907" cy="2760560"/>
          </a:xfrm>
          <a:prstGeom prst="rect">
            <a:avLst/>
          </a:prstGeom>
        </p:spPr>
      </p:pic>
    </p:spTree>
    <p:extLst>
      <p:ext uri="{BB962C8B-B14F-4D97-AF65-F5344CB8AC3E}">
        <p14:creationId xmlns:p14="http://schemas.microsoft.com/office/powerpoint/2010/main" val="3956626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438E-DEB5-1A2D-D484-BB03BAD8FECC}"/>
              </a:ext>
            </a:extLst>
          </p:cNvPr>
          <p:cNvSpPr>
            <a:spLocks noGrp="1"/>
          </p:cNvSpPr>
          <p:nvPr>
            <p:ph type="title"/>
          </p:nvPr>
        </p:nvSpPr>
        <p:spPr/>
        <p:txBody>
          <a:bodyPr/>
          <a:lstStyle/>
          <a:p>
            <a:r>
              <a:rPr lang="en-US" dirty="0"/>
              <a:t>Insights from Data and Graphs</a:t>
            </a:r>
          </a:p>
        </p:txBody>
      </p:sp>
      <p:sp>
        <p:nvSpPr>
          <p:cNvPr id="3" name="Content Placeholder 2">
            <a:extLst>
              <a:ext uri="{FF2B5EF4-FFF2-40B4-BE49-F238E27FC236}">
                <a16:creationId xmlns:a16="http://schemas.microsoft.com/office/drawing/2014/main" id="{6621C8E5-D892-37A1-DB82-01A6AF413EF5}"/>
              </a:ext>
            </a:extLst>
          </p:cNvPr>
          <p:cNvSpPr>
            <a:spLocks noGrp="1"/>
          </p:cNvSpPr>
          <p:nvPr>
            <p:ph idx="1"/>
          </p:nvPr>
        </p:nvSpPr>
        <p:spPr/>
        <p:txBody>
          <a:bodyPr/>
          <a:lstStyle/>
          <a:p>
            <a:r>
              <a:rPr lang="en-US" dirty="0"/>
              <a:t>This dataset contains structured salary records for U.S. data‑science professionals. Each row represents one job record with attributes describing the role, company, and work arrangement.”</a:t>
            </a:r>
          </a:p>
          <a:p>
            <a:r>
              <a:rPr lang="en-US" dirty="0"/>
              <a:t>Senior and specialized roles consistently fall above the median salary, while entry‑level and generalist roles cluster below it.</a:t>
            </a:r>
          </a:p>
          <a:p>
            <a:r>
              <a:rPr lang="en-US" dirty="0"/>
              <a:t>Job title group emerges as the #1 driver of salary in both feature importance and SHAP analysis.</a:t>
            </a:r>
          </a:p>
        </p:txBody>
      </p:sp>
    </p:spTree>
    <p:extLst>
      <p:ext uri="{BB962C8B-B14F-4D97-AF65-F5344CB8AC3E}">
        <p14:creationId xmlns:p14="http://schemas.microsoft.com/office/powerpoint/2010/main" val="1572126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AFDCC-24D0-E98D-2338-03780E427CE6}"/>
              </a:ext>
            </a:extLst>
          </p:cNvPr>
          <p:cNvSpPr>
            <a:spLocks noGrp="1"/>
          </p:cNvSpPr>
          <p:nvPr>
            <p:ph type="title"/>
          </p:nvPr>
        </p:nvSpPr>
        <p:spPr/>
        <p:txBody>
          <a:bodyPr/>
          <a:lstStyle/>
          <a:p>
            <a:r>
              <a:rPr lang="en-US" dirty="0"/>
              <a:t>Key Insights from the Data</a:t>
            </a:r>
          </a:p>
        </p:txBody>
      </p:sp>
      <p:sp>
        <p:nvSpPr>
          <p:cNvPr id="3" name="Content Placeholder 2">
            <a:extLst>
              <a:ext uri="{FF2B5EF4-FFF2-40B4-BE49-F238E27FC236}">
                <a16:creationId xmlns:a16="http://schemas.microsoft.com/office/drawing/2014/main" id="{52F01586-EE2D-719A-48BF-B85ADBEA7F82}"/>
              </a:ext>
            </a:extLst>
          </p:cNvPr>
          <p:cNvSpPr>
            <a:spLocks noGrp="1"/>
          </p:cNvSpPr>
          <p:nvPr>
            <p:ph idx="1"/>
          </p:nvPr>
        </p:nvSpPr>
        <p:spPr/>
        <p:txBody>
          <a:bodyPr>
            <a:normAutofit fontScale="77500" lnSpcReduction="20000"/>
          </a:bodyPr>
          <a:lstStyle/>
          <a:p>
            <a:r>
              <a:rPr lang="en-US" b="1" dirty="0"/>
              <a:t>1. Job Role &amp; Seniority Drive Salary</a:t>
            </a:r>
          </a:p>
          <a:p>
            <a:pPr lvl="1"/>
            <a:r>
              <a:rPr lang="en-US" dirty="0"/>
              <a:t>Senior and specialized roles consistently fall above the median</a:t>
            </a:r>
          </a:p>
          <a:p>
            <a:pPr lvl="1"/>
            <a:r>
              <a:rPr lang="en-US" dirty="0"/>
              <a:t>Entry‑level and generalist roles cluster below the median</a:t>
            </a:r>
          </a:p>
          <a:p>
            <a:r>
              <a:rPr lang="en-US" b="1" dirty="0"/>
              <a:t>2. Experience Strongly Predicts Compensation</a:t>
            </a:r>
          </a:p>
          <a:p>
            <a:pPr lvl="1"/>
            <a:r>
              <a:rPr lang="en-US" dirty="0"/>
              <a:t>Clear upward trend: more experience → higher salary</a:t>
            </a:r>
          </a:p>
          <a:p>
            <a:r>
              <a:rPr lang="en-US" b="1" dirty="0"/>
              <a:t>3. Company Size Matters</a:t>
            </a:r>
          </a:p>
          <a:p>
            <a:pPr lvl="1"/>
            <a:r>
              <a:rPr lang="en-US" dirty="0"/>
              <a:t>Large companies pay more on average</a:t>
            </a:r>
          </a:p>
          <a:p>
            <a:pPr lvl="1"/>
            <a:r>
              <a:rPr lang="en-US" dirty="0"/>
              <a:t>Small companies show lower salary distributions</a:t>
            </a:r>
          </a:p>
          <a:p>
            <a:r>
              <a:rPr lang="en-US" b="1" dirty="0"/>
              <a:t>4. Remote Work Influences Pay</a:t>
            </a:r>
          </a:p>
          <a:p>
            <a:pPr lvl="1"/>
            <a:r>
              <a:rPr lang="en-US" dirty="0"/>
              <a:t>Fully remote roles trend higher</a:t>
            </a:r>
          </a:p>
          <a:p>
            <a:pPr lvl="1"/>
            <a:r>
              <a:rPr lang="en-US" dirty="0"/>
              <a:t>On‑site roles cluster below median</a:t>
            </a:r>
          </a:p>
          <a:p>
            <a:r>
              <a:rPr lang="en-US" b="1" dirty="0"/>
              <a:t>5. Median Salary Is a Stable Target</a:t>
            </a:r>
          </a:p>
          <a:p>
            <a:pPr lvl="1"/>
            <a:r>
              <a:rPr lang="en-US" dirty="0"/>
              <a:t>Less sensitive to outliers than mean salary</a:t>
            </a:r>
          </a:p>
          <a:p>
            <a:pPr lvl="1"/>
            <a:r>
              <a:rPr lang="en-US" dirty="0"/>
              <a:t>Provides a reliable classification threshold</a:t>
            </a:r>
          </a:p>
        </p:txBody>
      </p:sp>
    </p:spTree>
    <p:extLst>
      <p:ext uri="{BB962C8B-B14F-4D97-AF65-F5344CB8AC3E}">
        <p14:creationId xmlns:p14="http://schemas.microsoft.com/office/powerpoint/2010/main" val="1651601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78588-0CB0-37F4-07F8-F40D57368F89}"/>
              </a:ext>
            </a:extLst>
          </p:cNvPr>
          <p:cNvSpPr>
            <a:spLocks noGrp="1"/>
          </p:cNvSpPr>
          <p:nvPr>
            <p:ph type="title"/>
          </p:nvPr>
        </p:nvSpPr>
        <p:spPr>
          <a:xfrm>
            <a:off x="838200" y="365125"/>
            <a:ext cx="9842237" cy="1325563"/>
          </a:xfrm>
        </p:spPr>
        <p:txBody>
          <a:bodyPr>
            <a:normAutofit/>
          </a:bodyPr>
          <a:lstStyle/>
          <a:p>
            <a:r>
              <a:rPr lang="en-US" sz="5600"/>
              <a:t>Modeling Approach</a:t>
            </a:r>
          </a:p>
        </p:txBody>
      </p:sp>
      <p:graphicFrame>
        <p:nvGraphicFramePr>
          <p:cNvPr id="5" name="Content Placeholder 2">
            <a:extLst>
              <a:ext uri="{FF2B5EF4-FFF2-40B4-BE49-F238E27FC236}">
                <a16:creationId xmlns:a16="http://schemas.microsoft.com/office/drawing/2014/main" id="{FD18B9D9-F047-5FEA-49DD-AB2256A50B3E}"/>
              </a:ext>
            </a:extLst>
          </p:cNvPr>
          <p:cNvGraphicFramePr>
            <a:graphicFrameLocks noGrp="1"/>
          </p:cNvGraphicFramePr>
          <p:nvPr>
            <p:ph idx="1"/>
            <p:extLst>
              <p:ext uri="{D42A27DB-BD31-4B8C-83A1-F6EECF244321}">
                <p14:modId xmlns:p14="http://schemas.microsoft.com/office/powerpoint/2010/main" val="12714148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1950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4BAB8-8B3B-BF03-BDE7-E42695E81497}"/>
              </a:ext>
            </a:extLst>
          </p:cNvPr>
          <p:cNvSpPr>
            <a:spLocks noGrp="1"/>
          </p:cNvSpPr>
          <p:nvPr>
            <p:ph type="title"/>
          </p:nvPr>
        </p:nvSpPr>
        <p:spPr>
          <a:xfrm>
            <a:off x="838200" y="557188"/>
            <a:ext cx="10515600" cy="1133499"/>
          </a:xfrm>
        </p:spPr>
        <p:txBody>
          <a:bodyPr>
            <a:normAutofit/>
          </a:bodyPr>
          <a:lstStyle/>
          <a:p>
            <a:pPr algn="ctr"/>
            <a:r>
              <a:rPr lang="en-US" sz="5200"/>
              <a:t>How We Evaluate Model Performance</a:t>
            </a:r>
          </a:p>
        </p:txBody>
      </p:sp>
      <p:graphicFrame>
        <p:nvGraphicFramePr>
          <p:cNvPr id="5" name="Content Placeholder 2">
            <a:extLst>
              <a:ext uri="{FF2B5EF4-FFF2-40B4-BE49-F238E27FC236}">
                <a16:creationId xmlns:a16="http://schemas.microsoft.com/office/drawing/2014/main" id="{5E67D477-BE15-C76A-E5F5-EB40722C0ABF}"/>
              </a:ext>
            </a:extLst>
          </p:cNvPr>
          <p:cNvGraphicFramePr>
            <a:graphicFrameLocks noGrp="1"/>
          </p:cNvGraphicFramePr>
          <p:nvPr>
            <p:ph idx="1"/>
            <p:extLst>
              <p:ext uri="{D42A27DB-BD31-4B8C-83A1-F6EECF244321}">
                <p14:modId xmlns:p14="http://schemas.microsoft.com/office/powerpoint/2010/main" val="330175074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2869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2F3C0-C0D3-290E-16E3-B8F124590AC0}"/>
              </a:ext>
            </a:extLst>
          </p:cNvPr>
          <p:cNvSpPr txBox="1">
            <a:spLocks/>
          </p:cNvSpPr>
          <p:nvPr/>
        </p:nvSpPr>
        <p:spPr>
          <a:xfrm>
            <a:off x="2815670" y="2072320"/>
            <a:ext cx="6560660" cy="2818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a:t>Interpretable Model</a:t>
            </a:r>
          </a:p>
          <a:p>
            <a:pPr algn="ctr"/>
            <a:r>
              <a:rPr lang="en-US" sz="4000" i="1"/>
              <a:t>“Baseline models that show linear and probabilistic salary patterns.”</a:t>
            </a:r>
            <a:endParaRPr lang="en-US" sz="4000" i="1" dirty="0"/>
          </a:p>
        </p:txBody>
      </p:sp>
    </p:spTree>
    <p:extLst>
      <p:ext uri="{BB962C8B-B14F-4D97-AF65-F5344CB8AC3E}">
        <p14:creationId xmlns:p14="http://schemas.microsoft.com/office/powerpoint/2010/main" val="361190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3EAAB-F1B9-FC03-D905-7054DD203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DE079-20E8-A4E2-B195-23DAA84C29B3}"/>
              </a:ext>
            </a:extLst>
          </p:cNvPr>
          <p:cNvSpPr>
            <a:spLocks noGrp="1"/>
          </p:cNvSpPr>
          <p:nvPr>
            <p:ph type="title"/>
          </p:nvPr>
        </p:nvSpPr>
        <p:spPr/>
        <p:txBody>
          <a:bodyPr/>
          <a:lstStyle/>
          <a:p>
            <a:r>
              <a:rPr lang="en-US" dirty="0"/>
              <a:t>Logistic Regression</a:t>
            </a:r>
          </a:p>
        </p:txBody>
      </p:sp>
      <p:graphicFrame>
        <p:nvGraphicFramePr>
          <p:cNvPr id="9" name="Content Placeholder 2">
            <a:extLst>
              <a:ext uri="{FF2B5EF4-FFF2-40B4-BE49-F238E27FC236}">
                <a16:creationId xmlns:a16="http://schemas.microsoft.com/office/drawing/2014/main" id="{37F33B6B-6420-88B1-DA25-AEA8F4DBC324}"/>
              </a:ext>
            </a:extLst>
          </p:cNvPr>
          <p:cNvGraphicFramePr>
            <a:graphicFrameLocks noGrp="1"/>
          </p:cNvGraphicFramePr>
          <p:nvPr>
            <p:ph idx="1"/>
            <p:extLst>
              <p:ext uri="{D42A27DB-BD31-4B8C-83A1-F6EECF244321}">
                <p14:modId xmlns:p14="http://schemas.microsoft.com/office/powerpoint/2010/main" val="3543616539"/>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5">
            <a:extLst>
              <a:ext uri="{FF2B5EF4-FFF2-40B4-BE49-F238E27FC236}">
                <a16:creationId xmlns:a16="http://schemas.microsoft.com/office/drawing/2014/main" id="{7326B3FB-6C85-A83D-EF79-69D3A52814C9}"/>
              </a:ext>
            </a:extLst>
          </p:cNvPr>
          <p:cNvGraphicFramePr>
            <a:graphicFrameLocks noGrp="1"/>
          </p:cNvGraphicFramePr>
          <p:nvPr>
            <p:extLst>
              <p:ext uri="{D42A27DB-BD31-4B8C-83A1-F6EECF244321}">
                <p14:modId xmlns:p14="http://schemas.microsoft.com/office/powerpoint/2010/main" val="727018042"/>
              </p:ext>
            </p:extLst>
          </p:nvPr>
        </p:nvGraphicFramePr>
        <p:xfrm>
          <a:off x="8920596" y="1894885"/>
          <a:ext cx="2216722" cy="3068230"/>
        </p:xfrm>
        <a:graphic>
          <a:graphicData uri="http://schemas.openxmlformats.org/drawingml/2006/table">
            <a:tbl>
              <a:tblPr firstRow="1" bandRow="1">
                <a:tableStyleId>{9D7B26C5-4107-4FEC-AEDC-1716B250A1EF}</a:tableStyleId>
              </a:tblPr>
              <a:tblGrid>
                <a:gridCol w="1238504">
                  <a:extLst>
                    <a:ext uri="{9D8B030D-6E8A-4147-A177-3AD203B41FA5}">
                      <a16:colId xmlns:a16="http://schemas.microsoft.com/office/drawing/2014/main" val="2759945422"/>
                    </a:ext>
                  </a:extLst>
                </a:gridCol>
                <a:gridCol w="978218">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buNone/>
                      </a:pPr>
                      <a:r>
                        <a:rPr lang="en-US" b="1" dirty="0"/>
                        <a:t>65.27%</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buNone/>
                      </a:pPr>
                      <a:r>
                        <a:rPr lang="en-US" b="1" dirty="0"/>
                        <a:t>67.39%</a:t>
                      </a:r>
                      <a:endParaRPr lang="en-US" dirty="0"/>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buNone/>
                      </a:pPr>
                      <a:r>
                        <a:rPr lang="en-US" b="1"/>
                        <a:t>73.01%</a:t>
                      </a:r>
                      <a:endParaRPr lang="en-US"/>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buNone/>
                      </a:pPr>
                      <a:r>
                        <a:rPr lang="en-US" b="1"/>
                        <a:t>70.09%</a:t>
                      </a:r>
                      <a:endParaRPr lang="en-US"/>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buNone/>
                      </a:pPr>
                      <a:r>
                        <a:rPr lang="en-US" b="1" dirty="0"/>
                        <a:t>69.08%</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3293903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3ADF8-14EB-719C-93FF-BDDE8BACD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433B8-3F89-5FDF-EACC-C4C4026AEB3B}"/>
              </a:ext>
            </a:extLst>
          </p:cNvPr>
          <p:cNvSpPr>
            <a:spLocks noGrp="1"/>
          </p:cNvSpPr>
          <p:nvPr>
            <p:ph type="title"/>
          </p:nvPr>
        </p:nvSpPr>
        <p:spPr/>
        <p:txBody>
          <a:bodyPr/>
          <a:lstStyle/>
          <a:p>
            <a:r>
              <a:rPr lang="en-US" dirty="0"/>
              <a:t>Naive Bayes</a:t>
            </a:r>
          </a:p>
        </p:txBody>
      </p:sp>
      <p:graphicFrame>
        <p:nvGraphicFramePr>
          <p:cNvPr id="9" name="Content Placeholder 2">
            <a:extLst>
              <a:ext uri="{FF2B5EF4-FFF2-40B4-BE49-F238E27FC236}">
                <a16:creationId xmlns:a16="http://schemas.microsoft.com/office/drawing/2014/main" id="{A4835F4F-678E-6D98-D8C2-37E088F72D52}"/>
              </a:ext>
            </a:extLst>
          </p:cNvPr>
          <p:cNvGraphicFramePr>
            <a:graphicFrameLocks noGrp="1"/>
          </p:cNvGraphicFramePr>
          <p:nvPr>
            <p:ph idx="1"/>
            <p:extLst>
              <p:ext uri="{D42A27DB-BD31-4B8C-83A1-F6EECF244321}">
                <p14:modId xmlns:p14="http://schemas.microsoft.com/office/powerpoint/2010/main" val="1998882457"/>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3B23F9A8-B22D-08B3-E139-7603D43206A3}"/>
              </a:ext>
            </a:extLst>
          </p:cNvPr>
          <p:cNvGraphicFramePr>
            <a:graphicFrameLocks noGrp="1"/>
          </p:cNvGraphicFramePr>
          <p:nvPr>
            <p:extLst>
              <p:ext uri="{D42A27DB-BD31-4B8C-83A1-F6EECF244321}">
                <p14:modId xmlns:p14="http://schemas.microsoft.com/office/powerpoint/2010/main" val="3663559808"/>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dirty="0"/>
                        <a:t>56.16%</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a:t>56.01%</a:t>
                      </a:r>
                      <a:endParaRPr lang="en-US"/>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99.45%</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71.66%</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65.67%</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402783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1669-CE85-7282-3D3C-F716B13B3E92}"/>
              </a:ext>
            </a:extLst>
          </p:cNvPr>
          <p:cNvSpPr txBox="1">
            <a:spLocks/>
          </p:cNvSpPr>
          <p:nvPr/>
        </p:nvSpPr>
        <p:spPr>
          <a:xfrm>
            <a:off x="2618243" y="1891678"/>
            <a:ext cx="6955514" cy="30746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t>Distance &amp; </a:t>
            </a:r>
            <a:br>
              <a:rPr lang="en-US" sz="5400" b="1" dirty="0"/>
            </a:br>
            <a:r>
              <a:rPr lang="en-US" sz="5400" b="1" dirty="0"/>
              <a:t>Margin‑Based Models</a:t>
            </a:r>
            <a:br>
              <a:rPr lang="en-US" sz="4600" b="1" dirty="0"/>
            </a:br>
            <a:r>
              <a:rPr lang="en-US" sz="4000" i="1" dirty="0"/>
              <a:t>“Models that capture nonlinear boundaries and local structure.”</a:t>
            </a:r>
            <a:endParaRPr lang="en-US" sz="4600" dirty="0"/>
          </a:p>
        </p:txBody>
      </p:sp>
    </p:spTree>
    <p:extLst>
      <p:ext uri="{BB962C8B-B14F-4D97-AF65-F5344CB8AC3E}">
        <p14:creationId xmlns:p14="http://schemas.microsoft.com/office/powerpoint/2010/main" val="1340021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D9FC9-DE51-27E8-DD5D-CD5C4643F723}"/>
              </a:ext>
            </a:extLst>
          </p:cNvPr>
          <p:cNvSpPr>
            <a:spLocks noGrp="1"/>
          </p:cNvSpPr>
          <p:nvPr>
            <p:ph type="title"/>
          </p:nvPr>
        </p:nvSpPr>
        <p:spPr/>
        <p:txBody>
          <a:bodyPr/>
          <a:lstStyle/>
          <a:p>
            <a:r>
              <a:rPr lang="en-US" dirty="0"/>
              <a:t>K‑Nearest Neighbors (KNN)</a:t>
            </a:r>
          </a:p>
        </p:txBody>
      </p:sp>
      <p:graphicFrame>
        <p:nvGraphicFramePr>
          <p:cNvPr id="9" name="Content Placeholder 2">
            <a:extLst>
              <a:ext uri="{FF2B5EF4-FFF2-40B4-BE49-F238E27FC236}">
                <a16:creationId xmlns:a16="http://schemas.microsoft.com/office/drawing/2014/main" id="{3E9F9199-339F-4B69-F956-718C51C34C12}"/>
              </a:ext>
            </a:extLst>
          </p:cNvPr>
          <p:cNvGraphicFramePr>
            <a:graphicFrameLocks noGrp="1"/>
          </p:cNvGraphicFramePr>
          <p:nvPr>
            <p:ph idx="1"/>
            <p:extLst>
              <p:ext uri="{D42A27DB-BD31-4B8C-83A1-F6EECF244321}">
                <p14:modId xmlns:p14="http://schemas.microsoft.com/office/powerpoint/2010/main" val="3750548416"/>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2DB53ABF-CC82-5DCD-1754-2E65C80249DE}"/>
              </a:ext>
            </a:extLst>
          </p:cNvPr>
          <p:cNvGraphicFramePr>
            <a:graphicFrameLocks noGrp="1"/>
          </p:cNvGraphicFramePr>
          <p:nvPr>
            <p:extLst>
              <p:ext uri="{D42A27DB-BD31-4B8C-83A1-F6EECF244321}">
                <p14:modId xmlns:p14="http://schemas.microsoft.com/office/powerpoint/2010/main" val="3290476425"/>
              </p:ext>
            </p:extLst>
          </p:nvPr>
        </p:nvGraphicFramePr>
        <p:xfrm>
          <a:off x="8726632" y="2261576"/>
          <a:ext cx="2627168"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15639">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dirty="0"/>
                        <a:t>64.71%</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dirty="0"/>
                        <a:t>67.31%</a:t>
                      </a:r>
                      <a:endParaRPr lang="en-US" dirty="0"/>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71.33%</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69.26%</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68.37%</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2180695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CFB6-77E3-411A-D07B-52E046C2B928}"/>
              </a:ext>
            </a:extLst>
          </p:cNvPr>
          <p:cNvSpPr>
            <a:spLocks noGrp="1"/>
          </p:cNvSpPr>
          <p:nvPr>
            <p:ph type="title"/>
          </p:nvPr>
        </p:nvSpPr>
        <p:spPr/>
        <p:txBody>
          <a:bodyPr>
            <a:normAutofit/>
          </a:bodyPr>
          <a:lstStyle/>
          <a:p>
            <a:r>
              <a:rPr lang="en-US" dirty="0"/>
              <a:t>Support Vector Machines</a:t>
            </a:r>
          </a:p>
        </p:txBody>
      </p:sp>
      <p:graphicFrame>
        <p:nvGraphicFramePr>
          <p:cNvPr id="7" name="Content Placeholder 2">
            <a:extLst>
              <a:ext uri="{FF2B5EF4-FFF2-40B4-BE49-F238E27FC236}">
                <a16:creationId xmlns:a16="http://schemas.microsoft.com/office/drawing/2014/main" id="{85558090-5549-EFF7-EE7E-CE7CB763ADD7}"/>
              </a:ext>
            </a:extLst>
          </p:cNvPr>
          <p:cNvGraphicFramePr>
            <a:graphicFrameLocks noGrp="1"/>
          </p:cNvGraphicFramePr>
          <p:nvPr>
            <p:ph idx="1"/>
            <p:extLst>
              <p:ext uri="{D42A27DB-BD31-4B8C-83A1-F6EECF244321}">
                <p14:modId xmlns:p14="http://schemas.microsoft.com/office/powerpoint/2010/main" val="125430169"/>
              </p:ext>
            </p:extLst>
          </p:nvPr>
        </p:nvGraphicFramePr>
        <p:xfrm>
          <a:off x="353291" y="1825625"/>
          <a:ext cx="11450781" cy="47275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0024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E9B50-81A4-7B02-AFA8-851AD2BF6501}"/>
              </a:ext>
            </a:extLst>
          </p:cNvPr>
          <p:cNvSpPr>
            <a:spLocks noGrp="1"/>
          </p:cNvSpPr>
          <p:nvPr>
            <p:ph type="title"/>
          </p:nvPr>
        </p:nvSpPr>
        <p:spPr>
          <a:xfrm>
            <a:off x="2750820" y="741391"/>
            <a:ext cx="6705206" cy="1616203"/>
          </a:xfrm>
        </p:spPr>
        <p:txBody>
          <a:bodyPr anchor="ctr">
            <a:normAutofit/>
          </a:bodyPr>
          <a:lstStyle/>
          <a:p>
            <a:pPr algn="ctr"/>
            <a:r>
              <a:rPr lang="en-US" sz="3200" dirty="0"/>
              <a:t>Support Vector Machines Performance</a:t>
            </a:r>
          </a:p>
        </p:txBody>
      </p:sp>
      <p:grpSp>
        <p:nvGrpSpPr>
          <p:cNvPr id="11" name="Group 10">
            <a:extLst>
              <a:ext uri="{FF2B5EF4-FFF2-40B4-BE49-F238E27FC236}">
                <a16:creationId xmlns:a16="http://schemas.microsoft.com/office/drawing/2014/main" id="{117ED9EE-380C-224B-8619-61C6C01B1B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2" name="Rectangle 11">
              <a:extLst>
                <a:ext uri="{FF2B5EF4-FFF2-40B4-BE49-F238E27FC236}">
                  <a16:creationId xmlns:a16="http://schemas.microsoft.com/office/drawing/2014/main" id="{CBEA0657-2676-EBD0-330D-2DE1D716D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ABD4BE5-70D5-796C-F818-10F0570E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8" name="Content Placeholder 4">
            <a:extLst>
              <a:ext uri="{FF2B5EF4-FFF2-40B4-BE49-F238E27FC236}">
                <a16:creationId xmlns:a16="http://schemas.microsoft.com/office/drawing/2014/main" id="{1EC5F5FB-9AA1-E51C-4CE5-1A23B312410F}"/>
              </a:ext>
            </a:extLst>
          </p:cNvPr>
          <p:cNvGraphicFramePr>
            <a:graphicFrameLocks noGrp="1"/>
          </p:cNvGraphicFramePr>
          <p:nvPr>
            <p:ph idx="1"/>
            <p:extLst>
              <p:ext uri="{D42A27DB-BD31-4B8C-83A1-F6EECF244321}">
                <p14:modId xmlns:p14="http://schemas.microsoft.com/office/powerpoint/2010/main" val="2793868625"/>
              </p:ext>
            </p:extLst>
          </p:nvPr>
        </p:nvGraphicFramePr>
        <p:xfrm>
          <a:off x="838200" y="3226176"/>
          <a:ext cx="10477503" cy="2338340"/>
        </p:xfrm>
        <a:graphic>
          <a:graphicData uri="http://schemas.openxmlformats.org/drawingml/2006/table">
            <a:tbl>
              <a:tblPr>
                <a:tableStyleId>{8EC20E35-A176-4012-BC5E-935CFFF8708E}</a:tableStyleId>
              </a:tblPr>
              <a:tblGrid>
                <a:gridCol w="2081476">
                  <a:extLst>
                    <a:ext uri="{9D8B030D-6E8A-4147-A177-3AD203B41FA5}">
                      <a16:colId xmlns:a16="http://schemas.microsoft.com/office/drawing/2014/main" val="377246980"/>
                    </a:ext>
                  </a:extLst>
                </a:gridCol>
                <a:gridCol w="1823137">
                  <a:extLst>
                    <a:ext uri="{9D8B030D-6E8A-4147-A177-3AD203B41FA5}">
                      <a16:colId xmlns:a16="http://schemas.microsoft.com/office/drawing/2014/main" val="3223157402"/>
                    </a:ext>
                  </a:extLst>
                </a:gridCol>
                <a:gridCol w="1823137">
                  <a:extLst>
                    <a:ext uri="{9D8B030D-6E8A-4147-A177-3AD203B41FA5}">
                      <a16:colId xmlns:a16="http://schemas.microsoft.com/office/drawing/2014/main" val="1247727921"/>
                    </a:ext>
                  </a:extLst>
                </a:gridCol>
                <a:gridCol w="1583251">
                  <a:extLst>
                    <a:ext uri="{9D8B030D-6E8A-4147-A177-3AD203B41FA5}">
                      <a16:colId xmlns:a16="http://schemas.microsoft.com/office/drawing/2014/main" val="1062973028"/>
                    </a:ext>
                  </a:extLst>
                </a:gridCol>
                <a:gridCol w="1583251">
                  <a:extLst>
                    <a:ext uri="{9D8B030D-6E8A-4147-A177-3AD203B41FA5}">
                      <a16:colId xmlns:a16="http://schemas.microsoft.com/office/drawing/2014/main" val="3575810750"/>
                    </a:ext>
                  </a:extLst>
                </a:gridCol>
                <a:gridCol w="1583251">
                  <a:extLst>
                    <a:ext uri="{9D8B030D-6E8A-4147-A177-3AD203B41FA5}">
                      <a16:colId xmlns:a16="http://schemas.microsoft.com/office/drawing/2014/main" val="3695998664"/>
                    </a:ext>
                  </a:extLst>
                </a:gridCol>
              </a:tblGrid>
              <a:tr h="584585">
                <a:tc>
                  <a:txBody>
                    <a:bodyPr/>
                    <a:lstStyle/>
                    <a:p>
                      <a:pPr algn="ctr">
                        <a:buNone/>
                      </a:pPr>
                      <a:r>
                        <a:rPr lang="en-US" sz="2600" dirty="0"/>
                        <a:t>Model</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Accuracy</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Precision</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Recall</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F1</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AUC</a:t>
                      </a:r>
                    </a:p>
                  </a:txBody>
                  <a:tcPr marL="132860" marR="132860" marT="66430" marB="66430" anchor="ct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0373115"/>
                  </a:ext>
                </a:extLst>
              </a:tr>
              <a:tr h="584585">
                <a:tc>
                  <a:txBody>
                    <a:bodyPr/>
                    <a:lstStyle/>
                    <a:p>
                      <a:pPr>
                        <a:buNone/>
                      </a:pPr>
                      <a:r>
                        <a:rPr lang="en-US" sz="2600" dirty="0"/>
                        <a:t>Linear </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63.39%</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62.45%</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86.07%</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72.38%</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68.70%</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2593222634"/>
                  </a:ext>
                </a:extLst>
              </a:tr>
              <a:tr h="584585">
                <a:tc>
                  <a:txBody>
                    <a:bodyPr/>
                    <a:lstStyle/>
                    <a:p>
                      <a:pPr>
                        <a:buNone/>
                      </a:pPr>
                      <a:r>
                        <a:rPr lang="en-US" sz="2600"/>
                        <a:t>RBF</a:t>
                      </a:r>
                    </a:p>
                  </a:txBody>
                  <a:tcPr marL="132860" marR="132860" marT="66430" marB="66430" anchor="ctr"/>
                </a:tc>
                <a:tc>
                  <a:txBody>
                    <a:bodyPr/>
                    <a:lstStyle/>
                    <a:p>
                      <a:pPr algn="ctr">
                        <a:buNone/>
                      </a:pPr>
                      <a:r>
                        <a:rPr lang="en-US" sz="2600"/>
                        <a:t>65.38%</a:t>
                      </a:r>
                    </a:p>
                  </a:txBody>
                  <a:tcPr marL="132860" marR="132860" marT="66430" marB="66430" anchor="ctr"/>
                </a:tc>
                <a:tc>
                  <a:txBody>
                    <a:bodyPr/>
                    <a:lstStyle/>
                    <a:p>
                      <a:pPr algn="ctr">
                        <a:buNone/>
                      </a:pPr>
                      <a:r>
                        <a:rPr lang="en-US" sz="2600" dirty="0"/>
                        <a:t>67.92%</a:t>
                      </a:r>
                    </a:p>
                  </a:txBody>
                  <a:tcPr marL="132860" marR="132860" marT="66430" marB="66430" anchor="ctr"/>
                </a:tc>
                <a:tc>
                  <a:txBody>
                    <a:bodyPr/>
                    <a:lstStyle/>
                    <a:p>
                      <a:pPr algn="ctr">
                        <a:buNone/>
                      </a:pPr>
                      <a:r>
                        <a:rPr lang="en-US" sz="2600" dirty="0"/>
                        <a:t>71.79%</a:t>
                      </a:r>
                    </a:p>
                  </a:txBody>
                  <a:tcPr marL="132860" marR="132860" marT="66430" marB="66430" anchor="ctr"/>
                </a:tc>
                <a:tc>
                  <a:txBody>
                    <a:bodyPr/>
                    <a:lstStyle/>
                    <a:p>
                      <a:pPr algn="ctr">
                        <a:buNone/>
                      </a:pPr>
                      <a:r>
                        <a:rPr lang="en-US" sz="2600" dirty="0"/>
                        <a:t>69.80%</a:t>
                      </a:r>
                    </a:p>
                  </a:txBody>
                  <a:tcPr marL="132860" marR="132860" marT="66430" marB="66430" anchor="ctr"/>
                </a:tc>
                <a:tc>
                  <a:txBody>
                    <a:bodyPr/>
                    <a:lstStyle/>
                    <a:p>
                      <a:pPr algn="ctr">
                        <a:buNone/>
                      </a:pPr>
                      <a:r>
                        <a:rPr lang="en-US" sz="2600"/>
                        <a:t>65.59%</a:t>
                      </a:r>
                    </a:p>
                  </a:txBody>
                  <a:tcPr marL="132860" marR="132860" marT="66430" marB="66430" anchor="ctr"/>
                </a:tc>
                <a:extLst>
                  <a:ext uri="{0D108BD9-81ED-4DB2-BD59-A6C34878D82A}">
                    <a16:rowId xmlns:a16="http://schemas.microsoft.com/office/drawing/2014/main" val="2948494479"/>
                  </a:ext>
                </a:extLst>
              </a:tr>
              <a:tr h="584585">
                <a:tc>
                  <a:txBody>
                    <a:bodyPr/>
                    <a:lstStyle/>
                    <a:p>
                      <a:pPr>
                        <a:buNone/>
                      </a:pPr>
                      <a:r>
                        <a:rPr lang="en-US" sz="2600" dirty="0"/>
                        <a:t>Polynomial</a:t>
                      </a:r>
                    </a:p>
                  </a:txBody>
                  <a:tcPr marL="132860" marR="132860" marT="66430" marB="66430" anchor="ctr">
                    <a:solidFill>
                      <a:schemeClr val="bg1">
                        <a:lumMod val="85000"/>
                      </a:schemeClr>
                    </a:solidFill>
                  </a:tcPr>
                </a:tc>
                <a:tc>
                  <a:txBody>
                    <a:bodyPr/>
                    <a:lstStyle/>
                    <a:p>
                      <a:pPr algn="ctr">
                        <a:buNone/>
                      </a:pPr>
                      <a:r>
                        <a:rPr lang="en-US" sz="2600" dirty="0"/>
                        <a:t>65.36%</a:t>
                      </a:r>
                    </a:p>
                  </a:txBody>
                  <a:tcPr marL="132860" marR="132860" marT="66430" marB="66430" anchor="ctr">
                    <a:solidFill>
                      <a:schemeClr val="bg1">
                        <a:lumMod val="85000"/>
                      </a:schemeClr>
                    </a:solidFill>
                  </a:tcPr>
                </a:tc>
                <a:tc>
                  <a:txBody>
                    <a:bodyPr/>
                    <a:lstStyle/>
                    <a:p>
                      <a:pPr algn="ctr">
                        <a:buNone/>
                      </a:pPr>
                      <a:r>
                        <a:rPr lang="en-US" sz="2600" dirty="0"/>
                        <a:t>67.45%</a:t>
                      </a:r>
                    </a:p>
                  </a:txBody>
                  <a:tcPr marL="132860" marR="132860" marT="66430" marB="66430" anchor="ctr">
                    <a:solidFill>
                      <a:schemeClr val="bg1">
                        <a:lumMod val="85000"/>
                      </a:schemeClr>
                    </a:solidFill>
                  </a:tcPr>
                </a:tc>
                <a:tc>
                  <a:txBody>
                    <a:bodyPr/>
                    <a:lstStyle/>
                    <a:p>
                      <a:pPr algn="ctr">
                        <a:buNone/>
                      </a:pPr>
                      <a:r>
                        <a:rPr lang="en-US" sz="2600" dirty="0"/>
                        <a:t>73.16%</a:t>
                      </a:r>
                    </a:p>
                  </a:txBody>
                  <a:tcPr marL="132860" marR="132860" marT="66430" marB="66430" anchor="ctr">
                    <a:solidFill>
                      <a:schemeClr val="bg1">
                        <a:lumMod val="85000"/>
                      </a:schemeClr>
                    </a:solidFill>
                  </a:tcPr>
                </a:tc>
                <a:tc>
                  <a:txBody>
                    <a:bodyPr/>
                    <a:lstStyle/>
                    <a:p>
                      <a:pPr algn="ctr">
                        <a:buNone/>
                      </a:pPr>
                      <a:r>
                        <a:rPr lang="en-US" sz="2600" dirty="0"/>
                        <a:t>70.19%</a:t>
                      </a:r>
                    </a:p>
                  </a:txBody>
                  <a:tcPr marL="132860" marR="132860" marT="66430" marB="66430" anchor="ctr">
                    <a:solidFill>
                      <a:schemeClr val="bg1">
                        <a:lumMod val="85000"/>
                      </a:schemeClr>
                    </a:solidFill>
                  </a:tcPr>
                </a:tc>
                <a:tc>
                  <a:txBody>
                    <a:bodyPr/>
                    <a:lstStyle/>
                    <a:p>
                      <a:pPr algn="ctr">
                        <a:buNone/>
                      </a:pPr>
                      <a:r>
                        <a:rPr lang="en-US" sz="2600" dirty="0"/>
                        <a:t>66.31%</a:t>
                      </a:r>
                    </a:p>
                  </a:txBody>
                  <a:tcPr marL="132860" marR="132860" marT="66430" marB="66430" anchor="ctr">
                    <a:solidFill>
                      <a:schemeClr val="bg1">
                        <a:lumMod val="85000"/>
                      </a:schemeClr>
                    </a:solidFill>
                  </a:tcPr>
                </a:tc>
                <a:extLst>
                  <a:ext uri="{0D108BD9-81ED-4DB2-BD59-A6C34878D82A}">
                    <a16:rowId xmlns:a16="http://schemas.microsoft.com/office/drawing/2014/main" val="3413906506"/>
                  </a:ext>
                </a:extLst>
              </a:tr>
            </a:tbl>
          </a:graphicData>
        </a:graphic>
      </p:graphicFrame>
    </p:spTree>
    <p:extLst>
      <p:ext uri="{BB962C8B-B14F-4D97-AF65-F5344CB8AC3E}">
        <p14:creationId xmlns:p14="http://schemas.microsoft.com/office/powerpoint/2010/main" val="120772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CF740-615E-24EF-4BE2-84C8BE072D14}"/>
              </a:ext>
            </a:extLst>
          </p:cNvPr>
          <p:cNvSpPr txBox="1">
            <a:spLocks/>
          </p:cNvSpPr>
          <p:nvPr/>
        </p:nvSpPr>
        <p:spPr>
          <a:xfrm>
            <a:off x="2542043" y="2109887"/>
            <a:ext cx="7107914" cy="26382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t>Ensemble Models</a:t>
            </a:r>
            <a:br>
              <a:rPr lang="en-US" sz="5400" b="1" dirty="0"/>
            </a:br>
            <a:r>
              <a:rPr lang="en-US" sz="4000" i="1" dirty="0"/>
              <a:t>“High‑performance models that combine many decision trees for stability and accuracy.”</a:t>
            </a:r>
          </a:p>
        </p:txBody>
      </p:sp>
    </p:spTree>
    <p:extLst>
      <p:ext uri="{BB962C8B-B14F-4D97-AF65-F5344CB8AC3E}">
        <p14:creationId xmlns:p14="http://schemas.microsoft.com/office/powerpoint/2010/main" val="206488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7DB2-1F5B-C221-4F0D-63306749B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FDB37-7E2E-8866-CDFE-B32F8F0A18DF}"/>
              </a:ext>
            </a:extLst>
          </p:cNvPr>
          <p:cNvSpPr>
            <a:spLocks noGrp="1"/>
          </p:cNvSpPr>
          <p:nvPr>
            <p:ph type="title"/>
          </p:nvPr>
        </p:nvSpPr>
        <p:spPr/>
        <p:txBody>
          <a:bodyPr/>
          <a:lstStyle/>
          <a:p>
            <a:r>
              <a:rPr lang="en-US"/>
              <a:t>Decision Tree</a:t>
            </a:r>
            <a:endParaRPr lang="en-US" dirty="0"/>
          </a:p>
        </p:txBody>
      </p:sp>
      <p:graphicFrame>
        <p:nvGraphicFramePr>
          <p:cNvPr id="9" name="Content Placeholder 2">
            <a:extLst>
              <a:ext uri="{FF2B5EF4-FFF2-40B4-BE49-F238E27FC236}">
                <a16:creationId xmlns:a16="http://schemas.microsoft.com/office/drawing/2014/main" id="{EA8C0056-7881-BE02-4308-FD316C9DACC3}"/>
              </a:ext>
            </a:extLst>
          </p:cNvPr>
          <p:cNvGraphicFramePr>
            <a:graphicFrameLocks noGrp="1"/>
          </p:cNvGraphicFramePr>
          <p:nvPr>
            <p:ph idx="1"/>
            <p:extLst>
              <p:ext uri="{D42A27DB-BD31-4B8C-83A1-F6EECF244321}">
                <p14:modId xmlns:p14="http://schemas.microsoft.com/office/powerpoint/2010/main" val="1632069864"/>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0CDCABA3-B21B-BC46-1A67-71E7826C9F9E}"/>
              </a:ext>
            </a:extLst>
          </p:cNvPr>
          <p:cNvGraphicFramePr>
            <a:graphicFrameLocks noGrp="1"/>
          </p:cNvGraphicFramePr>
          <p:nvPr>
            <p:extLst>
              <p:ext uri="{D42A27DB-BD31-4B8C-83A1-F6EECF244321}">
                <p14:modId xmlns:p14="http://schemas.microsoft.com/office/powerpoint/2010/main" val="463321010"/>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dirty="0"/>
                        <a:t>Accuracy</a:t>
                      </a:r>
                      <a:endParaRPr lang="en-US" dirty="0"/>
                    </a:p>
                  </a:txBody>
                  <a:tcPr anchor="ctr"/>
                </a:tc>
                <a:tc>
                  <a:txBody>
                    <a:bodyPr/>
                    <a:lstStyle/>
                    <a:p>
                      <a:pPr algn="ctr">
                        <a:buNone/>
                      </a:pPr>
                      <a:r>
                        <a:rPr lang="en-US" b="1"/>
                        <a:t>65.26%</a:t>
                      </a:r>
                      <a:endParaRPr lang="en-US"/>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dirty="0"/>
                        <a:t>67.74%</a:t>
                      </a:r>
                      <a:endParaRPr lang="en-US" dirty="0"/>
                    </a:p>
                  </a:txBody>
                  <a:tcPr anchor="ctr"/>
                </a:tc>
                <a:extLst>
                  <a:ext uri="{0D108BD9-81ED-4DB2-BD59-A6C34878D82A}">
                    <a16:rowId xmlns:a16="http://schemas.microsoft.com/office/drawing/2014/main" val="3716004084"/>
                  </a:ext>
                </a:extLst>
              </a:tr>
              <a:tr h="497879">
                <a:tc>
                  <a:txBody>
                    <a:bodyPr/>
                    <a:lstStyle/>
                    <a:p>
                      <a:pPr>
                        <a:buNone/>
                      </a:pPr>
                      <a:r>
                        <a:rPr lang="en-US" b="1" dirty="0"/>
                        <a:t>Recall</a:t>
                      </a:r>
                      <a:endParaRPr lang="en-US" dirty="0"/>
                    </a:p>
                  </a:txBody>
                  <a:tcPr anchor="ctr"/>
                </a:tc>
                <a:tc>
                  <a:txBody>
                    <a:bodyPr/>
                    <a:lstStyle/>
                    <a:p>
                      <a:pPr algn="ctr">
                        <a:buNone/>
                      </a:pPr>
                      <a:r>
                        <a:rPr lang="en-US" b="1" dirty="0"/>
                        <a:t>71.94%</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69.78%</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68.95%</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1451001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A16CE-AA78-9074-46CA-996B1A7EE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CC69C-A038-F017-24E2-41A1A8D4E3ED}"/>
              </a:ext>
            </a:extLst>
          </p:cNvPr>
          <p:cNvSpPr>
            <a:spLocks noGrp="1"/>
          </p:cNvSpPr>
          <p:nvPr>
            <p:ph type="title"/>
          </p:nvPr>
        </p:nvSpPr>
        <p:spPr/>
        <p:txBody>
          <a:bodyPr/>
          <a:lstStyle/>
          <a:p>
            <a:r>
              <a:rPr lang="en-US" dirty="0"/>
              <a:t>Random Forest</a:t>
            </a:r>
          </a:p>
        </p:txBody>
      </p:sp>
      <p:graphicFrame>
        <p:nvGraphicFramePr>
          <p:cNvPr id="9" name="Content Placeholder 2">
            <a:extLst>
              <a:ext uri="{FF2B5EF4-FFF2-40B4-BE49-F238E27FC236}">
                <a16:creationId xmlns:a16="http://schemas.microsoft.com/office/drawing/2014/main" id="{E9696CD1-D5F7-097C-DEDF-086792CEBFC1}"/>
              </a:ext>
            </a:extLst>
          </p:cNvPr>
          <p:cNvGraphicFramePr>
            <a:graphicFrameLocks noGrp="1"/>
          </p:cNvGraphicFramePr>
          <p:nvPr>
            <p:ph idx="1"/>
            <p:extLst>
              <p:ext uri="{D42A27DB-BD31-4B8C-83A1-F6EECF244321}">
                <p14:modId xmlns:p14="http://schemas.microsoft.com/office/powerpoint/2010/main" val="4210768024"/>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A22FC77D-E8B2-38DC-C993-65A8D6609BE8}"/>
              </a:ext>
            </a:extLst>
          </p:cNvPr>
          <p:cNvGraphicFramePr>
            <a:graphicFrameLocks noGrp="1"/>
          </p:cNvGraphicFramePr>
          <p:nvPr>
            <p:extLst>
              <p:ext uri="{D42A27DB-BD31-4B8C-83A1-F6EECF244321}">
                <p14:modId xmlns:p14="http://schemas.microsoft.com/office/powerpoint/2010/main" val="3407787656"/>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dirty="0"/>
                        <a:t>65.25%</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a:t>67.62%</a:t>
                      </a:r>
                      <a:endParaRPr lang="en-US"/>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72.25%</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69.86%</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69.06%</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1408990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8DAA0-1CED-8CE4-69D7-031ED13E5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555FA-8922-5126-7160-1A7B5211666B}"/>
              </a:ext>
            </a:extLst>
          </p:cNvPr>
          <p:cNvSpPr>
            <a:spLocks noGrp="1"/>
          </p:cNvSpPr>
          <p:nvPr>
            <p:ph type="title"/>
          </p:nvPr>
        </p:nvSpPr>
        <p:spPr/>
        <p:txBody>
          <a:bodyPr/>
          <a:lstStyle/>
          <a:p>
            <a:r>
              <a:rPr lang="en-US" dirty="0"/>
              <a:t>Gradient Boosting</a:t>
            </a:r>
          </a:p>
        </p:txBody>
      </p:sp>
      <p:graphicFrame>
        <p:nvGraphicFramePr>
          <p:cNvPr id="9" name="Content Placeholder 2">
            <a:extLst>
              <a:ext uri="{FF2B5EF4-FFF2-40B4-BE49-F238E27FC236}">
                <a16:creationId xmlns:a16="http://schemas.microsoft.com/office/drawing/2014/main" id="{60768BB7-A3AC-F35B-58DA-9506B20F1FA1}"/>
              </a:ext>
            </a:extLst>
          </p:cNvPr>
          <p:cNvGraphicFramePr>
            <a:graphicFrameLocks noGrp="1"/>
          </p:cNvGraphicFramePr>
          <p:nvPr>
            <p:ph idx="1"/>
            <p:extLst>
              <p:ext uri="{D42A27DB-BD31-4B8C-83A1-F6EECF244321}">
                <p14:modId xmlns:p14="http://schemas.microsoft.com/office/powerpoint/2010/main" val="4138413786"/>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5F68A96C-4870-2147-09C4-86723FB61EE0}"/>
              </a:ext>
            </a:extLst>
          </p:cNvPr>
          <p:cNvGraphicFramePr>
            <a:graphicFrameLocks noGrp="1"/>
          </p:cNvGraphicFramePr>
          <p:nvPr>
            <p:extLst>
              <p:ext uri="{D42A27DB-BD31-4B8C-83A1-F6EECF244321}">
                <p14:modId xmlns:p14="http://schemas.microsoft.com/office/powerpoint/2010/main" val="2763158685"/>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a:t>65.24%</a:t>
                      </a:r>
                      <a:endParaRPr lang="en-US"/>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a:t>67.71%</a:t>
                      </a:r>
                      <a:endParaRPr lang="en-US"/>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a:t>71.94%</a:t>
                      </a:r>
                      <a:endParaRPr lang="en-US"/>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a:t>69.76%</a:t>
                      </a:r>
                      <a:endParaRPr lang="en-US"/>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69.00%</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824910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EE0C9-AA7C-3645-4B26-4133D87B5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74198-C517-7529-F88D-8242862E9E5F}"/>
              </a:ext>
            </a:extLst>
          </p:cNvPr>
          <p:cNvSpPr>
            <a:spLocks noGrp="1"/>
          </p:cNvSpPr>
          <p:nvPr>
            <p:ph type="title"/>
          </p:nvPr>
        </p:nvSpPr>
        <p:spPr/>
        <p:txBody>
          <a:bodyPr/>
          <a:lstStyle/>
          <a:p>
            <a:r>
              <a:rPr lang="en-US" dirty="0"/>
              <a:t>AdaBoost</a:t>
            </a:r>
          </a:p>
        </p:txBody>
      </p:sp>
      <p:graphicFrame>
        <p:nvGraphicFramePr>
          <p:cNvPr id="9" name="Content Placeholder 2">
            <a:extLst>
              <a:ext uri="{FF2B5EF4-FFF2-40B4-BE49-F238E27FC236}">
                <a16:creationId xmlns:a16="http://schemas.microsoft.com/office/drawing/2014/main" id="{50495458-55C2-8F80-2FA6-A424469909DE}"/>
              </a:ext>
            </a:extLst>
          </p:cNvPr>
          <p:cNvGraphicFramePr>
            <a:graphicFrameLocks noGrp="1"/>
          </p:cNvGraphicFramePr>
          <p:nvPr>
            <p:ph idx="1"/>
            <p:extLst>
              <p:ext uri="{D42A27DB-BD31-4B8C-83A1-F6EECF244321}">
                <p14:modId xmlns:p14="http://schemas.microsoft.com/office/powerpoint/2010/main" val="3332556110"/>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DF3130BC-1011-ECA1-C080-40A05E6FF43B}"/>
              </a:ext>
            </a:extLst>
          </p:cNvPr>
          <p:cNvGraphicFramePr>
            <a:graphicFrameLocks noGrp="1"/>
          </p:cNvGraphicFramePr>
          <p:nvPr>
            <p:extLst>
              <p:ext uri="{D42A27DB-BD31-4B8C-83A1-F6EECF244321}">
                <p14:modId xmlns:p14="http://schemas.microsoft.com/office/powerpoint/2010/main" val="2598748458"/>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a:t>65.51%</a:t>
                      </a:r>
                      <a:endParaRPr lang="en-US"/>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a:t>67.69%</a:t>
                      </a:r>
                      <a:endParaRPr lang="en-US"/>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72.94%</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a:t>70.22%</a:t>
                      </a:r>
                      <a:endParaRPr lang="en-US"/>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69.29%</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1162368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3A9C1-E686-E2C1-C2FC-B6A6C7055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3AA02-DF4F-4D83-67A0-5EB958F2DEAC}"/>
              </a:ext>
            </a:extLst>
          </p:cNvPr>
          <p:cNvSpPr>
            <a:spLocks noGrp="1"/>
          </p:cNvSpPr>
          <p:nvPr>
            <p:ph type="title"/>
          </p:nvPr>
        </p:nvSpPr>
        <p:spPr/>
        <p:txBody>
          <a:bodyPr/>
          <a:lstStyle/>
          <a:p>
            <a:r>
              <a:rPr lang="en-US" dirty="0"/>
              <a:t>Extra Trees</a:t>
            </a:r>
          </a:p>
        </p:txBody>
      </p:sp>
      <p:graphicFrame>
        <p:nvGraphicFramePr>
          <p:cNvPr id="9" name="Content Placeholder 2">
            <a:extLst>
              <a:ext uri="{FF2B5EF4-FFF2-40B4-BE49-F238E27FC236}">
                <a16:creationId xmlns:a16="http://schemas.microsoft.com/office/drawing/2014/main" id="{9C527A51-FF30-032A-F558-F43651AF4E6C}"/>
              </a:ext>
            </a:extLst>
          </p:cNvPr>
          <p:cNvGraphicFramePr>
            <a:graphicFrameLocks noGrp="1"/>
          </p:cNvGraphicFramePr>
          <p:nvPr>
            <p:ph idx="1"/>
            <p:extLst>
              <p:ext uri="{D42A27DB-BD31-4B8C-83A1-F6EECF244321}">
                <p14:modId xmlns:p14="http://schemas.microsoft.com/office/powerpoint/2010/main" val="3383325746"/>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E4CB5286-E81A-A54D-F54F-D5511FF4D5F6}"/>
              </a:ext>
            </a:extLst>
          </p:cNvPr>
          <p:cNvGraphicFramePr>
            <a:graphicFrameLocks noGrp="1"/>
          </p:cNvGraphicFramePr>
          <p:nvPr>
            <p:extLst>
              <p:ext uri="{D42A27DB-BD31-4B8C-83A1-F6EECF244321}">
                <p14:modId xmlns:p14="http://schemas.microsoft.com/office/powerpoint/2010/main" val="686171043"/>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dirty="0"/>
                        <a:t>64.89%</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dirty="0"/>
                        <a:t>67.40%</a:t>
                      </a:r>
                      <a:endParaRPr lang="en-US" dirty="0"/>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71.67%</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69.47%</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68.38%</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2848085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56018-D297-2040-6B10-70212D0F3F6D}"/>
              </a:ext>
            </a:extLst>
          </p:cNvPr>
          <p:cNvSpPr>
            <a:spLocks noGrp="1"/>
          </p:cNvSpPr>
          <p:nvPr>
            <p:ph type="title"/>
          </p:nvPr>
        </p:nvSpPr>
        <p:spPr>
          <a:xfrm>
            <a:off x="876693" y="741391"/>
            <a:ext cx="3455821" cy="1616203"/>
          </a:xfrm>
        </p:spPr>
        <p:txBody>
          <a:bodyPr anchor="b">
            <a:normAutofit/>
          </a:bodyPr>
          <a:lstStyle/>
          <a:p>
            <a:r>
              <a:rPr lang="en-US" sz="2700" b="1" i="1" dirty="0"/>
              <a:t>Which factors matter most in predicting salary level?</a:t>
            </a:r>
            <a:endParaRPr lang="en-US" sz="2700" b="1" dirty="0"/>
          </a:p>
        </p:txBody>
      </p:sp>
      <p:sp>
        <p:nvSpPr>
          <p:cNvPr id="3" name="Content Placeholder 2">
            <a:extLst>
              <a:ext uri="{FF2B5EF4-FFF2-40B4-BE49-F238E27FC236}">
                <a16:creationId xmlns:a16="http://schemas.microsoft.com/office/drawing/2014/main" id="{85F86874-7ACD-BAC3-A3BF-C3C4B098E93B}"/>
              </a:ext>
            </a:extLst>
          </p:cNvPr>
          <p:cNvSpPr>
            <a:spLocks noGrp="1"/>
          </p:cNvSpPr>
          <p:nvPr>
            <p:ph idx="1"/>
          </p:nvPr>
        </p:nvSpPr>
        <p:spPr>
          <a:xfrm>
            <a:off x="876693" y="2533476"/>
            <a:ext cx="3455821" cy="3447832"/>
          </a:xfrm>
        </p:spPr>
        <p:txBody>
          <a:bodyPr anchor="t">
            <a:normAutofit/>
          </a:bodyPr>
          <a:lstStyle/>
          <a:p>
            <a:r>
              <a:rPr lang="en-US" sz="2000" dirty="0"/>
              <a:t>The model’s decisions are driven mostly by job role, experience, and company characteristics — the same factors compensation teams use in real‑world salary decisions.</a:t>
            </a:r>
          </a:p>
          <a:p>
            <a:r>
              <a:rPr lang="en-US" sz="2000" dirty="0"/>
              <a:t>Update this table and next slide one</a:t>
            </a:r>
          </a:p>
        </p:txBody>
      </p:sp>
      <p:grpSp>
        <p:nvGrpSpPr>
          <p:cNvPr id="12" name="Group 11">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3" name="Rectangle 12">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Table 6">
            <a:extLst>
              <a:ext uri="{FF2B5EF4-FFF2-40B4-BE49-F238E27FC236}">
                <a16:creationId xmlns:a16="http://schemas.microsoft.com/office/drawing/2014/main" id="{38C53EDD-57EE-496D-3B58-18478F6A6C4A}"/>
              </a:ext>
            </a:extLst>
          </p:cNvPr>
          <p:cNvGraphicFramePr>
            <a:graphicFrameLocks noGrp="1"/>
          </p:cNvGraphicFramePr>
          <p:nvPr>
            <p:extLst>
              <p:ext uri="{D42A27DB-BD31-4B8C-83A1-F6EECF244321}">
                <p14:modId xmlns:p14="http://schemas.microsoft.com/office/powerpoint/2010/main" val="4106184222"/>
              </p:ext>
            </p:extLst>
          </p:nvPr>
        </p:nvGraphicFramePr>
        <p:xfrm>
          <a:off x="4987672" y="951553"/>
          <a:ext cx="6389347" cy="4964210"/>
        </p:xfrm>
        <a:graphic>
          <a:graphicData uri="http://schemas.openxmlformats.org/drawingml/2006/table">
            <a:tbl>
              <a:tblPr firstRow="1" bandRow="1">
                <a:tableStyleId>{073A0DAA-6AF3-43AB-8588-CEC1D06C72B9}</a:tableStyleId>
              </a:tblPr>
              <a:tblGrid>
                <a:gridCol w="832599">
                  <a:extLst>
                    <a:ext uri="{9D8B030D-6E8A-4147-A177-3AD203B41FA5}">
                      <a16:colId xmlns:a16="http://schemas.microsoft.com/office/drawing/2014/main" val="3077627962"/>
                    </a:ext>
                  </a:extLst>
                </a:gridCol>
                <a:gridCol w="2554652">
                  <a:extLst>
                    <a:ext uri="{9D8B030D-6E8A-4147-A177-3AD203B41FA5}">
                      <a16:colId xmlns:a16="http://schemas.microsoft.com/office/drawing/2014/main" val="1048020264"/>
                    </a:ext>
                  </a:extLst>
                </a:gridCol>
                <a:gridCol w="3002096">
                  <a:extLst>
                    <a:ext uri="{9D8B030D-6E8A-4147-A177-3AD203B41FA5}">
                      <a16:colId xmlns:a16="http://schemas.microsoft.com/office/drawing/2014/main" val="1113079084"/>
                    </a:ext>
                  </a:extLst>
                </a:gridCol>
              </a:tblGrid>
              <a:tr h="397046">
                <a:tc>
                  <a:txBody>
                    <a:bodyPr/>
                    <a:lstStyle/>
                    <a:p>
                      <a:pPr>
                        <a:buNone/>
                      </a:pPr>
                      <a:r>
                        <a:rPr lang="en-US" sz="1700"/>
                        <a:t>Rank</a:t>
                      </a:r>
                    </a:p>
                  </a:txBody>
                  <a:tcPr marL="85917" marR="85917" marT="42958" marB="42958" anchor="ctr"/>
                </a:tc>
                <a:tc>
                  <a:txBody>
                    <a:bodyPr/>
                    <a:lstStyle/>
                    <a:p>
                      <a:pPr>
                        <a:buNone/>
                      </a:pPr>
                      <a:r>
                        <a:rPr lang="en-US" sz="1700"/>
                        <a:t>Feature</a:t>
                      </a:r>
                    </a:p>
                  </a:txBody>
                  <a:tcPr marL="85917" marR="85917" marT="42958" marB="42958" anchor="ctr"/>
                </a:tc>
                <a:tc>
                  <a:txBody>
                    <a:bodyPr/>
                    <a:lstStyle/>
                    <a:p>
                      <a:pPr>
                        <a:buNone/>
                      </a:pPr>
                      <a:r>
                        <a:rPr lang="en-US" sz="1700"/>
                        <a:t>Meaning (Plain English)</a:t>
                      </a:r>
                    </a:p>
                  </a:txBody>
                  <a:tcPr marL="85917" marR="85917" marT="42958" marB="42958" anchor="ctr"/>
                </a:tc>
                <a:extLst>
                  <a:ext uri="{0D108BD9-81ED-4DB2-BD59-A6C34878D82A}">
                    <a16:rowId xmlns:a16="http://schemas.microsoft.com/office/drawing/2014/main" val="3563440172"/>
                  </a:ext>
                </a:extLst>
              </a:tr>
              <a:tr h="652452">
                <a:tc>
                  <a:txBody>
                    <a:bodyPr/>
                    <a:lstStyle/>
                    <a:p>
                      <a:pPr>
                        <a:buNone/>
                      </a:pPr>
                      <a:r>
                        <a:rPr lang="en-US" sz="1700"/>
                        <a:t>1</a:t>
                      </a:r>
                    </a:p>
                  </a:txBody>
                  <a:tcPr marL="85917" marR="85917" marT="42958" marB="42958" anchor="ctr"/>
                </a:tc>
                <a:tc>
                  <a:txBody>
                    <a:bodyPr/>
                    <a:lstStyle/>
                    <a:p>
                      <a:pPr>
                        <a:buNone/>
                      </a:pPr>
                      <a:r>
                        <a:rPr lang="en-US" sz="1700"/>
                        <a:t>Job Title Group</a:t>
                      </a:r>
                    </a:p>
                  </a:txBody>
                  <a:tcPr marL="85917" marR="85917" marT="42958" marB="42958" anchor="ctr"/>
                </a:tc>
                <a:tc>
                  <a:txBody>
                    <a:bodyPr/>
                    <a:lstStyle/>
                    <a:p>
                      <a:pPr>
                        <a:buNone/>
                      </a:pPr>
                      <a:r>
                        <a:rPr lang="en-US" sz="1700"/>
                        <a:t>Different roles have different pay ranges.</a:t>
                      </a:r>
                    </a:p>
                  </a:txBody>
                  <a:tcPr marL="85917" marR="85917" marT="42958" marB="42958" anchor="ctr"/>
                </a:tc>
                <a:extLst>
                  <a:ext uri="{0D108BD9-81ED-4DB2-BD59-A6C34878D82A}">
                    <a16:rowId xmlns:a16="http://schemas.microsoft.com/office/drawing/2014/main" val="3365645351"/>
                  </a:ext>
                </a:extLst>
              </a:tr>
              <a:tr h="652452">
                <a:tc>
                  <a:txBody>
                    <a:bodyPr/>
                    <a:lstStyle/>
                    <a:p>
                      <a:pPr>
                        <a:buNone/>
                      </a:pPr>
                      <a:r>
                        <a:rPr lang="en-US" sz="1700"/>
                        <a:t>2</a:t>
                      </a:r>
                    </a:p>
                  </a:txBody>
                  <a:tcPr marL="85917" marR="85917" marT="42958" marB="42958" anchor="ctr"/>
                </a:tc>
                <a:tc>
                  <a:txBody>
                    <a:bodyPr/>
                    <a:lstStyle/>
                    <a:p>
                      <a:pPr>
                        <a:buNone/>
                      </a:pPr>
                      <a:r>
                        <a:rPr lang="en-US" sz="1700"/>
                        <a:t>Experience Level</a:t>
                      </a:r>
                    </a:p>
                  </a:txBody>
                  <a:tcPr marL="85917" marR="85917" marT="42958" marB="42958" anchor="ctr"/>
                </a:tc>
                <a:tc>
                  <a:txBody>
                    <a:bodyPr/>
                    <a:lstStyle/>
                    <a:p>
                      <a:pPr>
                        <a:buNone/>
                      </a:pPr>
                      <a:r>
                        <a:rPr lang="en-US" sz="1700"/>
                        <a:t>More senior roles tend to earn more.</a:t>
                      </a:r>
                    </a:p>
                  </a:txBody>
                  <a:tcPr marL="85917" marR="85917" marT="42958" marB="42958" anchor="ctr"/>
                </a:tc>
                <a:extLst>
                  <a:ext uri="{0D108BD9-81ED-4DB2-BD59-A6C34878D82A}">
                    <a16:rowId xmlns:a16="http://schemas.microsoft.com/office/drawing/2014/main" val="2048859541"/>
                  </a:ext>
                </a:extLst>
              </a:tr>
              <a:tr h="652452">
                <a:tc>
                  <a:txBody>
                    <a:bodyPr/>
                    <a:lstStyle/>
                    <a:p>
                      <a:pPr>
                        <a:buNone/>
                      </a:pPr>
                      <a:r>
                        <a:rPr lang="en-US" sz="1700"/>
                        <a:t>3</a:t>
                      </a:r>
                    </a:p>
                  </a:txBody>
                  <a:tcPr marL="85917" marR="85917" marT="42958" marB="42958" anchor="ctr"/>
                </a:tc>
                <a:tc>
                  <a:txBody>
                    <a:bodyPr/>
                    <a:lstStyle/>
                    <a:p>
                      <a:pPr>
                        <a:buNone/>
                      </a:pPr>
                      <a:r>
                        <a:rPr lang="en-US" sz="1700"/>
                        <a:t>Company Size</a:t>
                      </a:r>
                    </a:p>
                  </a:txBody>
                  <a:tcPr marL="85917" marR="85917" marT="42958" marB="42958" anchor="ctr"/>
                </a:tc>
                <a:tc>
                  <a:txBody>
                    <a:bodyPr/>
                    <a:lstStyle/>
                    <a:p>
                      <a:pPr>
                        <a:buNone/>
                      </a:pPr>
                      <a:r>
                        <a:rPr lang="en-US" sz="1700"/>
                        <a:t>Larger companies often pay higher salaries.</a:t>
                      </a:r>
                    </a:p>
                  </a:txBody>
                  <a:tcPr marL="85917" marR="85917" marT="42958" marB="42958" anchor="ctr"/>
                </a:tc>
                <a:extLst>
                  <a:ext uri="{0D108BD9-81ED-4DB2-BD59-A6C34878D82A}">
                    <a16:rowId xmlns:a16="http://schemas.microsoft.com/office/drawing/2014/main" val="3383946245"/>
                  </a:ext>
                </a:extLst>
              </a:tr>
              <a:tr h="652452">
                <a:tc>
                  <a:txBody>
                    <a:bodyPr/>
                    <a:lstStyle/>
                    <a:p>
                      <a:pPr>
                        <a:buNone/>
                      </a:pPr>
                      <a:r>
                        <a:rPr lang="en-US" sz="1700"/>
                        <a:t>4</a:t>
                      </a:r>
                    </a:p>
                  </a:txBody>
                  <a:tcPr marL="85917" marR="85917" marT="42958" marB="42958" anchor="ctr"/>
                </a:tc>
                <a:tc>
                  <a:txBody>
                    <a:bodyPr/>
                    <a:lstStyle/>
                    <a:p>
                      <a:pPr>
                        <a:buNone/>
                      </a:pPr>
                      <a:r>
                        <a:rPr lang="en-US" sz="1700"/>
                        <a:t>Employment Type</a:t>
                      </a:r>
                    </a:p>
                  </a:txBody>
                  <a:tcPr marL="85917" marR="85917" marT="42958" marB="42958" anchor="ctr"/>
                </a:tc>
                <a:tc>
                  <a:txBody>
                    <a:bodyPr/>
                    <a:lstStyle/>
                    <a:p>
                      <a:pPr>
                        <a:buNone/>
                      </a:pPr>
                      <a:r>
                        <a:rPr lang="en-US" sz="1700"/>
                        <a:t>Full‑time vs. contract vs. part‑time impacts pay.</a:t>
                      </a:r>
                    </a:p>
                  </a:txBody>
                  <a:tcPr marL="85917" marR="85917" marT="42958" marB="42958" anchor="ctr"/>
                </a:tc>
                <a:extLst>
                  <a:ext uri="{0D108BD9-81ED-4DB2-BD59-A6C34878D82A}">
                    <a16:rowId xmlns:a16="http://schemas.microsoft.com/office/drawing/2014/main" val="3007334056"/>
                  </a:ext>
                </a:extLst>
              </a:tr>
              <a:tr h="652452">
                <a:tc>
                  <a:txBody>
                    <a:bodyPr/>
                    <a:lstStyle/>
                    <a:p>
                      <a:pPr>
                        <a:buNone/>
                      </a:pPr>
                      <a:r>
                        <a:rPr lang="en-US" sz="1700"/>
                        <a:t>5</a:t>
                      </a:r>
                    </a:p>
                  </a:txBody>
                  <a:tcPr marL="85917" marR="85917" marT="42958" marB="42958" anchor="ctr"/>
                </a:tc>
                <a:tc>
                  <a:txBody>
                    <a:bodyPr/>
                    <a:lstStyle/>
                    <a:p>
                      <a:pPr>
                        <a:buNone/>
                      </a:pPr>
                      <a:r>
                        <a:rPr lang="en-US" sz="1700"/>
                        <a:t>Remote Work Category</a:t>
                      </a:r>
                    </a:p>
                  </a:txBody>
                  <a:tcPr marL="85917" marR="85917" marT="42958" marB="42958" anchor="ctr"/>
                </a:tc>
                <a:tc>
                  <a:txBody>
                    <a:bodyPr/>
                    <a:lstStyle/>
                    <a:p>
                      <a:pPr>
                        <a:buNone/>
                      </a:pPr>
                      <a:r>
                        <a:rPr lang="en-US" sz="1700"/>
                        <a:t>Remote vs. hybrid vs. onsite affects salary bands.</a:t>
                      </a:r>
                    </a:p>
                  </a:txBody>
                  <a:tcPr marL="85917" marR="85917" marT="42958" marB="42958" anchor="ctr"/>
                </a:tc>
                <a:extLst>
                  <a:ext uri="{0D108BD9-81ED-4DB2-BD59-A6C34878D82A}">
                    <a16:rowId xmlns:a16="http://schemas.microsoft.com/office/drawing/2014/main" val="1306480309"/>
                  </a:ext>
                </a:extLst>
              </a:tr>
              <a:tr h="652452">
                <a:tc>
                  <a:txBody>
                    <a:bodyPr/>
                    <a:lstStyle/>
                    <a:p>
                      <a:pPr>
                        <a:buNone/>
                      </a:pPr>
                      <a:r>
                        <a:rPr lang="en-US" sz="1700"/>
                        <a:t>6</a:t>
                      </a:r>
                    </a:p>
                  </a:txBody>
                  <a:tcPr marL="85917" marR="85917" marT="42958" marB="42958" anchor="ctr"/>
                </a:tc>
                <a:tc>
                  <a:txBody>
                    <a:bodyPr/>
                    <a:lstStyle/>
                    <a:p>
                      <a:pPr>
                        <a:buNone/>
                      </a:pPr>
                      <a:r>
                        <a:rPr lang="en-US" sz="1700"/>
                        <a:t>Company Location</a:t>
                      </a:r>
                    </a:p>
                  </a:txBody>
                  <a:tcPr marL="85917" marR="85917" marT="42958" marB="42958" anchor="ctr"/>
                </a:tc>
                <a:tc>
                  <a:txBody>
                    <a:bodyPr/>
                    <a:lstStyle/>
                    <a:p>
                      <a:pPr>
                        <a:buNone/>
                      </a:pPr>
                      <a:r>
                        <a:rPr lang="en-US" sz="1700"/>
                        <a:t>Salaries vary by region and cost of living.</a:t>
                      </a:r>
                    </a:p>
                  </a:txBody>
                  <a:tcPr marL="85917" marR="85917" marT="42958" marB="42958" anchor="ctr"/>
                </a:tc>
                <a:extLst>
                  <a:ext uri="{0D108BD9-81ED-4DB2-BD59-A6C34878D82A}">
                    <a16:rowId xmlns:a16="http://schemas.microsoft.com/office/drawing/2014/main" val="2456290724"/>
                  </a:ext>
                </a:extLst>
              </a:tr>
              <a:tr h="652452">
                <a:tc>
                  <a:txBody>
                    <a:bodyPr/>
                    <a:lstStyle/>
                    <a:p>
                      <a:pPr>
                        <a:buNone/>
                      </a:pPr>
                      <a:r>
                        <a:rPr lang="en-US" sz="1700"/>
                        <a:t>7</a:t>
                      </a:r>
                    </a:p>
                  </a:txBody>
                  <a:tcPr marL="85917" marR="85917" marT="42958" marB="42958" anchor="ctr"/>
                </a:tc>
                <a:tc>
                  <a:txBody>
                    <a:bodyPr/>
                    <a:lstStyle/>
                    <a:p>
                      <a:pPr>
                        <a:buNone/>
                      </a:pPr>
                      <a:r>
                        <a:rPr lang="en-US" sz="1700"/>
                        <a:t>Employee Residence</a:t>
                      </a:r>
                    </a:p>
                  </a:txBody>
                  <a:tcPr marL="85917" marR="85917" marT="42958" marB="42958" anchor="ctr"/>
                </a:tc>
                <a:tc>
                  <a:txBody>
                    <a:bodyPr/>
                    <a:lstStyle/>
                    <a:p>
                      <a:pPr>
                        <a:buNone/>
                      </a:pPr>
                      <a:r>
                        <a:rPr lang="en-US" sz="1700"/>
                        <a:t>Where the employee lives also influences pay.</a:t>
                      </a:r>
                    </a:p>
                  </a:txBody>
                  <a:tcPr marL="85917" marR="85917" marT="42958" marB="42958" anchor="ctr"/>
                </a:tc>
                <a:extLst>
                  <a:ext uri="{0D108BD9-81ED-4DB2-BD59-A6C34878D82A}">
                    <a16:rowId xmlns:a16="http://schemas.microsoft.com/office/drawing/2014/main" val="226354721"/>
                  </a:ext>
                </a:extLst>
              </a:tr>
            </a:tbl>
          </a:graphicData>
        </a:graphic>
      </p:graphicFrame>
    </p:spTree>
    <p:extLst>
      <p:ext uri="{BB962C8B-B14F-4D97-AF65-F5344CB8AC3E}">
        <p14:creationId xmlns:p14="http://schemas.microsoft.com/office/powerpoint/2010/main" val="1831203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86082E-178C-DF5E-6C9E-4D552B57FBD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541DB91-0B10-46D9-B34B-7BFF96026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3CE6B9C-5AF8-5CAC-6205-86568F18BD4D}"/>
              </a:ext>
            </a:extLst>
          </p:cNvPr>
          <p:cNvSpPr>
            <a:spLocks noGrp="1"/>
          </p:cNvSpPr>
          <p:nvPr>
            <p:ph type="title"/>
          </p:nvPr>
        </p:nvSpPr>
        <p:spPr>
          <a:xfrm>
            <a:off x="462320" y="365572"/>
            <a:ext cx="5827643" cy="1433433"/>
          </a:xfrm>
        </p:spPr>
        <p:txBody>
          <a:bodyPr anchor="b">
            <a:normAutofit/>
          </a:bodyPr>
          <a:lstStyle/>
          <a:p>
            <a:r>
              <a:rPr lang="en-US" sz="3400" dirty="0"/>
              <a:t>How each feature pushes salary predictions up or down.</a:t>
            </a:r>
          </a:p>
        </p:txBody>
      </p:sp>
      <p:sp>
        <p:nvSpPr>
          <p:cNvPr id="5" name="Content Placeholder 4">
            <a:extLst>
              <a:ext uri="{FF2B5EF4-FFF2-40B4-BE49-F238E27FC236}">
                <a16:creationId xmlns:a16="http://schemas.microsoft.com/office/drawing/2014/main" id="{5D2604FC-386A-614E-B403-3C0123B7AC07}"/>
              </a:ext>
            </a:extLst>
          </p:cNvPr>
          <p:cNvSpPr>
            <a:spLocks noGrp="1"/>
          </p:cNvSpPr>
          <p:nvPr>
            <p:ph idx="1"/>
          </p:nvPr>
        </p:nvSpPr>
        <p:spPr>
          <a:xfrm>
            <a:off x="462320" y="2111231"/>
            <a:ext cx="5827644" cy="4121149"/>
          </a:xfrm>
        </p:spPr>
        <p:txBody>
          <a:bodyPr>
            <a:normAutofit/>
          </a:bodyPr>
          <a:lstStyle/>
          <a:p>
            <a:pPr lvl="0"/>
            <a:r>
              <a:rPr lang="en-US" sz="2000" dirty="0"/>
              <a:t>Insights:</a:t>
            </a:r>
          </a:p>
          <a:p>
            <a:pPr lvl="1"/>
            <a:r>
              <a:rPr lang="en-US" sz="2000" dirty="0"/>
              <a:t>SHAP tells us how much each feature influences the model’s decision. Think of it as showing which factors push a salary prediction higher or lower.</a:t>
            </a:r>
          </a:p>
          <a:p>
            <a:pPr lvl="1"/>
            <a:r>
              <a:rPr lang="en-US" sz="2000" dirty="0"/>
              <a:t>It’s the closest thing to “opening the model’s brain” and seeing how it thinks.</a:t>
            </a:r>
          </a:p>
          <a:p>
            <a:r>
              <a:rPr lang="en-US" sz="2000" dirty="0"/>
              <a:t>Key Takeaway:</a:t>
            </a:r>
          </a:p>
          <a:p>
            <a:pPr lvl="1"/>
            <a:r>
              <a:rPr lang="en-US" sz="2000" dirty="0"/>
              <a:t>The model’s decisions make intuitive sense: job role, experience, company size, and remote status are the strongest drivers of salary predictions — exactly what compensation teams expect.</a:t>
            </a:r>
          </a:p>
          <a:p>
            <a:pPr lvl="0"/>
            <a:endParaRPr lang="en-US" sz="2000" dirty="0"/>
          </a:p>
          <a:p>
            <a:endParaRPr lang="en-US" sz="2000" dirty="0"/>
          </a:p>
        </p:txBody>
      </p:sp>
      <p:graphicFrame>
        <p:nvGraphicFramePr>
          <p:cNvPr id="4" name="Table 3">
            <a:extLst>
              <a:ext uri="{FF2B5EF4-FFF2-40B4-BE49-F238E27FC236}">
                <a16:creationId xmlns:a16="http://schemas.microsoft.com/office/drawing/2014/main" id="{7F8B38FC-7DAA-5BCA-A5DD-4D70FFC97EA5}"/>
              </a:ext>
            </a:extLst>
          </p:cNvPr>
          <p:cNvGraphicFramePr>
            <a:graphicFrameLocks noGrp="1"/>
          </p:cNvGraphicFramePr>
          <p:nvPr>
            <p:extLst>
              <p:ext uri="{D42A27DB-BD31-4B8C-83A1-F6EECF244321}">
                <p14:modId xmlns:p14="http://schemas.microsoft.com/office/powerpoint/2010/main" val="3755832501"/>
              </p:ext>
            </p:extLst>
          </p:nvPr>
        </p:nvGraphicFramePr>
        <p:xfrm>
          <a:off x="6752284" y="1807856"/>
          <a:ext cx="4309534" cy="3242288"/>
        </p:xfrm>
        <a:graphic>
          <a:graphicData uri="http://schemas.openxmlformats.org/drawingml/2006/table">
            <a:tbl>
              <a:tblPr firstRow="1" bandRow="1">
                <a:tableStyleId>{073A0DAA-6AF3-43AB-8588-CEC1D06C72B9}</a:tableStyleId>
              </a:tblPr>
              <a:tblGrid>
                <a:gridCol w="686826">
                  <a:extLst>
                    <a:ext uri="{9D8B030D-6E8A-4147-A177-3AD203B41FA5}">
                      <a16:colId xmlns:a16="http://schemas.microsoft.com/office/drawing/2014/main" val="520233684"/>
                    </a:ext>
                  </a:extLst>
                </a:gridCol>
                <a:gridCol w="1765965">
                  <a:extLst>
                    <a:ext uri="{9D8B030D-6E8A-4147-A177-3AD203B41FA5}">
                      <a16:colId xmlns:a16="http://schemas.microsoft.com/office/drawing/2014/main" val="4185042553"/>
                    </a:ext>
                  </a:extLst>
                </a:gridCol>
                <a:gridCol w="1856743">
                  <a:extLst>
                    <a:ext uri="{9D8B030D-6E8A-4147-A177-3AD203B41FA5}">
                      <a16:colId xmlns:a16="http://schemas.microsoft.com/office/drawing/2014/main" val="3936093698"/>
                    </a:ext>
                  </a:extLst>
                </a:gridCol>
              </a:tblGrid>
              <a:tr h="353773">
                <a:tc>
                  <a:txBody>
                    <a:bodyPr/>
                    <a:lstStyle/>
                    <a:p>
                      <a:pPr>
                        <a:buNone/>
                      </a:pPr>
                      <a:r>
                        <a:rPr lang="en-US" sz="900"/>
                        <a:t>Rank</a:t>
                      </a:r>
                    </a:p>
                  </a:txBody>
                  <a:tcPr marL="46069" marR="46069" marT="23034" marB="23034" anchor="ctr"/>
                </a:tc>
                <a:tc>
                  <a:txBody>
                    <a:bodyPr/>
                    <a:lstStyle/>
                    <a:p>
                      <a:pPr>
                        <a:buNone/>
                      </a:pPr>
                      <a:r>
                        <a:rPr lang="en-US" sz="900"/>
                        <a:t>Feature</a:t>
                      </a:r>
                    </a:p>
                  </a:txBody>
                  <a:tcPr marL="46069" marR="46069" marT="23034" marB="23034" anchor="ctr"/>
                </a:tc>
                <a:tc>
                  <a:txBody>
                    <a:bodyPr/>
                    <a:lstStyle/>
                    <a:p>
                      <a:pPr>
                        <a:buNone/>
                      </a:pPr>
                      <a:r>
                        <a:rPr lang="en-US" sz="900" dirty="0"/>
                        <a:t>How It Influences Salary (Plain English)</a:t>
                      </a:r>
                    </a:p>
                  </a:txBody>
                  <a:tcPr marL="46069" marR="46069" marT="23034" marB="23034" anchor="ctr"/>
                </a:tc>
                <a:extLst>
                  <a:ext uri="{0D108BD9-81ED-4DB2-BD59-A6C34878D82A}">
                    <a16:rowId xmlns:a16="http://schemas.microsoft.com/office/drawing/2014/main" val="2196352857"/>
                  </a:ext>
                </a:extLst>
              </a:tr>
              <a:tr h="491141">
                <a:tc>
                  <a:txBody>
                    <a:bodyPr/>
                    <a:lstStyle/>
                    <a:p>
                      <a:pPr>
                        <a:buNone/>
                      </a:pPr>
                      <a:r>
                        <a:rPr lang="en-US" sz="900"/>
                        <a:t>1</a:t>
                      </a:r>
                    </a:p>
                  </a:txBody>
                  <a:tcPr marL="46069" marR="46069" marT="23034" marB="23034" anchor="ctr"/>
                </a:tc>
                <a:tc>
                  <a:txBody>
                    <a:bodyPr/>
                    <a:lstStyle/>
                    <a:p>
                      <a:pPr>
                        <a:buNone/>
                      </a:pPr>
                      <a:r>
                        <a:rPr lang="en-US" sz="900"/>
                        <a:t>Job Title Group</a:t>
                      </a:r>
                    </a:p>
                  </a:txBody>
                  <a:tcPr marL="46069" marR="46069" marT="23034" marB="23034" anchor="ctr"/>
                </a:tc>
                <a:tc>
                  <a:txBody>
                    <a:bodyPr/>
                    <a:lstStyle/>
                    <a:p>
                      <a:pPr>
                        <a:buNone/>
                      </a:pPr>
                      <a:r>
                        <a:rPr lang="en-US" sz="900"/>
                        <a:t>Certain roles strongly push predictions toward higher salary categories.</a:t>
                      </a:r>
                    </a:p>
                  </a:txBody>
                  <a:tcPr marL="46069" marR="46069" marT="23034" marB="23034" anchor="ctr"/>
                </a:tc>
                <a:extLst>
                  <a:ext uri="{0D108BD9-81ED-4DB2-BD59-A6C34878D82A}">
                    <a16:rowId xmlns:a16="http://schemas.microsoft.com/office/drawing/2014/main" val="4068084255"/>
                  </a:ext>
                </a:extLst>
              </a:tr>
              <a:tr h="353773">
                <a:tc>
                  <a:txBody>
                    <a:bodyPr/>
                    <a:lstStyle/>
                    <a:p>
                      <a:pPr>
                        <a:buNone/>
                      </a:pPr>
                      <a:r>
                        <a:rPr lang="en-US" sz="900" dirty="0"/>
                        <a:t>2</a:t>
                      </a:r>
                    </a:p>
                  </a:txBody>
                  <a:tcPr marL="46069" marR="46069" marT="23034" marB="23034" anchor="ctr"/>
                </a:tc>
                <a:tc>
                  <a:txBody>
                    <a:bodyPr/>
                    <a:lstStyle/>
                    <a:p>
                      <a:pPr>
                        <a:buNone/>
                      </a:pPr>
                      <a:r>
                        <a:rPr lang="en-US" sz="900"/>
                        <a:t>Experience Level</a:t>
                      </a:r>
                    </a:p>
                  </a:txBody>
                  <a:tcPr marL="46069" marR="46069" marT="23034" marB="23034" anchor="ctr"/>
                </a:tc>
                <a:tc>
                  <a:txBody>
                    <a:bodyPr/>
                    <a:lstStyle/>
                    <a:p>
                      <a:pPr>
                        <a:buNone/>
                      </a:pPr>
                      <a:r>
                        <a:rPr lang="en-US" sz="900"/>
                        <a:t>Seniority consistently increases predicted salary.</a:t>
                      </a:r>
                    </a:p>
                  </a:txBody>
                  <a:tcPr marL="46069" marR="46069" marT="23034" marB="23034" anchor="ctr"/>
                </a:tc>
                <a:extLst>
                  <a:ext uri="{0D108BD9-81ED-4DB2-BD59-A6C34878D82A}">
                    <a16:rowId xmlns:a16="http://schemas.microsoft.com/office/drawing/2014/main" val="1413502605"/>
                  </a:ext>
                </a:extLst>
              </a:tr>
              <a:tr h="353773">
                <a:tc>
                  <a:txBody>
                    <a:bodyPr/>
                    <a:lstStyle/>
                    <a:p>
                      <a:pPr>
                        <a:buNone/>
                      </a:pPr>
                      <a:r>
                        <a:rPr lang="en-US" sz="900"/>
                        <a:t>3</a:t>
                      </a:r>
                    </a:p>
                  </a:txBody>
                  <a:tcPr marL="46069" marR="46069" marT="23034" marB="23034" anchor="ctr"/>
                </a:tc>
                <a:tc>
                  <a:txBody>
                    <a:bodyPr/>
                    <a:lstStyle/>
                    <a:p>
                      <a:pPr>
                        <a:buNone/>
                      </a:pPr>
                      <a:r>
                        <a:rPr lang="en-US" sz="900"/>
                        <a:t>Company Size</a:t>
                      </a:r>
                    </a:p>
                  </a:txBody>
                  <a:tcPr marL="46069" marR="46069" marT="23034" marB="23034" anchor="ctr"/>
                </a:tc>
                <a:tc>
                  <a:txBody>
                    <a:bodyPr/>
                    <a:lstStyle/>
                    <a:p>
                      <a:pPr>
                        <a:buNone/>
                      </a:pPr>
                      <a:r>
                        <a:rPr lang="en-US" sz="900"/>
                        <a:t>Larger companies tend to push predictions upward.</a:t>
                      </a:r>
                    </a:p>
                  </a:txBody>
                  <a:tcPr marL="46069" marR="46069" marT="23034" marB="23034" anchor="ctr"/>
                </a:tc>
                <a:extLst>
                  <a:ext uri="{0D108BD9-81ED-4DB2-BD59-A6C34878D82A}">
                    <a16:rowId xmlns:a16="http://schemas.microsoft.com/office/drawing/2014/main" val="361965567"/>
                  </a:ext>
                </a:extLst>
              </a:tr>
              <a:tr h="353773">
                <a:tc>
                  <a:txBody>
                    <a:bodyPr/>
                    <a:lstStyle/>
                    <a:p>
                      <a:pPr>
                        <a:buNone/>
                      </a:pPr>
                      <a:r>
                        <a:rPr lang="en-US" sz="900"/>
                        <a:t>4</a:t>
                      </a:r>
                    </a:p>
                  </a:txBody>
                  <a:tcPr marL="46069" marR="46069" marT="23034" marB="23034" anchor="ctr"/>
                </a:tc>
                <a:tc>
                  <a:txBody>
                    <a:bodyPr/>
                    <a:lstStyle/>
                    <a:p>
                      <a:pPr>
                        <a:buNone/>
                      </a:pPr>
                      <a:r>
                        <a:rPr lang="en-US" sz="900"/>
                        <a:t>Remote Work Category</a:t>
                      </a:r>
                    </a:p>
                  </a:txBody>
                  <a:tcPr marL="46069" marR="46069" marT="23034" marB="23034" anchor="ctr"/>
                </a:tc>
                <a:tc>
                  <a:txBody>
                    <a:bodyPr/>
                    <a:lstStyle/>
                    <a:p>
                      <a:pPr>
                        <a:buNone/>
                      </a:pPr>
                      <a:r>
                        <a:rPr lang="en-US" sz="900"/>
                        <a:t>Fully remote roles often align with higher salary bands.</a:t>
                      </a:r>
                    </a:p>
                  </a:txBody>
                  <a:tcPr marL="46069" marR="46069" marT="23034" marB="23034" anchor="ctr"/>
                </a:tc>
                <a:extLst>
                  <a:ext uri="{0D108BD9-81ED-4DB2-BD59-A6C34878D82A}">
                    <a16:rowId xmlns:a16="http://schemas.microsoft.com/office/drawing/2014/main" val="154393646"/>
                  </a:ext>
                </a:extLst>
              </a:tr>
              <a:tr h="491141">
                <a:tc>
                  <a:txBody>
                    <a:bodyPr/>
                    <a:lstStyle/>
                    <a:p>
                      <a:pPr>
                        <a:buNone/>
                      </a:pPr>
                      <a:r>
                        <a:rPr lang="en-US" sz="900"/>
                        <a:t>5</a:t>
                      </a:r>
                    </a:p>
                  </a:txBody>
                  <a:tcPr marL="46069" marR="46069" marT="23034" marB="23034" anchor="ctr"/>
                </a:tc>
                <a:tc>
                  <a:txBody>
                    <a:bodyPr/>
                    <a:lstStyle/>
                    <a:p>
                      <a:pPr>
                        <a:buNone/>
                      </a:pPr>
                      <a:r>
                        <a:rPr lang="en-US" sz="900"/>
                        <a:t>Company Location</a:t>
                      </a:r>
                    </a:p>
                  </a:txBody>
                  <a:tcPr marL="46069" marR="46069" marT="23034" marB="23034" anchor="ctr"/>
                </a:tc>
                <a:tc>
                  <a:txBody>
                    <a:bodyPr/>
                    <a:lstStyle/>
                    <a:p>
                      <a:pPr>
                        <a:buNone/>
                      </a:pPr>
                      <a:r>
                        <a:rPr lang="en-US" sz="900"/>
                        <a:t>High‑cost regions push predictions upward; lower‑cost areas push them down.</a:t>
                      </a:r>
                    </a:p>
                  </a:txBody>
                  <a:tcPr marL="46069" marR="46069" marT="23034" marB="23034" anchor="ctr"/>
                </a:tc>
                <a:extLst>
                  <a:ext uri="{0D108BD9-81ED-4DB2-BD59-A6C34878D82A}">
                    <a16:rowId xmlns:a16="http://schemas.microsoft.com/office/drawing/2014/main" val="3986588514"/>
                  </a:ext>
                </a:extLst>
              </a:tr>
              <a:tr h="353773">
                <a:tc>
                  <a:txBody>
                    <a:bodyPr/>
                    <a:lstStyle/>
                    <a:p>
                      <a:pPr>
                        <a:buNone/>
                      </a:pPr>
                      <a:r>
                        <a:rPr lang="en-US" sz="900"/>
                        <a:t>6</a:t>
                      </a:r>
                    </a:p>
                  </a:txBody>
                  <a:tcPr marL="46069" marR="46069" marT="23034" marB="23034" anchor="ctr"/>
                </a:tc>
                <a:tc>
                  <a:txBody>
                    <a:bodyPr/>
                    <a:lstStyle/>
                    <a:p>
                      <a:pPr>
                        <a:buNone/>
                      </a:pPr>
                      <a:r>
                        <a:rPr lang="en-US" sz="900"/>
                        <a:t>Employee Residence</a:t>
                      </a:r>
                    </a:p>
                  </a:txBody>
                  <a:tcPr marL="46069" marR="46069" marT="23034" marB="23034" anchor="ctr"/>
                </a:tc>
                <a:tc>
                  <a:txBody>
                    <a:bodyPr/>
                    <a:lstStyle/>
                    <a:p>
                      <a:pPr>
                        <a:buNone/>
                      </a:pPr>
                      <a:r>
                        <a:rPr lang="en-US" sz="900"/>
                        <a:t>Where the employee lives also nudges the prediction up or down.</a:t>
                      </a:r>
                    </a:p>
                  </a:txBody>
                  <a:tcPr marL="46069" marR="46069" marT="23034" marB="23034" anchor="ctr"/>
                </a:tc>
                <a:extLst>
                  <a:ext uri="{0D108BD9-81ED-4DB2-BD59-A6C34878D82A}">
                    <a16:rowId xmlns:a16="http://schemas.microsoft.com/office/drawing/2014/main" val="2437239674"/>
                  </a:ext>
                </a:extLst>
              </a:tr>
              <a:tr h="491141">
                <a:tc>
                  <a:txBody>
                    <a:bodyPr/>
                    <a:lstStyle/>
                    <a:p>
                      <a:pPr>
                        <a:buNone/>
                      </a:pPr>
                      <a:r>
                        <a:rPr lang="en-US" sz="900"/>
                        <a:t>7</a:t>
                      </a:r>
                    </a:p>
                  </a:txBody>
                  <a:tcPr marL="46069" marR="46069" marT="23034" marB="23034" anchor="ctr"/>
                </a:tc>
                <a:tc>
                  <a:txBody>
                    <a:bodyPr/>
                    <a:lstStyle/>
                    <a:p>
                      <a:pPr>
                        <a:buNone/>
                      </a:pPr>
                      <a:r>
                        <a:rPr lang="en-US" sz="900"/>
                        <a:t>Employment Type</a:t>
                      </a:r>
                    </a:p>
                  </a:txBody>
                  <a:tcPr marL="46069" marR="46069" marT="23034" marB="23034" anchor="ctr"/>
                </a:tc>
                <a:tc>
                  <a:txBody>
                    <a:bodyPr/>
                    <a:lstStyle/>
                    <a:p>
                      <a:pPr>
                        <a:buNone/>
                      </a:pPr>
                      <a:r>
                        <a:rPr lang="en-US" sz="900" dirty="0"/>
                        <a:t>Full‑time roles push predictions higher; contract/part‑time push lower.</a:t>
                      </a:r>
                    </a:p>
                  </a:txBody>
                  <a:tcPr marL="46069" marR="46069" marT="23034" marB="23034" anchor="ctr"/>
                </a:tc>
                <a:extLst>
                  <a:ext uri="{0D108BD9-81ED-4DB2-BD59-A6C34878D82A}">
                    <a16:rowId xmlns:a16="http://schemas.microsoft.com/office/drawing/2014/main" val="1075354125"/>
                  </a:ext>
                </a:extLst>
              </a:tr>
            </a:tbl>
          </a:graphicData>
        </a:graphic>
      </p:graphicFrame>
    </p:spTree>
    <p:extLst>
      <p:ext uri="{BB962C8B-B14F-4D97-AF65-F5344CB8AC3E}">
        <p14:creationId xmlns:p14="http://schemas.microsoft.com/office/powerpoint/2010/main" val="322399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465C1-0F8E-C3FA-67F0-324842EA57AE}"/>
              </a:ext>
            </a:extLst>
          </p:cNvPr>
          <p:cNvSpPr>
            <a:spLocks noGrp="1"/>
          </p:cNvSpPr>
          <p:nvPr>
            <p:ph type="title"/>
          </p:nvPr>
        </p:nvSpPr>
        <p:spPr>
          <a:xfrm>
            <a:off x="2982190" y="2533650"/>
            <a:ext cx="6227619" cy="1790700"/>
          </a:xfrm>
        </p:spPr>
        <p:txBody>
          <a:bodyPr>
            <a:normAutofit fontScale="90000"/>
          </a:bodyPr>
          <a:lstStyle/>
          <a:p>
            <a:pPr algn="ctr"/>
            <a:r>
              <a:rPr lang="en-US" b="1" dirty="0"/>
              <a:t>Choosing the “Best” Model </a:t>
            </a:r>
            <a:br>
              <a:rPr lang="en-US" b="1" dirty="0"/>
            </a:br>
            <a:r>
              <a:rPr lang="en-US" b="1" dirty="0"/>
              <a:t>&amp; </a:t>
            </a:r>
            <a:br>
              <a:rPr lang="en-US" b="1" dirty="0"/>
            </a:br>
            <a:r>
              <a:rPr lang="en-US" b="1"/>
              <a:t>Final Thoughts Summary </a:t>
            </a:r>
            <a:endParaRPr lang="en-US" b="1" dirty="0"/>
          </a:p>
        </p:txBody>
      </p:sp>
    </p:spTree>
    <p:extLst>
      <p:ext uri="{BB962C8B-B14F-4D97-AF65-F5344CB8AC3E}">
        <p14:creationId xmlns:p14="http://schemas.microsoft.com/office/powerpoint/2010/main" val="2999605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541DB91-0B10-46D9-B34B-7BFF96026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5CB52EA-7160-D5F9-FA8F-7BCE3118E41E}"/>
              </a:ext>
            </a:extLst>
          </p:cNvPr>
          <p:cNvSpPr>
            <a:spLocks noGrp="1"/>
          </p:cNvSpPr>
          <p:nvPr>
            <p:ph type="title"/>
          </p:nvPr>
        </p:nvSpPr>
        <p:spPr>
          <a:xfrm>
            <a:off x="5526156" y="365125"/>
            <a:ext cx="5827643" cy="1433433"/>
          </a:xfrm>
        </p:spPr>
        <p:txBody>
          <a:bodyPr anchor="b">
            <a:normAutofit/>
          </a:bodyPr>
          <a:lstStyle/>
          <a:p>
            <a:r>
              <a:rPr lang="en-US" dirty="0"/>
              <a:t>Selecting the best model Criteria</a:t>
            </a:r>
          </a:p>
        </p:txBody>
      </p:sp>
      <p:pic>
        <p:nvPicPr>
          <p:cNvPr id="7" name="Graphic 6" descr="Target">
            <a:extLst>
              <a:ext uri="{FF2B5EF4-FFF2-40B4-BE49-F238E27FC236}">
                <a16:creationId xmlns:a16="http://schemas.microsoft.com/office/drawing/2014/main" id="{CF0E6B20-6475-3D5B-A19F-A2F1946054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8563" y="1704485"/>
            <a:ext cx="3449030" cy="3449030"/>
          </a:xfrm>
          <a:prstGeom prst="rect">
            <a:avLst/>
          </a:prstGeom>
        </p:spPr>
      </p:pic>
      <p:sp>
        <p:nvSpPr>
          <p:cNvPr id="3" name="Content Placeholder 2">
            <a:extLst>
              <a:ext uri="{FF2B5EF4-FFF2-40B4-BE49-F238E27FC236}">
                <a16:creationId xmlns:a16="http://schemas.microsoft.com/office/drawing/2014/main" id="{9BC35076-5B87-5496-EE79-848AD4B281DE}"/>
              </a:ext>
            </a:extLst>
          </p:cNvPr>
          <p:cNvSpPr>
            <a:spLocks noGrp="1"/>
          </p:cNvSpPr>
          <p:nvPr>
            <p:ph idx="1"/>
          </p:nvPr>
        </p:nvSpPr>
        <p:spPr>
          <a:xfrm>
            <a:off x="5526156" y="2055813"/>
            <a:ext cx="5827644" cy="4121149"/>
          </a:xfrm>
        </p:spPr>
        <p:txBody>
          <a:bodyPr>
            <a:normAutofit/>
          </a:bodyPr>
          <a:lstStyle/>
          <a:p>
            <a:r>
              <a:rPr lang="en-US" sz="2000" b="1" dirty="0"/>
              <a:t>How We Selected the Best Model </a:t>
            </a:r>
          </a:p>
          <a:p>
            <a:pPr lvl="1"/>
            <a:r>
              <a:rPr lang="en-US" sz="2000" dirty="0"/>
              <a:t>We compared the final classification machine learning models side‑by‑side using the same five measures. The goal was to find the model that is:</a:t>
            </a:r>
          </a:p>
          <a:p>
            <a:pPr lvl="1"/>
            <a:r>
              <a:rPr lang="en-US" sz="2000" dirty="0"/>
              <a:t>Most accurate overall</a:t>
            </a:r>
          </a:p>
          <a:p>
            <a:pPr lvl="1"/>
            <a:r>
              <a:rPr lang="en-US" sz="2000" dirty="0"/>
              <a:t>Most consistent across metrics</a:t>
            </a:r>
          </a:p>
          <a:p>
            <a:pPr lvl="1"/>
            <a:r>
              <a:rPr lang="en-US" sz="2000" dirty="0"/>
              <a:t>Best at identifying high‑salary cases</a:t>
            </a:r>
          </a:p>
          <a:p>
            <a:pPr lvl="1"/>
            <a:r>
              <a:rPr lang="en-US" sz="2000" dirty="0"/>
              <a:t>Most reliable for real‑world use</a:t>
            </a:r>
          </a:p>
        </p:txBody>
      </p:sp>
    </p:spTree>
    <p:extLst>
      <p:ext uri="{BB962C8B-B14F-4D97-AF65-F5344CB8AC3E}">
        <p14:creationId xmlns:p14="http://schemas.microsoft.com/office/powerpoint/2010/main" val="1499552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6A26AF-E00C-E5E9-D152-A950CF82780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9BC337-1B61-9573-9255-D2E2DDAF395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Classification Model Comparison</a:t>
            </a:r>
          </a:p>
        </p:txBody>
      </p:sp>
      <p:graphicFrame>
        <p:nvGraphicFramePr>
          <p:cNvPr id="6" name="Table 5">
            <a:extLst>
              <a:ext uri="{FF2B5EF4-FFF2-40B4-BE49-F238E27FC236}">
                <a16:creationId xmlns:a16="http://schemas.microsoft.com/office/drawing/2014/main" id="{B7B7B51A-558C-2495-BBAD-2A1F36F075AA}"/>
              </a:ext>
            </a:extLst>
          </p:cNvPr>
          <p:cNvGraphicFramePr>
            <a:graphicFrameLocks noGrp="1"/>
          </p:cNvGraphicFramePr>
          <p:nvPr>
            <p:extLst>
              <p:ext uri="{D42A27DB-BD31-4B8C-83A1-F6EECF244321}">
                <p14:modId xmlns:p14="http://schemas.microsoft.com/office/powerpoint/2010/main" val="2598919591"/>
              </p:ext>
            </p:extLst>
          </p:nvPr>
        </p:nvGraphicFramePr>
        <p:xfrm>
          <a:off x="643467" y="1682260"/>
          <a:ext cx="10905069" cy="4380139"/>
        </p:xfrm>
        <a:graphic>
          <a:graphicData uri="http://schemas.openxmlformats.org/drawingml/2006/table">
            <a:tbl>
              <a:tblPr firstRow="1" bandRow="1">
                <a:tableStyleId>{5940675A-B579-460E-94D1-54222C63F5DA}</a:tableStyleId>
              </a:tblPr>
              <a:tblGrid>
                <a:gridCol w="3162976">
                  <a:extLst>
                    <a:ext uri="{9D8B030D-6E8A-4147-A177-3AD203B41FA5}">
                      <a16:colId xmlns:a16="http://schemas.microsoft.com/office/drawing/2014/main" val="1061291235"/>
                    </a:ext>
                  </a:extLst>
                </a:gridCol>
                <a:gridCol w="2012965">
                  <a:extLst>
                    <a:ext uri="{9D8B030D-6E8A-4147-A177-3AD203B41FA5}">
                      <a16:colId xmlns:a16="http://schemas.microsoft.com/office/drawing/2014/main" val="3984376876"/>
                    </a:ext>
                  </a:extLst>
                </a:gridCol>
                <a:gridCol w="1410945">
                  <a:extLst>
                    <a:ext uri="{9D8B030D-6E8A-4147-A177-3AD203B41FA5}">
                      <a16:colId xmlns:a16="http://schemas.microsoft.com/office/drawing/2014/main" val="4022610049"/>
                    </a:ext>
                  </a:extLst>
                </a:gridCol>
                <a:gridCol w="1414804">
                  <a:extLst>
                    <a:ext uri="{9D8B030D-6E8A-4147-A177-3AD203B41FA5}">
                      <a16:colId xmlns:a16="http://schemas.microsoft.com/office/drawing/2014/main" val="3093298966"/>
                    </a:ext>
                  </a:extLst>
                </a:gridCol>
                <a:gridCol w="1125373">
                  <a:extLst>
                    <a:ext uri="{9D8B030D-6E8A-4147-A177-3AD203B41FA5}">
                      <a16:colId xmlns:a16="http://schemas.microsoft.com/office/drawing/2014/main" val="1808952728"/>
                    </a:ext>
                  </a:extLst>
                </a:gridCol>
                <a:gridCol w="797349">
                  <a:extLst>
                    <a:ext uri="{9D8B030D-6E8A-4147-A177-3AD203B41FA5}">
                      <a16:colId xmlns:a16="http://schemas.microsoft.com/office/drawing/2014/main" val="2031400387"/>
                    </a:ext>
                  </a:extLst>
                </a:gridCol>
                <a:gridCol w="980657">
                  <a:extLst>
                    <a:ext uri="{9D8B030D-6E8A-4147-A177-3AD203B41FA5}">
                      <a16:colId xmlns:a16="http://schemas.microsoft.com/office/drawing/2014/main" val="646463925"/>
                    </a:ext>
                  </a:extLst>
                </a:gridCol>
              </a:tblGrid>
              <a:tr h="319835">
                <a:tc>
                  <a:txBody>
                    <a:bodyPr/>
                    <a:lstStyle/>
                    <a:p>
                      <a:pPr algn="ctr">
                        <a:buNone/>
                      </a:pPr>
                      <a:r>
                        <a:rPr lang="en-US" sz="1500" b="1"/>
                        <a:t>Model Type</a:t>
                      </a:r>
                    </a:p>
                  </a:txBody>
                  <a:tcPr marL="53093" marR="53093" marT="26547" marB="26547" anchor="ctr"/>
                </a:tc>
                <a:tc>
                  <a:txBody>
                    <a:bodyPr/>
                    <a:lstStyle/>
                    <a:p>
                      <a:pPr algn="ctr">
                        <a:buNone/>
                      </a:pPr>
                      <a:r>
                        <a:rPr lang="en-US" sz="1500" b="1"/>
                        <a:t>Model</a:t>
                      </a:r>
                    </a:p>
                  </a:txBody>
                  <a:tcPr marL="53093" marR="53093" marT="26547" marB="26547" anchor="ctr"/>
                </a:tc>
                <a:tc>
                  <a:txBody>
                    <a:bodyPr/>
                    <a:lstStyle/>
                    <a:p>
                      <a:pPr algn="ctr">
                        <a:buNone/>
                      </a:pPr>
                      <a:r>
                        <a:rPr lang="en-US" sz="1500" b="1"/>
                        <a:t>Accuracy (%)</a:t>
                      </a:r>
                    </a:p>
                  </a:txBody>
                  <a:tcPr marL="53093" marR="53093" marT="26547" marB="26547" anchor="ctr"/>
                </a:tc>
                <a:tc>
                  <a:txBody>
                    <a:bodyPr/>
                    <a:lstStyle/>
                    <a:p>
                      <a:pPr algn="ctr">
                        <a:buNone/>
                      </a:pPr>
                      <a:r>
                        <a:rPr lang="en-US" sz="1500" b="1"/>
                        <a:t>Precision (%)</a:t>
                      </a:r>
                    </a:p>
                  </a:txBody>
                  <a:tcPr marL="53093" marR="53093" marT="26547" marB="26547" anchor="ctr"/>
                </a:tc>
                <a:tc>
                  <a:txBody>
                    <a:bodyPr/>
                    <a:lstStyle/>
                    <a:p>
                      <a:pPr algn="ctr">
                        <a:buNone/>
                      </a:pPr>
                      <a:r>
                        <a:rPr lang="en-US" sz="1500" b="1"/>
                        <a:t>Recall (%)</a:t>
                      </a:r>
                    </a:p>
                  </a:txBody>
                  <a:tcPr marL="53093" marR="53093" marT="26547" marB="26547" anchor="ctr"/>
                </a:tc>
                <a:tc>
                  <a:txBody>
                    <a:bodyPr/>
                    <a:lstStyle/>
                    <a:p>
                      <a:pPr algn="ctr">
                        <a:buNone/>
                      </a:pPr>
                      <a:r>
                        <a:rPr lang="en-US" sz="1500" b="1"/>
                        <a:t>F1 (%)</a:t>
                      </a:r>
                    </a:p>
                  </a:txBody>
                  <a:tcPr marL="53093" marR="53093" marT="26547" marB="26547" anchor="ctr"/>
                </a:tc>
                <a:tc>
                  <a:txBody>
                    <a:bodyPr/>
                    <a:lstStyle/>
                    <a:p>
                      <a:pPr algn="ctr">
                        <a:buNone/>
                      </a:pPr>
                      <a:r>
                        <a:rPr lang="en-US" sz="1500" b="1"/>
                        <a:t>AUC (%)</a:t>
                      </a:r>
                    </a:p>
                  </a:txBody>
                  <a:tcPr marL="53093" marR="53093" marT="26547" marB="26547" anchor="ctr"/>
                </a:tc>
                <a:extLst>
                  <a:ext uri="{0D108BD9-81ED-4DB2-BD59-A6C34878D82A}">
                    <a16:rowId xmlns:a16="http://schemas.microsoft.com/office/drawing/2014/main" val="1703294265"/>
                  </a:ext>
                </a:extLst>
              </a:tr>
              <a:tr h="319835">
                <a:tc>
                  <a:txBody>
                    <a:bodyPr/>
                    <a:lstStyle/>
                    <a:p>
                      <a:pPr>
                        <a:buNone/>
                      </a:pPr>
                      <a:r>
                        <a:rPr lang="en-US" sz="1500" b="1"/>
                        <a:t>Linear &amp; Probabilistic Models</a:t>
                      </a:r>
                    </a:p>
                  </a:txBody>
                  <a:tcPr marL="53093" marR="53093" marT="26547" marB="26547" anchor="ctr"/>
                </a:tc>
                <a:tc>
                  <a:txBody>
                    <a:bodyPr/>
                    <a:lstStyle/>
                    <a:p>
                      <a:pPr>
                        <a:buNone/>
                      </a:pPr>
                      <a:r>
                        <a:rPr lang="en-US" sz="1500" b="1"/>
                        <a:t>Logistic Regression</a:t>
                      </a:r>
                    </a:p>
                  </a:txBody>
                  <a:tcPr marL="53093" marR="53093" marT="26547" marB="26547" anchor="ctr"/>
                </a:tc>
                <a:tc>
                  <a:txBody>
                    <a:bodyPr/>
                    <a:lstStyle/>
                    <a:p>
                      <a:pPr algn="ctr">
                        <a:buNone/>
                      </a:pPr>
                      <a:r>
                        <a:rPr lang="en-US" sz="1500"/>
                        <a:t>65.27</a:t>
                      </a:r>
                    </a:p>
                  </a:txBody>
                  <a:tcPr marL="53093" marR="53093" marT="26547" marB="26547" anchor="ctr"/>
                </a:tc>
                <a:tc>
                  <a:txBody>
                    <a:bodyPr/>
                    <a:lstStyle/>
                    <a:p>
                      <a:pPr algn="ctr">
                        <a:buNone/>
                      </a:pPr>
                      <a:r>
                        <a:rPr lang="en-US" sz="1500"/>
                        <a:t>67.39</a:t>
                      </a:r>
                    </a:p>
                  </a:txBody>
                  <a:tcPr marL="53093" marR="53093" marT="26547" marB="26547" anchor="ctr"/>
                </a:tc>
                <a:tc>
                  <a:txBody>
                    <a:bodyPr/>
                    <a:lstStyle/>
                    <a:p>
                      <a:pPr algn="ctr">
                        <a:buNone/>
                      </a:pPr>
                      <a:r>
                        <a:rPr lang="en-US" sz="1500"/>
                        <a:t>73.01</a:t>
                      </a:r>
                    </a:p>
                  </a:txBody>
                  <a:tcPr marL="53093" marR="53093" marT="26547" marB="26547" anchor="ctr"/>
                </a:tc>
                <a:tc>
                  <a:txBody>
                    <a:bodyPr/>
                    <a:lstStyle/>
                    <a:p>
                      <a:pPr algn="ctr">
                        <a:buNone/>
                      </a:pPr>
                      <a:r>
                        <a:rPr lang="en-US" sz="1500"/>
                        <a:t>70.09</a:t>
                      </a:r>
                    </a:p>
                  </a:txBody>
                  <a:tcPr marL="53093" marR="53093" marT="26547" marB="26547" anchor="ctr"/>
                </a:tc>
                <a:tc>
                  <a:txBody>
                    <a:bodyPr/>
                    <a:lstStyle/>
                    <a:p>
                      <a:pPr algn="ctr">
                        <a:buNone/>
                      </a:pPr>
                      <a:r>
                        <a:rPr lang="en-US" sz="1500"/>
                        <a:t>69.08</a:t>
                      </a:r>
                    </a:p>
                  </a:txBody>
                  <a:tcPr marL="53093" marR="53093" marT="26547" marB="26547" anchor="ctr"/>
                </a:tc>
                <a:extLst>
                  <a:ext uri="{0D108BD9-81ED-4DB2-BD59-A6C34878D82A}">
                    <a16:rowId xmlns:a16="http://schemas.microsoft.com/office/drawing/2014/main" val="539074701"/>
                  </a:ext>
                </a:extLst>
              </a:tr>
              <a:tr h="319835">
                <a:tc>
                  <a:txBody>
                    <a:bodyPr/>
                    <a:lstStyle/>
                    <a:p>
                      <a:pPr>
                        <a:buNone/>
                      </a:pPr>
                      <a:endParaRPr lang="en-US" sz="1500" b="1"/>
                    </a:p>
                  </a:txBody>
                  <a:tcPr marL="53093" marR="53093" marT="26547" marB="26547" anchor="ctr"/>
                </a:tc>
                <a:tc>
                  <a:txBody>
                    <a:bodyPr/>
                    <a:lstStyle/>
                    <a:p>
                      <a:pPr>
                        <a:buNone/>
                      </a:pPr>
                      <a:r>
                        <a:rPr lang="en-US" sz="1500" b="1"/>
                        <a:t>Gaussian NB</a:t>
                      </a:r>
                    </a:p>
                  </a:txBody>
                  <a:tcPr marL="53093" marR="53093" marT="26547" marB="26547" anchor="ctr"/>
                </a:tc>
                <a:tc>
                  <a:txBody>
                    <a:bodyPr/>
                    <a:lstStyle/>
                    <a:p>
                      <a:pPr algn="ctr">
                        <a:buNone/>
                      </a:pPr>
                      <a:r>
                        <a:rPr lang="en-US" sz="1500"/>
                        <a:t>56.16</a:t>
                      </a:r>
                    </a:p>
                  </a:txBody>
                  <a:tcPr marL="53093" marR="53093" marT="26547" marB="26547" anchor="ctr"/>
                </a:tc>
                <a:tc>
                  <a:txBody>
                    <a:bodyPr/>
                    <a:lstStyle/>
                    <a:p>
                      <a:pPr algn="ctr">
                        <a:buNone/>
                      </a:pPr>
                      <a:r>
                        <a:rPr lang="en-US" sz="1500"/>
                        <a:t>56.01</a:t>
                      </a:r>
                    </a:p>
                  </a:txBody>
                  <a:tcPr marL="53093" marR="53093" marT="26547" marB="26547" anchor="ctr"/>
                </a:tc>
                <a:tc>
                  <a:txBody>
                    <a:bodyPr/>
                    <a:lstStyle/>
                    <a:p>
                      <a:pPr algn="ctr">
                        <a:buNone/>
                      </a:pPr>
                      <a:r>
                        <a:rPr lang="en-US" sz="1500"/>
                        <a:t>99.45</a:t>
                      </a:r>
                    </a:p>
                  </a:txBody>
                  <a:tcPr marL="53093" marR="53093" marT="26547" marB="26547" anchor="ctr"/>
                </a:tc>
                <a:tc>
                  <a:txBody>
                    <a:bodyPr/>
                    <a:lstStyle/>
                    <a:p>
                      <a:pPr algn="ctr">
                        <a:buNone/>
                      </a:pPr>
                      <a:r>
                        <a:rPr lang="en-US" sz="1500"/>
                        <a:t>71.66</a:t>
                      </a:r>
                    </a:p>
                  </a:txBody>
                  <a:tcPr marL="53093" marR="53093" marT="26547" marB="26547" anchor="ctr"/>
                </a:tc>
                <a:tc>
                  <a:txBody>
                    <a:bodyPr/>
                    <a:lstStyle/>
                    <a:p>
                      <a:pPr algn="ctr">
                        <a:buNone/>
                      </a:pPr>
                      <a:r>
                        <a:rPr lang="en-US" sz="1500"/>
                        <a:t>65.67</a:t>
                      </a:r>
                    </a:p>
                  </a:txBody>
                  <a:tcPr marL="53093" marR="53093" marT="26547" marB="26547" anchor="ctr"/>
                </a:tc>
                <a:extLst>
                  <a:ext uri="{0D108BD9-81ED-4DB2-BD59-A6C34878D82A}">
                    <a16:rowId xmlns:a16="http://schemas.microsoft.com/office/drawing/2014/main" val="307217220"/>
                  </a:ext>
                </a:extLst>
              </a:tr>
              <a:tr h="319835">
                <a:tc>
                  <a:txBody>
                    <a:bodyPr/>
                    <a:lstStyle/>
                    <a:p>
                      <a:pPr>
                        <a:buNone/>
                      </a:pPr>
                      <a:endParaRPr lang="en-US" sz="1500" b="1"/>
                    </a:p>
                  </a:txBody>
                  <a:tcPr marL="53093" marR="53093" marT="26547" marB="26547" anchor="ctr"/>
                </a:tc>
                <a:tc>
                  <a:txBody>
                    <a:bodyPr/>
                    <a:lstStyle/>
                    <a:p>
                      <a:pPr>
                        <a:buNone/>
                      </a:pPr>
                      <a:r>
                        <a:rPr lang="en-US" sz="1500" b="1"/>
                        <a:t>Bernoulli NB</a:t>
                      </a:r>
                    </a:p>
                  </a:txBody>
                  <a:tcPr marL="53093" marR="53093" marT="26547" marB="26547" anchor="ctr"/>
                </a:tc>
                <a:tc>
                  <a:txBody>
                    <a:bodyPr/>
                    <a:lstStyle/>
                    <a:p>
                      <a:pPr algn="ctr">
                        <a:buNone/>
                      </a:pPr>
                      <a:r>
                        <a:rPr lang="en-US" sz="1500"/>
                        <a:t>61.84</a:t>
                      </a:r>
                    </a:p>
                  </a:txBody>
                  <a:tcPr marL="53093" marR="53093" marT="26547" marB="26547" anchor="ctr"/>
                </a:tc>
                <a:tc>
                  <a:txBody>
                    <a:bodyPr/>
                    <a:lstStyle/>
                    <a:p>
                      <a:pPr algn="ctr">
                        <a:buNone/>
                      </a:pPr>
                      <a:r>
                        <a:rPr lang="en-US" sz="1500"/>
                        <a:t>65.46</a:t>
                      </a:r>
                    </a:p>
                  </a:txBody>
                  <a:tcPr marL="53093" marR="53093" marT="26547" marB="26547" anchor="ctr"/>
                </a:tc>
                <a:tc>
                  <a:txBody>
                    <a:bodyPr/>
                    <a:lstStyle/>
                    <a:p>
                      <a:pPr algn="ctr">
                        <a:buNone/>
                      </a:pPr>
                      <a:r>
                        <a:rPr lang="en-US" sz="1500"/>
                        <a:t>66.75</a:t>
                      </a:r>
                    </a:p>
                  </a:txBody>
                  <a:tcPr marL="53093" marR="53093" marT="26547" marB="26547" anchor="ctr"/>
                </a:tc>
                <a:tc>
                  <a:txBody>
                    <a:bodyPr/>
                    <a:lstStyle/>
                    <a:p>
                      <a:pPr algn="ctr">
                        <a:buNone/>
                      </a:pPr>
                      <a:r>
                        <a:rPr lang="en-US" sz="1500"/>
                        <a:t>66.10</a:t>
                      </a:r>
                    </a:p>
                  </a:txBody>
                  <a:tcPr marL="53093" marR="53093" marT="26547" marB="26547" anchor="ctr"/>
                </a:tc>
                <a:tc>
                  <a:txBody>
                    <a:bodyPr/>
                    <a:lstStyle/>
                    <a:p>
                      <a:pPr algn="ctr">
                        <a:buNone/>
                      </a:pPr>
                      <a:r>
                        <a:rPr lang="en-US" sz="1500"/>
                        <a:t>66.29</a:t>
                      </a:r>
                    </a:p>
                  </a:txBody>
                  <a:tcPr marL="53093" marR="53093" marT="26547" marB="26547" anchor="ctr"/>
                </a:tc>
                <a:extLst>
                  <a:ext uri="{0D108BD9-81ED-4DB2-BD59-A6C34878D82A}">
                    <a16:rowId xmlns:a16="http://schemas.microsoft.com/office/drawing/2014/main" val="3757669338"/>
                  </a:ext>
                </a:extLst>
              </a:tr>
              <a:tr h="319835">
                <a:tc>
                  <a:txBody>
                    <a:bodyPr/>
                    <a:lstStyle/>
                    <a:p>
                      <a:pPr>
                        <a:buNone/>
                      </a:pPr>
                      <a:r>
                        <a:rPr lang="en-US" sz="1500" b="1"/>
                        <a:t>Distance &amp; Margin‑Based Models</a:t>
                      </a:r>
                    </a:p>
                  </a:txBody>
                  <a:tcPr marL="53093" marR="53093" marT="26547" marB="26547" anchor="ctr"/>
                </a:tc>
                <a:tc>
                  <a:txBody>
                    <a:bodyPr/>
                    <a:lstStyle/>
                    <a:p>
                      <a:pPr>
                        <a:buNone/>
                      </a:pPr>
                      <a:r>
                        <a:rPr lang="en-US" sz="1500" b="1"/>
                        <a:t>Linear SVM</a:t>
                      </a:r>
                    </a:p>
                  </a:txBody>
                  <a:tcPr marL="53093" marR="53093" marT="26547" marB="26547" anchor="ctr"/>
                </a:tc>
                <a:tc>
                  <a:txBody>
                    <a:bodyPr/>
                    <a:lstStyle/>
                    <a:p>
                      <a:pPr algn="ctr">
                        <a:buNone/>
                      </a:pPr>
                      <a:r>
                        <a:rPr lang="en-US" sz="1500"/>
                        <a:t>63.39</a:t>
                      </a:r>
                    </a:p>
                  </a:txBody>
                  <a:tcPr marL="53093" marR="53093" marT="26547" marB="26547" anchor="ctr"/>
                </a:tc>
                <a:tc>
                  <a:txBody>
                    <a:bodyPr/>
                    <a:lstStyle/>
                    <a:p>
                      <a:pPr algn="ctr">
                        <a:buNone/>
                      </a:pPr>
                      <a:r>
                        <a:rPr lang="en-US" sz="1500"/>
                        <a:t>62.45</a:t>
                      </a:r>
                    </a:p>
                  </a:txBody>
                  <a:tcPr marL="53093" marR="53093" marT="26547" marB="26547" anchor="ctr"/>
                </a:tc>
                <a:tc>
                  <a:txBody>
                    <a:bodyPr/>
                    <a:lstStyle/>
                    <a:p>
                      <a:pPr algn="ctr">
                        <a:buNone/>
                      </a:pPr>
                      <a:r>
                        <a:rPr lang="en-US" sz="1500"/>
                        <a:t>86.07</a:t>
                      </a:r>
                    </a:p>
                  </a:txBody>
                  <a:tcPr marL="53093" marR="53093" marT="26547" marB="26547" anchor="ctr"/>
                </a:tc>
                <a:tc>
                  <a:txBody>
                    <a:bodyPr/>
                    <a:lstStyle/>
                    <a:p>
                      <a:pPr algn="ctr">
                        <a:buNone/>
                      </a:pPr>
                      <a:r>
                        <a:rPr lang="en-US" sz="1500"/>
                        <a:t>72.38</a:t>
                      </a:r>
                    </a:p>
                  </a:txBody>
                  <a:tcPr marL="53093" marR="53093" marT="26547" marB="26547" anchor="ctr"/>
                </a:tc>
                <a:tc>
                  <a:txBody>
                    <a:bodyPr/>
                    <a:lstStyle/>
                    <a:p>
                      <a:pPr algn="ctr">
                        <a:buNone/>
                      </a:pPr>
                      <a:r>
                        <a:rPr lang="en-US" sz="1500"/>
                        <a:t>68.70</a:t>
                      </a:r>
                    </a:p>
                  </a:txBody>
                  <a:tcPr marL="53093" marR="53093" marT="26547" marB="26547" anchor="ctr"/>
                </a:tc>
                <a:extLst>
                  <a:ext uri="{0D108BD9-81ED-4DB2-BD59-A6C34878D82A}">
                    <a16:rowId xmlns:a16="http://schemas.microsoft.com/office/drawing/2014/main" val="4778695"/>
                  </a:ext>
                </a:extLst>
              </a:tr>
              <a:tr h="319835">
                <a:tc>
                  <a:txBody>
                    <a:bodyPr/>
                    <a:lstStyle/>
                    <a:p>
                      <a:pPr>
                        <a:buNone/>
                      </a:pPr>
                      <a:endParaRPr lang="en-US" sz="1500" b="1"/>
                    </a:p>
                  </a:txBody>
                  <a:tcPr marL="53093" marR="53093" marT="26547" marB="26547" anchor="ctr"/>
                </a:tc>
                <a:tc>
                  <a:txBody>
                    <a:bodyPr/>
                    <a:lstStyle/>
                    <a:p>
                      <a:pPr>
                        <a:buNone/>
                      </a:pPr>
                      <a:r>
                        <a:rPr lang="en-US" sz="1500" b="1"/>
                        <a:t>RBF SVM</a:t>
                      </a:r>
                    </a:p>
                  </a:txBody>
                  <a:tcPr marL="53093" marR="53093" marT="26547" marB="26547" anchor="ctr"/>
                </a:tc>
                <a:tc>
                  <a:txBody>
                    <a:bodyPr/>
                    <a:lstStyle/>
                    <a:p>
                      <a:pPr algn="ctr">
                        <a:buNone/>
                      </a:pPr>
                      <a:r>
                        <a:rPr lang="en-US" sz="1500"/>
                        <a:t>65.38</a:t>
                      </a:r>
                    </a:p>
                  </a:txBody>
                  <a:tcPr marL="53093" marR="53093" marT="26547" marB="26547" anchor="ctr"/>
                </a:tc>
                <a:tc>
                  <a:txBody>
                    <a:bodyPr/>
                    <a:lstStyle/>
                    <a:p>
                      <a:pPr algn="ctr">
                        <a:buNone/>
                      </a:pPr>
                      <a:r>
                        <a:rPr lang="en-US" sz="1500"/>
                        <a:t>67.92</a:t>
                      </a:r>
                    </a:p>
                  </a:txBody>
                  <a:tcPr marL="53093" marR="53093" marT="26547" marB="26547" anchor="ctr"/>
                </a:tc>
                <a:tc>
                  <a:txBody>
                    <a:bodyPr/>
                    <a:lstStyle/>
                    <a:p>
                      <a:pPr algn="ctr">
                        <a:buNone/>
                      </a:pPr>
                      <a:r>
                        <a:rPr lang="en-US" sz="1500"/>
                        <a:t>71.79</a:t>
                      </a:r>
                    </a:p>
                  </a:txBody>
                  <a:tcPr marL="53093" marR="53093" marT="26547" marB="26547" anchor="ctr"/>
                </a:tc>
                <a:tc>
                  <a:txBody>
                    <a:bodyPr/>
                    <a:lstStyle/>
                    <a:p>
                      <a:pPr algn="ctr">
                        <a:buNone/>
                      </a:pPr>
                      <a:r>
                        <a:rPr lang="en-US" sz="1500"/>
                        <a:t>69.80</a:t>
                      </a:r>
                    </a:p>
                  </a:txBody>
                  <a:tcPr marL="53093" marR="53093" marT="26547" marB="26547" anchor="ctr"/>
                </a:tc>
                <a:tc>
                  <a:txBody>
                    <a:bodyPr/>
                    <a:lstStyle/>
                    <a:p>
                      <a:pPr algn="ctr">
                        <a:buNone/>
                      </a:pPr>
                      <a:r>
                        <a:rPr lang="en-US" sz="1500"/>
                        <a:t>65.59</a:t>
                      </a:r>
                    </a:p>
                  </a:txBody>
                  <a:tcPr marL="53093" marR="53093" marT="26547" marB="26547" anchor="ctr"/>
                </a:tc>
                <a:extLst>
                  <a:ext uri="{0D108BD9-81ED-4DB2-BD59-A6C34878D82A}">
                    <a16:rowId xmlns:a16="http://schemas.microsoft.com/office/drawing/2014/main" val="4284606910"/>
                  </a:ext>
                </a:extLst>
              </a:tr>
              <a:tr h="319835">
                <a:tc>
                  <a:txBody>
                    <a:bodyPr/>
                    <a:lstStyle/>
                    <a:p>
                      <a:pPr>
                        <a:buNone/>
                      </a:pPr>
                      <a:endParaRPr lang="en-US" sz="1500" b="1"/>
                    </a:p>
                  </a:txBody>
                  <a:tcPr marL="53093" marR="53093" marT="26547" marB="26547" anchor="ctr"/>
                </a:tc>
                <a:tc>
                  <a:txBody>
                    <a:bodyPr/>
                    <a:lstStyle/>
                    <a:p>
                      <a:pPr>
                        <a:buNone/>
                      </a:pPr>
                      <a:r>
                        <a:rPr lang="en-US" sz="1500" b="1"/>
                        <a:t>Polynomial SVM</a:t>
                      </a:r>
                    </a:p>
                  </a:txBody>
                  <a:tcPr marL="53093" marR="53093" marT="26547" marB="26547" anchor="ctr"/>
                </a:tc>
                <a:tc>
                  <a:txBody>
                    <a:bodyPr/>
                    <a:lstStyle/>
                    <a:p>
                      <a:pPr algn="ctr">
                        <a:buNone/>
                      </a:pPr>
                      <a:r>
                        <a:rPr lang="en-US" sz="1500"/>
                        <a:t>65.36</a:t>
                      </a:r>
                    </a:p>
                  </a:txBody>
                  <a:tcPr marL="53093" marR="53093" marT="26547" marB="26547" anchor="ctr"/>
                </a:tc>
                <a:tc>
                  <a:txBody>
                    <a:bodyPr/>
                    <a:lstStyle/>
                    <a:p>
                      <a:pPr algn="ctr">
                        <a:buNone/>
                      </a:pPr>
                      <a:r>
                        <a:rPr lang="en-US" sz="1500"/>
                        <a:t>67.45</a:t>
                      </a:r>
                    </a:p>
                  </a:txBody>
                  <a:tcPr marL="53093" marR="53093" marT="26547" marB="26547" anchor="ctr"/>
                </a:tc>
                <a:tc>
                  <a:txBody>
                    <a:bodyPr/>
                    <a:lstStyle/>
                    <a:p>
                      <a:pPr algn="ctr">
                        <a:buNone/>
                      </a:pPr>
                      <a:r>
                        <a:rPr lang="en-US" sz="1500"/>
                        <a:t>73.16</a:t>
                      </a:r>
                    </a:p>
                  </a:txBody>
                  <a:tcPr marL="53093" marR="53093" marT="26547" marB="26547" anchor="ctr"/>
                </a:tc>
                <a:tc>
                  <a:txBody>
                    <a:bodyPr/>
                    <a:lstStyle/>
                    <a:p>
                      <a:pPr algn="ctr">
                        <a:buNone/>
                      </a:pPr>
                      <a:r>
                        <a:rPr lang="en-US" sz="1500"/>
                        <a:t>70.19</a:t>
                      </a:r>
                    </a:p>
                  </a:txBody>
                  <a:tcPr marL="53093" marR="53093" marT="26547" marB="26547" anchor="ctr"/>
                </a:tc>
                <a:tc>
                  <a:txBody>
                    <a:bodyPr/>
                    <a:lstStyle/>
                    <a:p>
                      <a:pPr algn="ctr">
                        <a:buNone/>
                      </a:pPr>
                      <a:r>
                        <a:rPr lang="en-US" sz="1500"/>
                        <a:t>66.31</a:t>
                      </a:r>
                    </a:p>
                  </a:txBody>
                  <a:tcPr marL="53093" marR="53093" marT="26547" marB="26547" anchor="ctr"/>
                </a:tc>
                <a:extLst>
                  <a:ext uri="{0D108BD9-81ED-4DB2-BD59-A6C34878D82A}">
                    <a16:rowId xmlns:a16="http://schemas.microsoft.com/office/drawing/2014/main" val="3379416546"/>
                  </a:ext>
                </a:extLst>
              </a:tr>
              <a:tr h="319835">
                <a:tc>
                  <a:txBody>
                    <a:bodyPr/>
                    <a:lstStyle/>
                    <a:p>
                      <a:pPr>
                        <a:buNone/>
                      </a:pPr>
                      <a:endParaRPr lang="en-US" sz="1500" b="1"/>
                    </a:p>
                  </a:txBody>
                  <a:tcPr marL="53093" marR="53093" marT="26547" marB="26547" anchor="ctr"/>
                </a:tc>
                <a:tc>
                  <a:txBody>
                    <a:bodyPr/>
                    <a:lstStyle/>
                    <a:p>
                      <a:pPr>
                        <a:buNone/>
                      </a:pPr>
                      <a:r>
                        <a:rPr lang="en-US" sz="1500" b="1"/>
                        <a:t>KNN</a:t>
                      </a:r>
                    </a:p>
                  </a:txBody>
                  <a:tcPr marL="53093" marR="53093" marT="26547" marB="26547" anchor="ctr"/>
                </a:tc>
                <a:tc>
                  <a:txBody>
                    <a:bodyPr/>
                    <a:lstStyle/>
                    <a:p>
                      <a:pPr algn="ctr">
                        <a:buNone/>
                      </a:pPr>
                      <a:r>
                        <a:rPr lang="en-US" sz="1500"/>
                        <a:t>64.71</a:t>
                      </a:r>
                    </a:p>
                  </a:txBody>
                  <a:tcPr marL="53093" marR="53093" marT="26547" marB="26547" anchor="ctr"/>
                </a:tc>
                <a:tc>
                  <a:txBody>
                    <a:bodyPr/>
                    <a:lstStyle/>
                    <a:p>
                      <a:pPr algn="ctr">
                        <a:buNone/>
                      </a:pPr>
                      <a:r>
                        <a:rPr lang="en-US" sz="1500"/>
                        <a:t>67.31</a:t>
                      </a:r>
                    </a:p>
                  </a:txBody>
                  <a:tcPr marL="53093" marR="53093" marT="26547" marB="26547" anchor="ctr"/>
                </a:tc>
                <a:tc>
                  <a:txBody>
                    <a:bodyPr/>
                    <a:lstStyle/>
                    <a:p>
                      <a:pPr algn="ctr">
                        <a:buNone/>
                      </a:pPr>
                      <a:r>
                        <a:rPr lang="en-US" sz="1500"/>
                        <a:t>71.33</a:t>
                      </a:r>
                    </a:p>
                  </a:txBody>
                  <a:tcPr marL="53093" marR="53093" marT="26547" marB="26547" anchor="ctr"/>
                </a:tc>
                <a:tc>
                  <a:txBody>
                    <a:bodyPr/>
                    <a:lstStyle/>
                    <a:p>
                      <a:pPr algn="ctr">
                        <a:buNone/>
                      </a:pPr>
                      <a:r>
                        <a:rPr lang="en-US" sz="1500"/>
                        <a:t>69.26</a:t>
                      </a:r>
                    </a:p>
                  </a:txBody>
                  <a:tcPr marL="53093" marR="53093" marT="26547" marB="26547" anchor="ctr"/>
                </a:tc>
                <a:tc>
                  <a:txBody>
                    <a:bodyPr/>
                    <a:lstStyle/>
                    <a:p>
                      <a:pPr algn="ctr">
                        <a:buNone/>
                      </a:pPr>
                      <a:r>
                        <a:rPr lang="en-US" sz="1500"/>
                        <a:t>68.37</a:t>
                      </a:r>
                    </a:p>
                  </a:txBody>
                  <a:tcPr marL="53093" marR="53093" marT="26547" marB="26547" anchor="ctr"/>
                </a:tc>
                <a:extLst>
                  <a:ext uri="{0D108BD9-81ED-4DB2-BD59-A6C34878D82A}">
                    <a16:rowId xmlns:a16="http://schemas.microsoft.com/office/drawing/2014/main" val="3536538894"/>
                  </a:ext>
                </a:extLst>
              </a:tr>
              <a:tr h="319835">
                <a:tc>
                  <a:txBody>
                    <a:bodyPr/>
                    <a:lstStyle/>
                    <a:p>
                      <a:pPr>
                        <a:buNone/>
                      </a:pPr>
                      <a:r>
                        <a:rPr lang="en-US" sz="1500" b="1"/>
                        <a:t>Ensemble Tree‑Based Models</a:t>
                      </a:r>
                    </a:p>
                  </a:txBody>
                  <a:tcPr marL="53093" marR="53093" marT="26547" marB="26547" anchor="ctr"/>
                </a:tc>
                <a:tc>
                  <a:txBody>
                    <a:bodyPr/>
                    <a:lstStyle/>
                    <a:p>
                      <a:pPr>
                        <a:buNone/>
                      </a:pPr>
                      <a:r>
                        <a:rPr lang="en-US" sz="1500" b="1"/>
                        <a:t>Decision Tree</a:t>
                      </a:r>
                    </a:p>
                  </a:txBody>
                  <a:tcPr marL="53093" marR="53093" marT="26547" marB="26547" anchor="ctr"/>
                </a:tc>
                <a:tc>
                  <a:txBody>
                    <a:bodyPr/>
                    <a:lstStyle/>
                    <a:p>
                      <a:pPr algn="ctr">
                        <a:buNone/>
                      </a:pPr>
                      <a:r>
                        <a:rPr lang="en-US" sz="1500"/>
                        <a:t>65.26</a:t>
                      </a:r>
                    </a:p>
                  </a:txBody>
                  <a:tcPr marL="53093" marR="53093" marT="26547" marB="26547" anchor="ctr"/>
                </a:tc>
                <a:tc>
                  <a:txBody>
                    <a:bodyPr/>
                    <a:lstStyle/>
                    <a:p>
                      <a:pPr algn="ctr">
                        <a:buNone/>
                      </a:pPr>
                      <a:r>
                        <a:rPr lang="en-US" sz="1500"/>
                        <a:t>67.74</a:t>
                      </a:r>
                    </a:p>
                  </a:txBody>
                  <a:tcPr marL="53093" marR="53093" marT="26547" marB="26547" anchor="ctr"/>
                </a:tc>
                <a:tc>
                  <a:txBody>
                    <a:bodyPr/>
                    <a:lstStyle/>
                    <a:p>
                      <a:pPr algn="ctr">
                        <a:buNone/>
                      </a:pPr>
                      <a:r>
                        <a:rPr lang="en-US" sz="1500"/>
                        <a:t>71.94</a:t>
                      </a:r>
                    </a:p>
                  </a:txBody>
                  <a:tcPr marL="53093" marR="53093" marT="26547" marB="26547" anchor="ctr"/>
                </a:tc>
                <a:tc>
                  <a:txBody>
                    <a:bodyPr/>
                    <a:lstStyle/>
                    <a:p>
                      <a:pPr algn="ctr">
                        <a:buNone/>
                      </a:pPr>
                      <a:r>
                        <a:rPr lang="en-US" sz="1500"/>
                        <a:t>69.78</a:t>
                      </a:r>
                    </a:p>
                  </a:txBody>
                  <a:tcPr marL="53093" marR="53093" marT="26547" marB="26547" anchor="ctr"/>
                </a:tc>
                <a:tc>
                  <a:txBody>
                    <a:bodyPr/>
                    <a:lstStyle/>
                    <a:p>
                      <a:pPr algn="ctr">
                        <a:buNone/>
                      </a:pPr>
                      <a:r>
                        <a:rPr lang="en-US" sz="1500"/>
                        <a:t>68.95</a:t>
                      </a:r>
                    </a:p>
                  </a:txBody>
                  <a:tcPr marL="53093" marR="53093" marT="26547" marB="26547" anchor="ctr"/>
                </a:tc>
                <a:extLst>
                  <a:ext uri="{0D108BD9-81ED-4DB2-BD59-A6C34878D82A}">
                    <a16:rowId xmlns:a16="http://schemas.microsoft.com/office/drawing/2014/main" val="2430773674"/>
                  </a:ext>
                </a:extLst>
              </a:tr>
              <a:tr h="319835">
                <a:tc>
                  <a:txBody>
                    <a:bodyPr/>
                    <a:lstStyle/>
                    <a:p>
                      <a:pPr>
                        <a:buNone/>
                      </a:pPr>
                      <a:endParaRPr lang="en-US" sz="1500" b="1"/>
                    </a:p>
                  </a:txBody>
                  <a:tcPr marL="53093" marR="53093" marT="26547" marB="26547" anchor="ctr"/>
                </a:tc>
                <a:tc>
                  <a:txBody>
                    <a:bodyPr/>
                    <a:lstStyle/>
                    <a:p>
                      <a:pPr>
                        <a:buNone/>
                      </a:pPr>
                      <a:r>
                        <a:rPr lang="en-US" sz="1500" b="1"/>
                        <a:t>Random Forest</a:t>
                      </a:r>
                    </a:p>
                  </a:txBody>
                  <a:tcPr marL="53093" marR="53093" marT="26547" marB="26547" anchor="ctr"/>
                </a:tc>
                <a:tc>
                  <a:txBody>
                    <a:bodyPr/>
                    <a:lstStyle/>
                    <a:p>
                      <a:pPr algn="ctr">
                        <a:buNone/>
                      </a:pPr>
                      <a:r>
                        <a:rPr lang="en-US" sz="1500"/>
                        <a:t>65.25</a:t>
                      </a:r>
                    </a:p>
                  </a:txBody>
                  <a:tcPr marL="53093" marR="53093" marT="26547" marB="26547" anchor="ctr"/>
                </a:tc>
                <a:tc>
                  <a:txBody>
                    <a:bodyPr/>
                    <a:lstStyle/>
                    <a:p>
                      <a:pPr algn="ctr">
                        <a:buNone/>
                      </a:pPr>
                      <a:r>
                        <a:rPr lang="en-US" sz="1500"/>
                        <a:t>67.62</a:t>
                      </a:r>
                    </a:p>
                  </a:txBody>
                  <a:tcPr marL="53093" marR="53093" marT="26547" marB="26547" anchor="ctr"/>
                </a:tc>
                <a:tc>
                  <a:txBody>
                    <a:bodyPr/>
                    <a:lstStyle/>
                    <a:p>
                      <a:pPr algn="ctr">
                        <a:buNone/>
                      </a:pPr>
                      <a:r>
                        <a:rPr lang="en-US" sz="1500"/>
                        <a:t>72.25</a:t>
                      </a:r>
                    </a:p>
                  </a:txBody>
                  <a:tcPr marL="53093" marR="53093" marT="26547" marB="26547" anchor="ctr"/>
                </a:tc>
                <a:tc>
                  <a:txBody>
                    <a:bodyPr/>
                    <a:lstStyle/>
                    <a:p>
                      <a:pPr algn="ctr">
                        <a:buNone/>
                      </a:pPr>
                      <a:r>
                        <a:rPr lang="en-US" sz="1500"/>
                        <a:t>69.86</a:t>
                      </a:r>
                    </a:p>
                  </a:txBody>
                  <a:tcPr marL="53093" marR="53093" marT="26547" marB="26547" anchor="ctr"/>
                </a:tc>
                <a:tc>
                  <a:txBody>
                    <a:bodyPr/>
                    <a:lstStyle/>
                    <a:p>
                      <a:pPr algn="ctr">
                        <a:buNone/>
                      </a:pPr>
                      <a:r>
                        <a:rPr lang="en-US" sz="1500"/>
                        <a:t>69.06</a:t>
                      </a:r>
                    </a:p>
                  </a:txBody>
                  <a:tcPr marL="53093" marR="53093" marT="26547" marB="26547" anchor="ctr"/>
                </a:tc>
                <a:extLst>
                  <a:ext uri="{0D108BD9-81ED-4DB2-BD59-A6C34878D82A}">
                    <a16:rowId xmlns:a16="http://schemas.microsoft.com/office/drawing/2014/main" val="190584685"/>
                  </a:ext>
                </a:extLst>
              </a:tr>
              <a:tr h="319835">
                <a:tc>
                  <a:txBody>
                    <a:bodyPr/>
                    <a:lstStyle/>
                    <a:p>
                      <a:pPr>
                        <a:buNone/>
                      </a:pPr>
                      <a:endParaRPr lang="en-US" sz="1500" b="1"/>
                    </a:p>
                  </a:txBody>
                  <a:tcPr marL="53093" marR="53093" marT="26547" marB="26547" anchor="ctr"/>
                </a:tc>
                <a:tc>
                  <a:txBody>
                    <a:bodyPr/>
                    <a:lstStyle/>
                    <a:p>
                      <a:pPr>
                        <a:buNone/>
                      </a:pPr>
                      <a:r>
                        <a:rPr lang="en-US" sz="1500" b="1"/>
                        <a:t>Extra Trees</a:t>
                      </a:r>
                    </a:p>
                  </a:txBody>
                  <a:tcPr marL="53093" marR="53093" marT="26547" marB="26547" anchor="ctr">
                    <a:noFill/>
                  </a:tcPr>
                </a:tc>
                <a:tc>
                  <a:txBody>
                    <a:bodyPr/>
                    <a:lstStyle/>
                    <a:p>
                      <a:pPr algn="ctr">
                        <a:buNone/>
                      </a:pPr>
                      <a:r>
                        <a:rPr lang="en-US" sz="1500"/>
                        <a:t>65.24</a:t>
                      </a:r>
                    </a:p>
                  </a:txBody>
                  <a:tcPr marL="53093" marR="53093" marT="26547" marB="26547" anchor="ctr">
                    <a:noFill/>
                  </a:tcPr>
                </a:tc>
                <a:tc>
                  <a:txBody>
                    <a:bodyPr/>
                    <a:lstStyle/>
                    <a:p>
                      <a:pPr algn="ctr">
                        <a:buNone/>
                      </a:pPr>
                      <a:r>
                        <a:rPr lang="en-US" sz="1500"/>
                        <a:t>67.71</a:t>
                      </a:r>
                    </a:p>
                  </a:txBody>
                  <a:tcPr marL="53093" marR="53093" marT="26547" marB="26547" anchor="ctr">
                    <a:noFill/>
                  </a:tcPr>
                </a:tc>
                <a:tc>
                  <a:txBody>
                    <a:bodyPr/>
                    <a:lstStyle/>
                    <a:p>
                      <a:pPr algn="ctr">
                        <a:buNone/>
                      </a:pPr>
                      <a:r>
                        <a:rPr lang="en-US" sz="1500"/>
                        <a:t>71.94</a:t>
                      </a:r>
                    </a:p>
                  </a:txBody>
                  <a:tcPr marL="53093" marR="53093" marT="26547" marB="26547" anchor="ctr">
                    <a:noFill/>
                  </a:tcPr>
                </a:tc>
                <a:tc>
                  <a:txBody>
                    <a:bodyPr/>
                    <a:lstStyle/>
                    <a:p>
                      <a:pPr algn="ctr">
                        <a:buNone/>
                      </a:pPr>
                      <a:r>
                        <a:rPr lang="en-US" sz="1500"/>
                        <a:t>69.76</a:t>
                      </a:r>
                    </a:p>
                  </a:txBody>
                  <a:tcPr marL="53093" marR="53093" marT="26547" marB="26547" anchor="ctr">
                    <a:noFill/>
                  </a:tcPr>
                </a:tc>
                <a:tc>
                  <a:txBody>
                    <a:bodyPr/>
                    <a:lstStyle/>
                    <a:p>
                      <a:pPr algn="ctr">
                        <a:buNone/>
                      </a:pPr>
                      <a:r>
                        <a:rPr lang="en-US" sz="1500"/>
                        <a:t>69.00</a:t>
                      </a:r>
                    </a:p>
                  </a:txBody>
                  <a:tcPr marL="53093" marR="53093" marT="26547" marB="26547" anchor="ctr">
                    <a:noFill/>
                  </a:tcPr>
                </a:tc>
                <a:extLst>
                  <a:ext uri="{0D108BD9-81ED-4DB2-BD59-A6C34878D82A}">
                    <a16:rowId xmlns:a16="http://schemas.microsoft.com/office/drawing/2014/main" val="2784118934"/>
                  </a:ext>
                </a:extLst>
              </a:tr>
              <a:tr h="542119">
                <a:tc>
                  <a:txBody>
                    <a:bodyPr/>
                    <a:lstStyle/>
                    <a:p>
                      <a:pPr>
                        <a:buNone/>
                      </a:pPr>
                      <a:endParaRPr lang="en-US" sz="1500" b="1"/>
                    </a:p>
                  </a:txBody>
                  <a:tcPr marL="53093" marR="53093" marT="26547" marB="26547" anchor="ctr"/>
                </a:tc>
                <a:tc>
                  <a:txBody>
                    <a:bodyPr/>
                    <a:lstStyle/>
                    <a:p>
                      <a:pPr>
                        <a:buNone/>
                      </a:pPr>
                      <a:r>
                        <a:rPr lang="en-US" sz="1500" b="1"/>
                        <a:t>Gradient Boosting (BEST)</a:t>
                      </a:r>
                    </a:p>
                  </a:txBody>
                  <a:tcPr marL="53093" marR="53093" marT="26547" marB="26547" anchor="ctr">
                    <a:solidFill>
                      <a:srgbClr val="FFFF00"/>
                    </a:solidFill>
                  </a:tcPr>
                </a:tc>
                <a:tc>
                  <a:txBody>
                    <a:bodyPr/>
                    <a:lstStyle/>
                    <a:p>
                      <a:pPr algn="ctr">
                        <a:buNone/>
                      </a:pPr>
                      <a:r>
                        <a:rPr lang="en-US" sz="1500"/>
                        <a:t>65.51</a:t>
                      </a:r>
                    </a:p>
                  </a:txBody>
                  <a:tcPr marL="53093" marR="53093" marT="26547" marB="26547" anchor="ctr">
                    <a:solidFill>
                      <a:srgbClr val="FFFF00"/>
                    </a:solidFill>
                  </a:tcPr>
                </a:tc>
                <a:tc>
                  <a:txBody>
                    <a:bodyPr/>
                    <a:lstStyle/>
                    <a:p>
                      <a:pPr algn="ctr">
                        <a:buNone/>
                      </a:pPr>
                      <a:r>
                        <a:rPr lang="en-US" sz="1500"/>
                        <a:t>67.69</a:t>
                      </a:r>
                    </a:p>
                  </a:txBody>
                  <a:tcPr marL="53093" marR="53093" marT="26547" marB="26547" anchor="ctr">
                    <a:solidFill>
                      <a:srgbClr val="FFFF00"/>
                    </a:solidFill>
                  </a:tcPr>
                </a:tc>
                <a:tc>
                  <a:txBody>
                    <a:bodyPr/>
                    <a:lstStyle/>
                    <a:p>
                      <a:pPr algn="ctr">
                        <a:buNone/>
                      </a:pPr>
                      <a:r>
                        <a:rPr lang="en-US" sz="1500"/>
                        <a:t>72.94</a:t>
                      </a:r>
                    </a:p>
                  </a:txBody>
                  <a:tcPr marL="53093" marR="53093" marT="26547" marB="26547" anchor="ctr">
                    <a:solidFill>
                      <a:srgbClr val="FFFF00"/>
                    </a:solidFill>
                  </a:tcPr>
                </a:tc>
                <a:tc>
                  <a:txBody>
                    <a:bodyPr/>
                    <a:lstStyle/>
                    <a:p>
                      <a:pPr algn="ctr">
                        <a:buNone/>
                      </a:pPr>
                      <a:r>
                        <a:rPr lang="en-US" sz="1500"/>
                        <a:t>70.22</a:t>
                      </a:r>
                    </a:p>
                  </a:txBody>
                  <a:tcPr marL="53093" marR="53093" marT="26547" marB="26547" anchor="ctr">
                    <a:solidFill>
                      <a:srgbClr val="FFFF00"/>
                    </a:solidFill>
                  </a:tcPr>
                </a:tc>
                <a:tc>
                  <a:txBody>
                    <a:bodyPr/>
                    <a:lstStyle/>
                    <a:p>
                      <a:pPr algn="ctr">
                        <a:buNone/>
                      </a:pPr>
                      <a:r>
                        <a:rPr lang="en-US" sz="1500"/>
                        <a:t>69.29</a:t>
                      </a:r>
                    </a:p>
                  </a:txBody>
                  <a:tcPr marL="53093" marR="53093" marT="26547" marB="26547" anchor="ctr">
                    <a:solidFill>
                      <a:srgbClr val="FFFF00"/>
                    </a:solidFill>
                  </a:tcPr>
                </a:tc>
                <a:extLst>
                  <a:ext uri="{0D108BD9-81ED-4DB2-BD59-A6C34878D82A}">
                    <a16:rowId xmlns:a16="http://schemas.microsoft.com/office/drawing/2014/main" val="1740387128"/>
                  </a:ext>
                </a:extLst>
              </a:tr>
              <a:tr h="319835">
                <a:tc>
                  <a:txBody>
                    <a:bodyPr/>
                    <a:lstStyle/>
                    <a:p>
                      <a:pPr>
                        <a:buNone/>
                      </a:pPr>
                      <a:endParaRPr lang="en-US" sz="1500" b="1"/>
                    </a:p>
                  </a:txBody>
                  <a:tcPr marL="53093" marR="53093" marT="26547" marB="26547" anchor="ctr"/>
                </a:tc>
                <a:tc>
                  <a:txBody>
                    <a:bodyPr/>
                    <a:lstStyle/>
                    <a:p>
                      <a:pPr>
                        <a:buNone/>
                      </a:pPr>
                      <a:r>
                        <a:rPr lang="en-US" sz="1500" b="1"/>
                        <a:t>AdaBoost</a:t>
                      </a:r>
                    </a:p>
                  </a:txBody>
                  <a:tcPr marL="53093" marR="53093" marT="26547" marB="26547" anchor="ctr"/>
                </a:tc>
                <a:tc>
                  <a:txBody>
                    <a:bodyPr/>
                    <a:lstStyle/>
                    <a:p>
                      <a:pPr algn="ctr">
                        <a:buNone/>
                      </a:pPr>
                      <a:r>
                        <a:rPr lang="en-US" sz="1500"/>
                        <a:t>64.89</a:t>
                      </a:r>
                    </a:p>
                  </a:txBody>
                  <a:tcPr marL="53093" marR="53093" marT="26547" marB="26547" anchor="ctr"/>
                </a:tc>
                <a:tc>
                  <a:txBody>
                    <a:bodyPr/>
                    <a:lstStyle/>
                    <a:p>
                      <a:pPr algn="ctr">
                        <a:buNone/>
                      </a:pPr>
                      <a:r>
                        <a:rPr lang="en-US" sz="1500"/>
                        <a:t>67.40</a:t>
                      </a:r>
                    </a:p>
                  </a:txBody>
                  <a:tcPr marL="53093" marR="53093" marT="26547" marB="26547" anchor="ctr"/>
                </a:tc>
                <a:tc>
                  <a:txBody>
                    <a:bodyPr/>
                    <a:lstStyle/>
                    <a:p>
                      <a:pPr algn="ctr">
                        <a:buNone/>
                      </a:pPr>
                      <a:r>
                        <a:rPr lang="en-US" sz="1500"/>
                        <a:t>71.67</a:t>
                      </a:r>
                    </a:p>
                  </a:txBody>
                  <a:tcPr marL="53093" marR="53093" marT="26547" marB="26547" anchor="ctr"/>
                </a:tc>
                <a:tc>
                  <a:txBody>
                    <a:bodyPr/>
                    <a:lstStyle/>
                    <a:p>
                      <a:pPr algn="ctr">
                        <a:buNone/>
                      </a:pPr>
                      <a:r>
                        <a:rPr lang="en-US" sz="1500"/>
                        <a:t>69.47</a:t>
                      </a:r>
                    </a:p>
                  </a:txBody>
                  <a:tcPr marL="53093" marR="53093" marT="26547" marB="26547" anchor="ctr"/>
                </a:tc>
                <a:tc>
                  <a:txBody>
                    <a:bodyPr/>
                    <a:lstStyle/>
                    <a:p>
                      <a:pPr algn="ctr">
                        <a:buNone/>
                      </a:pPr>
                      <a:r>
                        <a:rPr lang="en-US" sz="1500"/>
                        <a:t>68.38</a:t>
                      </a:r>
                    </a:p>
                  </a:txBody>
                  <a:tcPr marL="53093" marR="53093" marT="26547" marB="26547" anchor="ctr"/>
                </a:tc>
                <a:extLst>
                  <a:ext uri="{0D108BD9-81ED-4DB2-BD59-A6C34878D82A}">
                    <a16:rowId xmlns:a16="http://schemas.microsoft.com/office/drawing/2014/main" val="1777719545"/>
                  </a:ext>
                </a:extLst>
              </a:tr>
            </a:tbl>
          </a:graphicData>
        </a:graphic>
      </p:graphicFrame>
    </p:spTree>
    <p:extLst>
      <p:ext uri="{BB962C8B-B14F-4D97-AF65-F5344CB8AC3E}">
        <p14:creationId xmlns:p14="http://schemas.microsoft.com/office/powerpoint/2010/main" val="34132876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63A1F-9375-F3D2-919C-5031B74CE681}"/>
              </a:ext>
            </a:extLst>
          </p:cNvPr>
          <p:cNvSpPr>
            <a:spLocks noGrp="1"/>
          </p:cNvSpPr>
          <p:nvPr>
            <p:ph type="title"/>
          </p:nvPr>
        </p:nvSpPr>
        <p:spPr/>
        <p:txBody>
          <a:bodyPr/>
          <a:lstStyle/>
          <a:p>
            <a:r>
              <a:rPr lang="en-US" dirty="0"/>
              <a:t>Best Model Selection</a:t>
            </a:r>
          </a:p>
        </p:txBody>
      </p:sp>
      <p:graphicFrame>
        <p:nvGraphicFramePr>
          <p:cNvPr id="5" name="Content Placeholder 2">
            <a:extLst>
              <a:ext uri="{FF2B5EF4-FFF2-40B4-BE49-F238E27FC236}">
                <a16:creationId xmlns:a16="http://schemas.microsoft.com/office/drawing/2014/main" id="{EA572B8D-83DF-494A-56D4-2D387EA96C33}"/>
              </a:ext>
            </a:extLst>
          </p:cNvPr>
          <p:cNvGraphicFramePr>
            <a:graphicFrameLocks noGrp="1"/>
          </p:cNvGraphicFramePr>
          <p:nvPr>
            <p:ph idx="1"/>
            <p:extLst>
              <p:ext uri="{D42A27DB-BD31-4B8C-83A1-F6EECF244321}">
                <p14:modId xmlns:p14="http://schemas.microsoft.com/office/powerpoint/2010/main" val="358402854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25473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9FD9D-6E5C-5708-B46B-FA0C1DE26F9B}"/>
              </a:ext>
            </a:extLst>
          </p:cNvPr>
          <p:cNvSpPr>
            <a:spLocks noGrp="1"/>
          </p:cNvSpPr>
          <p:nvPr>
            <p:ph type="title"/>
          </p:nvPr>
        </p:nvSpPr>
        <p:spPr>
          <a:xfrm>
            <a:off x="838200" y="557188"/>
            <a:ext cx="10515600" cy="1133499"/>
          </a:xfrm>
        </p:spPr>
        <p:txBody>
          <a:bodyPr>
            <a:normAutofit/>
          </a:bodyPr>
          <a:lstStyle/>
          <a:p>
            <a:pPr algn="ctr"/>
            <a:r>
              <a:rPr lang="en-US" sz="5200"/>
              <a:t>Model Limitations</a:t>
            </a:r>
          </a:p>
        </p:txBody>
      </p:sp>
      <p:graphicFrame>
        <p:nvGraphicFramePr>
          <p:cNvPr id="5" name="Content Placeholder 2">
            <a:extLst>
              <a:ext uri="{FF2B5EF4-FFF2-40B4-BE49-F238E27FC236}">
                <a16:creationId xmlns:a16="http://schemas.microsoft.com/office/drawing/2014/main" id="{25783FB1-B8E6-6A49-034F-C3BBBBD77820}"/>
              </a:ext>
            </a:extLst>
          </p:cNvPr>
          <p:cNvGraphicFramePr>
            <a:graphicFrameLocks noGrp="1"/>
          </p:cNvGraphicFramePr>
          <p:nvPr>
            <p:ph idx="1"/>
            <p:extLst>
              <p:ext uri="{D42A27DB-BD31-4B8C-83A1-F6EECF244321}">
                <p14:modId xmlns:p14="http://schemas.microsoft.com/office/powerpoint/2010/main" val="287205996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5873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ED79D7-336A-2A9D-6D0B-02D1BDEA5555}"/>
              </a:ext>
            </a:extLst>
          </p:cNvPr>
          <p:cNvSpPr>
            <a:spLocks noGrp="1"/>
          </p:cNvSpPr>
          <p:nvPr>
            <p:ph type="title"/>
          </p:nvPr>
        </p:nvSpPr>
        <p:spPr>
          <a:xfrm>
            <a:off x="838200" y="556995"/>
            <a:ext cx="10515600" cy="1133693"/>
          </a:xfrm>
        </p:spPr>
        <p:txBody>
          <a:bodyPr>
            <a:normAutofit/>
          </a:bodyPr>
          <a:lstStyle/>
          <a:p>
            <a:r>
              <a:rPr lang="en-US" sz="5200"/>
              <a:t>Next Steps</a:t>
            </a:r>
          </a:p>
        </p:txBody>
      </p:sp>
      <p:graphicFrame>
        <p:nvGraphicFramePr>
          <p:cNvPr id="12" name="Content Placeholder 2">
            <a:extLst>
              <a:ext uri="{FF2B5EF4-FFF2-40B4-BE49-F238E27FC236}">
                <a16:creationId xmlns:a16="http://schemas.microsoft.com/office/drawing/2014/main" id="{EF66C245-347B-364D-0BFA-781134941DB0}"/>
              </a:ext>
            </a:extLst>
          </p:cNvPr>
          <p:cNvGraphicFramePr>
            <a:graphicFrameLocks noGrp="1"/>
          </p:cNvGraphicFramePr>
          <p:nvPr>
            <p:ph idx="1"/>
            <p:extLst>
              <p:ext uri="{D42A27DB-BD31-4B8C-83A1-F6EECF244321}">
                <p14:modId xmlns:p14="http://schemas.microsoft.com/office/powerpoint/2010/main" val="362838302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2334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F0226-9E08-90C1-A7BE-1E289CA86D57}"/>
              </a:ext>
            </a:extLst>
          </p:cNvPr>
          <p:cNvSpPr>
            <a:spLocks noGrp="1"/>
          </p:cNvSpPr>
          <p:nvPr>
            <p:ph type="title"/>
          </p:nvPr>
        </p:nvSpPr>
        <p:spPr/>
        <p:txBody>
          <a:bodyPr/>
          <a:lstStyle/>
          <a:p>
            <a:r>
              <a:rPr lang="en-US" b="1" dirty="0"/>
              <a:t>Final Summary</a:t>
            </a:r>
            <a:endParaRPr lang="en-US" dirty="0"/>
          </a:p>
        </p:txBody>
      </p:sp>
      <p:graphicFrame>
        <p:nvGraphicFramePr>
          <p:cNvPr id="5" name="Content Placeholder 2">
            <a:extLst>
              <a:ext uri="{FF2B5EF4-FFF2-40B4-BE49-F238E27FC236}">
                <a16:creationId xmlns:a16="http://schemas.microsoft.com/office/drawing/2014/main" id="{42845478-3BB0-4ACB-934A-F8E5CAC5E13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8253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Bjorn</Template>
  <TotalTime>462</TotalTime>
  <Words>3606</Words>
  <Application>Microsoft Office PowerPoint</Application>
  <PresentationFormat>Widescreen</PresentationFormat>
  <Paragraphs>630</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Calibri</vt:lpstr>
      <vt:lpstr>Office Theme</vt:lpstr>
      <vt:lpstr>Salary Median Classification for Data Science Roles Predicting Above‑Median vs. Below‑Median Salaries Using Machine Learning</vt:lpstr>
      <vt:lpstr>Project Overview</vt:lpstr>
      <vt:lpstr>Introduction </vt:lpstr>
      <vt:lpstr>Understanding Data Science Salaries</vt:lpstr>
      <vt:lpstr>History of Data Science Salaries — Why This Analysis Matters</vt:lpstr>
      <vt:lpstr>Preview of Data  &amp;  Analysis Approach </vt:lpstr>
      <vt:lpstr>Data Description  U.S.‑only subset used for consistent compensation comparison</vt:lpstr>
      <vt:lpstr>Snapshot of the Data Table</vt:lpstr>
      <vt:lpstr>PowerPoint Presentation</vt:lpstr>
      <vt:lpstr>Insights from Data and Graphs</vt:lpstr>
      <vt:lpstr>Key Insights from the Data</vt:lpstr>
      <vt:lpstr>Modeling Approach</vt:lpstr>
      <vt:lpstr>How We Evaluate Model Performance</vt:lpstr>
      <vt:lpstr>PowerPoint Presentation</vt:lpstr>
      <vt:lpstr>Logistic Regression</vt:lpstr>
      <vt:lpstr>Naive Bayes</vt:lpstr>
      <vt:lpstr>PowerPoint Presentation</vt:lpstr>
      <vt:lpstr>K‑Nearest Neighbors (KNN)</vt:lpstr>
      <vt:lpstr>Support Vector Machines</vt:lpstr>
      <vt:lpstr>Support Vector Machines Performance</vt:lpstr>
      <vt:lpstr>PowerPoint Presentation</vt:lpstr>
      <vt:lpstr>Decision Tree</vt:lpstr>
      <vt:lpstr>Random Forest</vt:lpstr>
      <vt:lpstr>Gradient Boosting</vt:lpstr>
      <vt:lpstr>AdaBoost</vt:lpstr>
      <vt:lpstr>Extra Trees</vt:lpstr>
      <vt:lpstr>Which factors matter most in predicting salary level?</vt:lpstr>
      <vt:lpstr>How each feature pushes salary predictions up or down.</vt:lpstr>
      <vt:lpstr>Choosing the “Best” Model  &amp;  Final Thoughts Summary </vt:lpstr>
      <vt:lpstr>Selecting the best model Criteria</vt:lpstr>
      <vt:lpstr>Classification Model Comparison</vt:lpstr>
      <vt:lpstr>Best Model Selection</vt:lpstr>
      <vt:lpstr>Model Limitations</vt:lpstr>
      <vt:lpstr>Next Steps</vt:lpstr>
      <vt:lpstr>Final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Aaron Niecestro</dc:creator>
  <cp:lastModifiedBy>Aaron Niecestro</cp:lastModifiedBy>
  <cp:revision>9</cp:revision>
  <dcterms:created xsi:type="dcterms:W3CDTF">2026-10-01T18:13:04Z</dcterms:created>
  <dcterms:modified xsi:type="dcterms:W3CDTF">2026-10-02T02:03:37Z</dcterms:modified>
</cp:coreProperties>
</file>